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378d7ceb6422e" /><Relationship Type="http://schemas.openxmlformats.org/officeDocument/2006/relationships/extended-properties" Target="/docProps/app.xml" Id="R28cfc27f71e54633" /><Relationship Type="http://schemas.openxmlformats.org/officeDocument/2006/relationships/officeDocument" Target="/ppt/presentation.xml" Id="Rac1522457ab64c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c35b830f6459a"/>
  </p:sldMasterIdLst>
  <p:notesMasterIdLst>
    <p:notesMasterId xmlns:r="http://schemas.openxmlformats.org/officeDocument/2006/relationships" r:id="R5755577980bf40e9"/>
  </p:notesMasterIdLst>
  <p:sldIdLst>
    <p:sldId xmlns:r="http://schemas.openxmlformats.org/officeDocument/2006/relationships" id="256" r:id="R8a283907c2184bbd"/>
    <p:sldId xmlns:r="http://schemas.openxmlformats.org/officeDocument/2006/relationships" id="257" r:id="R4fa5a036d0e34309"/>
    <p:sldId xmlns:r="http://schemas.openxmlformats.org/officeDocument/2006/relationships" id="258" r:id="R372b9a912caa47ca"/>
    <p:sldId xmlns:r="http://schemas.openxmlformats.org/officeDocument/2006/relationships" id="259" r:id="R82cbb1def56241c1"/>
    <p:sldId xmlns:r="http://schemas.openxmlformats.org/officeDocument/2006/relationships" id="260" r:id="Re6dba023fc9447ce"/>
    <p:sldId xmlns:r="http://schemas.openxmlformats.org/officeDocument/2006/relationships" id="261" r:id="Rba36f8f5453e41ed"/>
    <p:sldId xmlns:r="http://schemas.openxmlformats.org/officeDocument/2006/relationships" id="262" r:id="R48e9502cf9324e30"/>
    <p:sldId xmlns:r="http://schemas.openxmlformats.org/officeDocument/2006/relationships" id="263" r:id="R589966750d254b13"/>
    <p:sldId xmlns:r="http://schemas.openxmlformats.org/officeDocument/2006/relationships" id="264" r:id="Rd7f007bc129241cf"/>
    <p:sldId xmlns:r="http://schemas.openxmlformats.org/officeDocument/2006/relationships" id="265" r:id="R513f47ae69e346a5"/>
    <p:sldId xmlns:r="http://schemas.openxmlformats.org/officeDocument/2006/relationships" id="266" r:id="Rfca5700b5ac94bcc"/>
    <p:sldId xmlns:r="http://schemas.openxmlformats.org/officeDocument/2006/relationships" id="267" r:id="Recc53e6be987400c"/>
    <p:sldId xmlns:r="http://schemas.openxmlformats.org/officeDocument/2006/relationships" id="268" r:id="R285511161fc04f04"/>
    <p:sldId xmlns:r="http://schemas.openxmlformats.org/officeDocument/2006/relationships" id="269" r:id="R4f9eaf4d03e945f2"/>
    <p:sldId xmlns:r="http://schemas.openxmlformats.org/officeDocument/2006/relationships" id="270" r:id="R1c429c9b609b4c2a"/>
    <p:sldId xmlns:r="http://schemas.openxmlformats.org/officeDocument/2006/relationships" id="271" r:id="R86cdf2c6b4894e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17d35a631e4a78" /><Relationship Type="http://schemas.openxmlformats.org/officeDocument/2006/relationships/slideMaster" Target="/ppt/slideMasters/slideMaster1.xml" Id="R964c35b830f6459a" /><Relationship Type="http://schemas.openxmlformats.org/officeDocument/2006/relationships/notesMaster" Target="/ppt/notesMasters/notesMaster1.xml" Id="R5755577980bf40e9" /><Relationship Type="http://schemas.openxmlformats.org/officeDocument/2006/relationships/presProps" Target="/ppt/presProps.xml" Id="R872852024b2e417d" /><Relationship Type="http://schemas.openxmlformats.org/officeDocument/2006/relationships/tableStyles" Target="/ppt/tableStyles.xml" Id="Rf313e928ff46419f" /><Relationship Type="http://schemas.openxmlformats.org/officeDocument/2006/relationships/slide" Target="/ppt/slides/slide1.xml" Id="R8a283907c2184bbd" /><Relationship Type="http://schemas.openxmlformats.org/officeDocument/2006/relationships/slide" Target="/ppt/slides/slide2.xml" Id="R4fa5a036d0e34309" /><Relationship Type="http://schemas.openxmlformats.org/officeDocument/2006/relationships/slide" Target="/ppt/slides/slide3.xml" Id="R372b9a912caa47ca" /><Relationship Type="http://schemas.openxmlformats.org/officeDocument/2006/relationships/slide" Target="/ppt/slides/slide4.xml" Id="R82cbb1def56241c1" /><Relationship Type="http://schemas.openxmlformats.org/officeDocument/2006/relationships/slide" Target="/ppt/slides/slide5.xml" Id="Re6dba023fc9447ce" /><Relationship Type="http://schemas.openxmlformats.org/officeDocument/2006/relationships/slide" Target="/ppt/slides/slide6.xml" Id="Rba36f8f5453e41ed" /><Relationship Type="http://schemas.openxmlformats.org/officeDocument/2006/relationships/slide" Target="/ppt/slides/slide7.xml" Id="R48e9502cf9324e30" /><Relationship Type="http://schemas.openxmlformats.org/officeDocument/2006/relationships/slide" Target="/ppt/slides/slide8.xml" Id="R589966750d254b13" /><Relationship Type="http://schemas.openxmlformats.org/officeDocument/2006/relationships/slide" Target="/ppt/slides/slide9.xml" Id="Rd7f007bc129241cf" /><Relationship Type="http://schemas.openxmlformats.org/officeDocument/2006/relationships/slide" Target="/ppt/slides/slide10.xml" Id="R513f47ae69e346a5" /><Relationship Type="http://schemas.openxmlformats.org/officeDocument/2006/relationships/slide" Target="/ppt/slides/slide11.xml" Id="Rfca5700b5ac94bcc" /><Relationship Type="http://schemas.openxmlformats.org/officeDocument/2006/relationships/slide" Target="/ppt/slides/slide12.xml" Id="Recc53e6be987400c" /><Relationship Type="http://schemas.openxmlformats.org/officeDocument/2006/relationships/slide" Target="/ppt/slides/slide13.xml" Id="R285511161fc04f04" /><Relationship Type="http://schemas.openxmlformats.org/officeDocument/2006/relationships/slide" Target="/ppt/slides/slide14.xml" Id="R4f9eaf4d03e945f2" /><Relationship Type="http://schemas.openxmlformats.org/officeDocument/2006/relationships/slide" Target="/ppt/slides/slide15.xml" Id="R1c429c9b609b4c2a" /><Relationship Type="http://schemas.openxmlformats.org/officeDocument/2006/relationships/slide" Target="/ppt/slides/slide16.xml" Id="R86cdf2c6b4894e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55a4138e0b45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19e6584bee414b" /><Relationship Type="http://schemas.openxmlformats.org/officeDocument/2006/relationships/notesMaster" Target="/ppt/notesMasters/notesMaster1.xml" Id="R276fa3aa21b944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9d1810b2e94092" /><Relationship Type="http://schemas.openxmlformats.org/officeDocument/2006/relationships/notesMaster" Target="/ppt/notesMasters/notesMaster1.xml" Id="Rac14ce466bd7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5440b28d34f20" /><Relationship Type="http://schemas.openxmlformats.org/officeDocument/2006/relationships/notesMaster" Target="/ppt/notesMasters/notesMaster1.xml" Id="R33d0d3b44a7b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d826223e344edf" /><Relationship Type="http://schemas.openxmlformats.org/officeDocument/2006/relationships/notesMaster" Target="/ppt/notesMasters/notesMaster1.xml" Id="R487a2eebb17542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409d98141e4225" /><Relationship Type="http://schemas.openxmlformats.org/officeDocument/2006/relationships/notesMaster" Target="/ppt/notesMasters/notesMaster1.xml" Id="R2df3fe7355e047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df79802a814b90" /><Relationship Type="http://schemas.openxmlformats.org/officeDocument/2006/relationships/notesMaster" Target="/ppt/notesMasters/notesMaster1.xml" Id="Rfe19c6c2177346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e69578b1174887" /><Relationship Type="http://schemas.openxmlformats.org/officeDocument/2006/relationships/notesMaster" Target="/ppt/notesMasters/notesMaster1.xml" Id="R979b4ff9926b40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ffcaf7d09e4c48" /><Relationship Type="http://schemas.openxmlformats.org/officeDocument/2006/relationships/notesMaster" Target="/ppt/notesMasters/notesMaster1.xml" Id="R181002b20e0845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e5e861b8d9467d" /><Relationship Type="http://schemas.openxmlformats.org/officeDocument/2006/relationships/notesMaster" Target="/ppt/notesMasters/notesMaster1.xml" Id="R8a8f826aa3a24f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e11656c1054912" /><Relationship Type="http://schemas.openxmlformats.org/officeDocument/2006/relationships/notesMaster" Target="/ppt/notesMasters/notesMaster1.xml" Id="R13ee1da38f934a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75699c93d645c9" /><Relationship Type="http://schemas.openxmlformats.org/officeDocument/2006/relationships/notesMaster" Target="/ppt/notesMasters/notesMaster1.xml" Id="R774400cbcc5547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80464485e64ec9" /><Relationship Type="http://schemas.openxmlformats.org/officeDocument/2006/relationships/notesMaster" Target="/ppt/notesMasters/notesMaster1.xml" Id="Re009a25d1ce246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3701b7cb624f19" /><Relationship Type="http://schemas.openxmlformats.org/officeDocument/2006/relationships/notesMaster" Target="/ppt/notesMasters/notesMaster1.xml" Id="R6a9cb65554904b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50d49030fd462f" /><Relationship Type="http://schemas.openxmlformats.org/officeDocument/2006/relationships/notesMaster" Target="/ppt/notesMasters/notesMaster1.xml" Id="R22c8fd37e49548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bbbd85f6b4409e" /><Relationship Type="http://schemas.openxmlformats.org/officeDocument/2006/relationships/notesMaster" Target="/ppt/notesMasters/notesMaster1.xml" Id="Ra8fcd93e396b47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951deb7b774fe2" /><Relationship Type="http://schemas.openxmlformats.org/officeDocument/2006/relationships/notesMaster" Target="/ppt/notesMasters/notesMaster1.xml" Id="R723e8d011078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今天不做一个简单的“谁最便宜”榜单，而是回答更实际的问题：你买到的究竟是 IDE、Coding Agent、API Token，还是通用 AI 会员？这些产品的计量单位和工作入口不同，价格只能放在产品形态之后讨论。本次核验覆盖 13 个品牌与产品，并以 2026 年 7 月 27 日的官方页面为准；遇到动态订购页未公开固定数据时，会明确标注“未公开”或“实时展示”。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https://help.aliyun.com/zh/model-studio/token-plan-overview（查询：2026-07-27）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一页结论是：没有一个套餐能在所有场景“绝对第一”。如果每天把 Agent 当主要开发方式，优先比较 Agent 的执行环境与使用上限；如果是在自建应用中调用模型，则应优先看 API 或 Token 套餐；如果关注国内可用性，国内几家方案在支付、延迟和兼容端点上更方便；如果代码不能离开设备，本地 Ollama 路线更匹配，但要接受硬件与模型效果的代价。最终选择要基于工作流，而不是月费排序。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月费无法代表真实可用量。第一，Token 套餐可能区分输入、输出、缓存命中与不同模型系数；第二，Coding Plan 的一次提问可能在后台触发十几次甚至更多模型调用；第三，Agent 任务会消耗上下文、终端操作和工具调用，不等于普通聊天消息；第四，5 小时、每周与每月限额会同时生效。因而，只有在“相同模型、相同入口、相同任务复杂度”下，成本才有可比性。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https://help.aliyun.com/zh/model-studio/coding-plan（查询：2026-07-27）</a:t>
            </a:r>
          </a:p>
          <a:p xmlns:a="http://schemas.openxmlformats.org/drawingml/2006/main">
            <a:r>
              <a:t>- https://help.aliyun.com/zh/model-studio/token-plan-overview（查询：2026-07-27）</a:t>
            </a:r>
          </a:p>
          <a:p xmlns:a="http://schemas.openxmlformats.org/drawingml/2006/main">
            <a:r>
              <a:t>- https://platform.minimaxi.com/docs/token-plan/intro（查询：2026-07-27）</a:t>
            </a:r>
          </a:p>
          <a:p xmlns:a="http://schemas.openxmlformats.org/drawingml/2006/main">
            <a:r>
              <a:t>- https://docs.bigmodel.cn/cn/coding-plan/overview（查询：2026-07-27）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这张图把产品先按形态分开。右上角是云端编程 Agent 或 AI IDE，如 Cursor、Kiro 和 Codex；中间是混合型产品，例如 Claude、Kimi 与 SuperGrok，既是通用会员，也包含不同程度的编程入口；阿里 Token 与 MiniMax 更接近统一模型调用套餐；Ollama 最靠近本地控制，但 Pro 本身又增加云端模型能力。坐标只表达产品定位，不是性能排名。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https://www.kimi.com/zh-cn/resources/kimi-k3-pricing（查询：2026-07-27）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总表的读法是横向看同一列，不把所有数值相加。代表月费用于建立价格级别，额度单位则决定它是否可与其他方案比较。例如 OpenCode Go 用美元价值窗口扣减，阿里 Token 用 Credits，Kiro 用 Credits，Codex 与 Claude 则按共享使用池和任务复杂度消耗。完整对比数据如下：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阿里云百炼 Coding Plan｜阿里云｜Coding 订阅｜Pro｜¥200/月｜年付：未提供｜额度：5h 6,000／周 45,000／月 90,000 次模型调用｜模型：Qwen、GLM、Kimi、MiniMax（白名单）｜入口：CLI/IDE；OpenAI/Anthropic 兼容端点；禁止通用 API｜优势：国内支付；多模型；固定月费｜限制：限量；Lite 停购；数据可用于优化｜适合：国内多模型编码｜状态：在售但官方推荐迁移 Token Plan</a:t>
            </a:r>
          </a:p>
          <a:p xmlns:a="http://schemas.openxmlformats.org/drawingml/2006/main">
            <a:r>
              <a:t>阿里云百炼 Token Plan｜阿里云｜模型调用套餐｜Lite / Standard / Pro｜限时 ¥39 / 139 / 499｜年付：未提供｜额度：5h 700/3k/12k Credits；7天 2.5k/10k/40k｜模型：文本、图像、视频与 Harness 工具｜入口：Claude Code、Cursor、Codex 等；订阅 Key｜优势：跨模态、工具多、可加购｜限制：仅北京区；Credits 按模型系数扣减｜适合：国内统一模型预算｜状态：正式在售</a:t>
            </a:r>
          </a:p>
          <a:p xmlns:a="http://schemas.openxmlformats.org/drawingml/2006/main">
            <a:r>
              <a:t>方舟 Coding Plan｜火山引擎（字节跳动）｜Coding 订阅｜Lite / Pro｜¥40 / 200/月｜年付：季度同月价｜额度：5小时＋周窗口；细项以动态文档/控制台为准｜模型：火山方舟 Coding Plan 支持模型动态列表｜入口：兼容主流编程 Agent｜优势：国内访问、支付与方舟生态｜限制：静态公开页未完整展示额度明细｜适合：火山生态开发者｜状态：正式在售</a:t>
            </a:r>
          </a:p>
          <a:p xmlns:a="http://schemas.openxmlformats.org/drawingml/2006/main">
            <a:r>
              <a:t>MiniMax Token Plan｜MiniMax｜全模态 Token 套餐｜Plus / Max / Ultra｜¥49 / 119 / 469/月｜年付：未提供｜额度：5小时＋周窗口；约 3–4 / 4–5 / 6–7 个 Agent｜模型：开放平台所有文本、图像、语音、音乐资源｜入口：订阅 Key；OpenAI/Anthropic 兼容；CLI/Agent｜优势：全模态共享额度；低门槛｜限制：Agent 数为官方估算；不是固定请求数｜适合：多模态与高频 Agent｜状态：正式在售</a:t>
            </a:r>
          </a:p>
          <a:p xmlns:a="http://schemas.openxmlformats.org/drawingml/2006/main">
            <a:r>
              <a:t>Kimi 会员 / Kimi Code｜月之暗面｜通用会员＋Coding｜Andante 至 Allegro｜年付折月 ¥39 / 79 / 159 / 559｜年付：已计入｜额度：周刷新的 Agent/Kimi Code 额度；并发随档位提升｜模型：Kimi K3、Kimi K2.7 Code 等｜入口：Web、Work、Code CLI/IDE、移动端｜优势：长上下文；通用工作台＋Coding｜限制：会员额度未公开为固定 Token；高档位成本高｜适合：中文知识工作＋编码｜状态：正式在售</a:t>
            </a:r>
          </a:p>
          <a:p xmlns:a="http://schemas.openxmlformats.org/drawingml/2006/main">
            <a:r>
              <a:t>GLM Coding Plan｜智谱 AI｜Coding 订阅｜Lite / Pro / Max｜订购页实时展示；公开文档未列价格｜年付：包年折扣存在｜额度：5h 80/400/1600 prompts；周 400/2k/8k｜模型：GLM-5.2、GLM-5-Turbo、GLM-4.7｜入口：Claude Code、OpenCode、TRAE 等；非通用 API｜优势：国产模型；MCP；额度说明较透明｜限制：高阶模型有 2–3×抵扣系数；价格需下单页确认｜适合：GLM 生态编码｜状态：正式在售</a:t>
            </a:r>
          </a:p>
          <a:p xmlns:a="http://schemas.openxmlformats.org/drawingml/2006/main">
            <a:r>
              <a:t>Codex（随 ChatGPT 套餐）｜OpenAI｜通用会员＋Coding｜Plus / Pro 5× / Pro 20×｜$20 / $100 / $200 月｜年付：未提供｜额度：与 ChatGPT Work 共享用量；按任务复杂度与模型扣减｜模型：GPT-5.6 Sol / Terra / Luna 等｜入口：桌面、Web、CLI、IDE、iOS、Cloud｜优势：完整 Agent 工具链；多入口｜限制：不是独立会员；API 另计费｜适合：全栈 Agent 工作流｜状态：名称已核实：非独立会员</a:t>
            </a:r>
          </a:p>
          <a:p xmlns:a="http://schemas.openxmlformats.org/drawingml/2006/main">
            <a:r>
              <a:t>Claude Pro / Max｜Anthropic｜通用会员＋Coding｜Pro / Max 5× / Max 20×｜$20 / $100 / $200 月｜年付：Pro $200/年｜额度：会话/5小时窗口；Max 为 Pro 5×或20×容量｜模型：Claude 系列；Claude Code 随会员｜入口：Web/桌面/移动端＋Claude Code CLI｜优势：长程编码；通用对话与项目｜限制：共享额度；API Key 为独立按量计费｜适合：终端长程编码｜状态：正式在售</a:t>
            </a:r>
          </a:p>
          <a:p xmlns:a="http://schemas.openxmlformats.org/drawingml/2006/main">
            <a:r>
              <a:t>Ollama Pro｜Ollama｜本地＋云端增值｜Pro｜$20/月｜年付：$200/年（$16.67/月）｜额度：云端用量为 Free 的 50×；同时 3 个云模型｜模型：本地开放模型＋Ollama Cloud 大模型｜入口：本地 CLI/API；OpenAI 兼容云 API｜优势：本地优先；零保留云推理；私有模型｜限制：本地效果依赖硬件；Pro 不是算力无限｜适合：隐私与本地控制｜状态：正式在售</a:t>
            </a:r>
          </a:p>
          <a:p xmlns:a="http://schemas.openxmlformats.org/drawingml/2006/main">
            <a:r>
              <a:t>Kiro｜Amazon Web Services｜Agentic IDE＋CLI｜Pro / Pro+ / Pro Max / Power｜$20 / 40 / 100 / 200 月｜年付：未公开｜额度：1k / 2k / 5k / 10k Credits｜模型：开放权重模型＋Claude Sonnet 4.6 等｜入口：IDE、CLI、Web；移动端预览｜优势：Spec 驱动；Hooks；云端自治 Agent｜限制：Credits 非请求数；个人数据默认可用于改进，可退出｜适合：规范化交付流程｜状态：正式在售</a:t>
            </a:r>
          </a:p>
          <a:p xmlns:a="http://schemas.openxmlformats.org/drawingml/2006/main">
            <a:r>
              <a:t>OpenCode Go｜Anomaly Innovations｜开源 Agent 的模型订阅｜Go｜首月 $5，后续 $10/月｜年付：未提供｜额度：5h $12／周 $30／月 $60 使用价值｜模型：Grok 4.5、GLM-5.2、Kimi K3、M3、Qwen 等｜入口：OpenCode TUI/CLI/IDE/桌面；提供 API Key｜优势：低成本；模型自由；零保留｜限制：按模型成本扣减；一工作区仅一订阅者｜适合：预算敏感、多模型 CLI｜状态：正式在售</a:t>
            </a:r>
          </a:p>
          <a:p xmlns:a="http://schemas.openxmlformats.org/drawingml/2006/main">
            <a:r>
              <a:t>Cursor｜Anysphere｜AI IDE 订阅｜Pro / Pro+ / Ultra / Teams｜$20 / 60 / 200；Teams $40/人｜年付：结算页为准｜额度：自有模型池＋API 计价模型池；Pro 至少 $20 API 用量｜模型：Composer/Auto＋OpenAI/Claude/Gemini/Grok｜入口：IDE、CLI、Cloud Agents、Bugbot｜优势：IDE 体验成熟；代码库理解与团队管理｜限制：双额度池复杂；规则与模型池可能变化｜适合：IDE 内高频开发｜状态：正式在售</a:t>
            </a:r>
          </a:p>
          <a:p xmlns:a="http://schemas.openxmlformats.org/drawingml/2006/main">
            <a:r>
              <a:t>SuperGrok｜X.AI LLC｜通用会员＋Coding｜SuperGrok｜$30/月｜年付：未公开｜额度：更高功能限额；具体次数未公开｜模型：Grok 4.5；含 Grok Build 早期 Beta｜入口：Web/iOS/Android＋Grok Build CLI｜优势：实时 Web/X；通用能力与终端 Agent｜限制：编程 Agent 仍处早期阶段；API 独立计费｜适合：Grok 生态与实时搜索｜状态：正式在售；Build 为早期 Beta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https://help.aliyun.com/zh/model-studio/coding-plan（查询：2026-07-27）</a:t>
            </a:r>
          </a:p>
          <a:p xmlns:a="http://schemas.openxmlformats.org/drawingml/2006/main">
            <a:r>
              <a:t>- https://help.aliyun.com/zh/model-studio/token-plan-overview（查询：2026-07-27）</a:t>
            </a:r>
          </a:p>
          <a:p xmlns:a="http://schemas.openxmlformats.org/drawingml/2006/main">
            <a:r>
              <a:t>- https://www.volcengine.com/docs/82379/1925114（查询：2026-07-27）</a:t>
            </a:r>
          </a:p>
          <a:p xmlns:a="http://schemas.openxmlformats.org/drawingml/2006/main">
            <a:r>
              <a:t>- https://platform.minimaxi.com/docs/guides/pricing-token-plan（查询：2026-07-27）</a:t>
            </a:r>
          </a:p>
          <a:p xmlns:a="http://schemas.openxmlformats.org/drawingml/2006/main">
            <a:r>
              <a:t>- https://www.kimi.com/zh-cn/resources/kimi-k3-pricing（查询：2026-07-27）</a:t>
            </a:r>
          </a:p>
          <a:p xmlns:a="http://schemas.openxmlformats.org/drawingml/2006/main">
            <a:r>
              <a:t>- https://docs.bigmodel.cn/cn/coding-plan/overview（查询：2026-07-27）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https://x.ai/pricing（查询：2026-07-27）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国内方案要先分成两组。阿里 Coding Plan、火山 Coding Plan 与 GLM Coding Plan 主要约束在官方支持的编程工具中，不能把套餐 Key 当通用 API 用于服务端批量调用。阿里 Token Plan 与 MiniMax Token Plan 更像统一模型预算，通过 Credits 或统一额度覆盖更多模型和多模态资源。国内访问与支付普遍更便利，但数据训练、区域限制和高阶模型倍率仍要逐条核对。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https://help.aliyun.com/zh/model-studio/coding-plan（查询：2026-07-27）</a:t>
            </a:r>
          </a:p>
          <a:p xmlns:a="http://schemas.openxmlformats.org/drawingml/2006/main">
            <a:r>
              <a:t>- https://help.aliyun.com/zh/model-studio/token-plan-personal-overview（查询：2026-07-27）</a:t>
            </a:r>
          </a:p>
          <a:p xmlns:a="http://schemas.openxmlformats.org/drawingml/2006/main">
            <a:r>
              <a:t>- https://www.volcengine.com/docs/82379/1928220（查询：2026-07-27）</a:t>
            </a:r>
          </a:p>
          <a:p xmlns:a="http://schemas.openxmlformats.org/drawingml/2006/main">
            <a:r>
              <a:t>- https://platform.minimaxi.com/docs/guides/pricing-token-plan（查询：2026-07-27）</a:t>
            </a:r>
          </a:p>
          <a:p xmlns:a="http://schemas.openxmlformats.org/drawingml/2006/main">
            <a:r>
              <a:t>- https://docs.bigmodel.cn/cn/coding-plan/overview（查询：2026-07-27）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这四类会员都具有编程能力，但路径不同。ChatGPT 套餐直接包含 Codex 多端工具链；Claude Pro 与 Max 包含 Claude Code，终端工作流非常明确；Kimi 会员同时覆盖 Kimi Work 和 Kimi Code，更偏中文知识工作与编程融合；SuperGrok 已包含 Grok Build，但截至本次截止日仍是早期 Beta。对每天长时间编码的人，必须关注专用 Agent 入口和使用窗口，而不是只看是否写着“支持代码”。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https://www.kimi.com/zh-cn/resources/kimi-k3-pricing（查询：2026-07-27）</a:t>
            </a:r>
          </a:p>
          <a:p xmlns:a="http://schemas.openxmlformats.org/drawingml/2006/main">
            <a:r>
              <a:t>- https://www.kimi.com/zh-cn/resources/kimi-k2-7-code（查询：2026-07-27）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https://support.anthropic.com/en/articles/11145838-using-claude-code-with-your-pro-or-max-plan（查询：2026-07-27）</a:t>
            </a:r>
          </a:p>
          <a:p xmlns:a="http://schemas.openxmlformats.org/drawingml/2006/main">
            <a:r>
              <a:t>- https://x.ai/pricing（查询：2026-07-27）</a:t>
            </a:r>
          </a:p>
          <a:p xmlns:a="http://schemas.openxmlformats.org/drawingml/2006/main">
            <a:r>
              <a:t>- https://x.ai/news/grok-build-cli（查询：2026-07-27）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Cursor 的强项是 IDE 内的一体化体验、代码库理解和团队管理，但双额度池需要持续关注。Kiro 的差异化是 Spec 驱动：先生成需求、设计和任务，再执行，并通过 Hooks、Steering 与 Web 自治 Agent 形成更规范的交付流程。OpenCode Go 不是一个封闭 IDE 会员，而是开源 Agent 的低价模型订阅；它能继续接任意自备 API Key，因此模型自由度最高，但用户要更习惯终端与配置。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https://cursor.com/blog/increased-agent-usage（查询：2026-07-27）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https://kiro.dev/docs/billing/（查询：2026-07-27）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Ollama Pro 经常被误解成“本地模型会员”。实际上，本地下载与运行 Ollama 仍是免费路线，成本主要来自硬件、电力与运维。Pro 提供的是云端增值：更大模型、三路并发、Free 的五十倍云用量以及私有模型功能。对于敏感代码，最保守的做法仍是完全本地；对于本地硬件无法承载的大模型，可以把非敏感任务路由到 Ollama Cloud。官方说明云模型不保留数据，但企业仍应结合自身合规要求评估。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- https://ollama.com/blog/cloud-models（查询：2026-07-27）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这张图只做入口价格标准化，不能直接推导性价比。美元按 2026 年 7 月 27 日约 6.77 人民币换算；阿里 Token 的 39 元是限时价，Kimi 与 Ollama 使用年付折月，OpenCode Go 使用首月之后的 10 美元续费价。真正的有效月成本还包括超额用量、税费、地区差价，以及额度触顶后等待的时间成本。因为额度形态不同，图中没有把请求数、Credits 和 Token 强行换算。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https://www.boc.cn/sourcedb/whpj/index.html（查询：2026-07-27）</a:t>
            </a:r>
          </a:p>
          <a:p xmlns:a="http://schemas.openxmlformats.org/drawingml/2006/main">
            <a:r>
              <a:t>- https://help.aliyun.com/zh/model-studio/token-plan-personal-overview（查询：2026-07-27）</a:t>
            </a:r>
          </a:p>
          <a:p xmlns:a="http://schemas.openxmlformats.org/drawingml/2006/main">
            <a:r>
              <a:t>- https://www.volcengine.com/docs/82379/1928220（查询：2026-07-27）</a:t>
            </a:r>
          </a:p>
          <a:p xmlns:a="http://schemas.openxmlformats.org/drawingml/2006/main">
            <a:r>
              <a:t>- https://platform.minimaxi.com/docs/guides/pricing-token-plan（查询：2026-07-27）</a:t>
            </a:r>
          </a:p>
          <a:p xmlns:a="http://schemas.openxmlformats.org/drawingml/2006/main">
            <a:r>
              <a:t>- https://www.kimi.com/zh-cn/resources/kimi-k3-pricing（查询：2026-07-27）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https://x.ai/pricing（查询：2026-07-27）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热力表比较的是产品体验，不是模型智力。Cursor 在代码补全、IDE 集成和团队管理上更完整；Codex 与 Claude Code 在终端、多文件与自主执行上更强；Kiro 的 Spec、Hooks 与云端自治让流程化能力突出；OpenCode Go 继承 OpenCode 的开放模型与终端能力；国内 Coding Plan 往往通过第三方工具实现体验，因此补全和团队管理不一定由套餐本身提供。Ollama 的优势是模型自由度和本地控制，而不是开箱即用的 IDE 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https://help.aliyun.com/zh/model-studio/coding-plan（查询：2026-07-27）</a:t>
            </a:r>
          </a:p>
          <a:p xmlns:a="http://schemas.openxmlformats.org/drawingml/2006/main">
            <a:r>
              <a:t>- https://help.aliyun.com/zh/model-studio/token-plan-overview（查询：2026-07-27）</a:t>
            </a:r>
          </a:p>
          <a:p xmlns:a="http://schemas.openxmlformats.org/drawingml/2006/main">
            <a:r>
              <a:t>- https://www.volcengine.com/docs/82379/1925114（查询：2026-07-27）</a:t>
            </a:r>
          </a:p>
          <a:p xmlns:a="http://schemas.openxmlformats.org/drawingml/2006/main">
            <a:r>
              <a:t>- https://platform.minimaxi.com/docs/guides/pricing-token-plan（查询：2026-07-27）</a:t>
            </a:r>
          </a:p>
          <a:p xmlns:a="http://schemas.openxmlformats.org/drawingml/2006/main">
            <a:r>
              <a:t>- https://www.kimi.com/zh-cn/resources/kimi-k2-7-code（查询：2026-07-27）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https://support.anthropic.com/en/articles/11145838-using-claude-code-with-your-pro-or-max-plan（查询：2026-07-27）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https://x.ai/news/grok-build-cli（查询：2026-07-27）</a:t>
            </a:r>
          </a:p>
          <a:p xmlns:a="http://schemas.openxmlformats.org/drawingml/2006/main">
            <a:r>
              <a:t>- https://docs.bigmodel.cn/cn/coding-plan/overview（查询：2026-07-27）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隐私评估至少要拆成四个问题：代码是否离开设备、服务是否用于模型改进、保留多久、第三方模型提供商是否参与。完全本地的 Ollama 可以避免把代码发送到云端，但仍需管理模型来源和本地权限。Cursor 可开启 Privacy Mode；Kiro 个人用户默认可能参与服务改进，但可以退出，企业用户默认不用于改进；Claude 个人产品是否用于训练取决于用户选择。国内套餐也不能一概而论，例如阿里 Coding Plan 明示输入输出可用于服务改进。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https://cursor.com/security（查询：2026-07-27）</a:t>
            </a:r>
          </a:p>
          <a:p xmlns:a="http://schemas.openxmlformats.org/drawingml/2006/main">
            <a:r>
              <a:t>- https://privacy.anthropic.com/en/articles/10023580-is-my-data-used-for-model-training（查询：2026-07-27）</a:t>
            </a:r>
          </a:p>
          <a:p xmlns:a="http://schemas.openxmlformats.org/drawingml/2006/main">
            <a:r>
              <a:t>- https://kiro.dev/docs/privacy-and-security/data-protection/（查询：2026-07-27）</a:t>
            </a:r>
          </a:p>
          <a:p xmlns:a="http://schemas.openxmlformats.org/drawingml/2006/main">
            <a:r>
              <a:t>- https://ollama.com/blog/cloud-models（查询：2026-07-27）</a:t>
            </a:r>
          </a:p>
          <a:p xmlns:a="http://schemas.openxmlformats.org/drawingml/2006/main">
            <a:r>
              <a:t>- https://help.aliyun.com/zh/model-studio/coding-plan（查询：2026-07-27）</a:t>
            </a:r>
          </a:p>
          <a:p xmlns:a="http://schemas.openxmlformats.org/drawingml/2006/main">
            <a:r>
              <a:t>- https://help.aliyun.com/zh/model-studio/token-plan-team-overview（查询：2026-07-27）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推荐要和场景绑定。轻度用户可从 OpenCode Go 或已有的通用会员开始；高频 Agent 用户应比较 Codex Pro、Claude Max、Cursor Ultra 与 Kiro 高档位在自己仓库中的真实消耗。国内访问优先时，阿里 Token Plan 的模型与工具覆盖较广，MiniMax、GLM 和火山可作为模型或生态偏好备选。敏感代码优先本地 Ollama，团队则要购买真正提供管理、账单和数据承诺的商业套餐，而不是把多个个人账号拼在一起。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https://help.aliyun.com/zh/model-studio/token-plan-overview（查询：2026-07-27）</a:t>
            </a:r>
          </a:p>
          <a:p xmlns:a="http://schemas.openxmlformats.org/drawingml/2006/main">
            <a:r>
              <a:t>- https://platform.minimaxi.com/docs/guides/pricing-token-plan（查询：2026-07-27）</a:t>
            </a:r>
          </a:p>
          <a:p xmlns:a="http://schemas.openxmlformats.org/drawingml/2006/main">
            <a:r>
              <a:t>- https://docs.bigmodel.cn/cn/coding-plan/overview（查询：2026-07-27）</a:t>
            </a:r>
          </a:p>
          <a:p xmlns:a="http://schemas.openxmlformats.org/drawingml/2006/main">
            <a:r>
              <a:t>- https://www.volcengine.com/docs/82379/1925114（查询：2026-07-27）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决策树从入口开始：如果需要 Agent 直接修改代码，就进入 IDE 或 Agent 路线；如果只需要把模型接入自建应用，就进入 API 或 Token 路线。之后再判断国内访问、海外模型、代码能否上传、月预算和使用频率。最重要的分叉是数据边界：不允许代码上传时，无论云端套餐多便宜，都应转向本地 Ollama 或私有部署。最后不要一次购买最高档，先用真实仓库测试一到两个计费周期。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https://help.aliyun.com/zh/model-studio/token-plan-overview（查询：2026-07-27）</a:t>
            </a:r>
          </a:p>
          <a:p xmlns:a="http://schemas.openxmlformats.org/drawingml/2006/main">
            <a:r>
              <a:t>- https://platform.minimaxi.com/docs/guides/pricing-token-plan（查询：2026-07-27）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三层结论分别对应试错成本、场景匹配和不确定性。第一层先用低价或已有会员验证工作流；第二层再根据 IDE、Spec、本地隐私、多模态或国内生态选择更专用的产品；第三层对规则频繁变化或公开信息不足的方案保持观察。实际评估建议固定一个仓库和三类任务：代码问答、多文件功能、长程调试，连续记录一周的完成质量、用时、额度消耗和人工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https://help.aliyun.com/zh/model-studio/token-plan-overview（查询：2026-07-27）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- https://x.ai/news/grok-build-cli（查询：2026-07-27）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最后一页列出全部核心官方来源。查询日期统一为 2026 年 7 月 27 日。对于官方帮助文档与订购页面不一致的情况，以更新更晚、描述更具体的官方页面为准；对于依赖登录或前端动态渲染、无法在公开静态文档中核验的字段，明确标注“未公开”或“订购页实时展示”。每一页的演讲备注中还保留了完整 URL，方便后续复核与更新。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https://help.aliyun.com/zh/model-studio/coding-plan（查询：2026-07-27）</a:t>
            </a:r>
          </a:p>
          <a:p xmlns:a="http://schemas.openxmlformats.org/drawingml/2006/main">
            <a:r>
              <a:t>- https://help.aliyun.com/zh/model-studio/token-plan-overview（查询：2026-07-27）</a:t>
            </a:r>
          </a:p>
          <a:p xmlns:a="http://schemas.openxmlformats.org/drawingml/2006/main">
            <a:r>
              <a:t>- https://help.aliyun.com/zh/model-studio/token-plan-personal-overview（查询：2026-07-27）</a:t>
            </a:r>
          </a:p>
          <a:p xmlns:a="http://schemas.openxmlformats.org/drawingml/2006/main">
            <a:r>
              <a:t>- https://help.aliyun.com/zh/model-studio/token-plan-team-overview（查询：2026-07-27）</a:t>
            </a:r>
          </a:p>
          <a:p xmlns:a="http://schemas.openxmlformats.org/drawingml/2006/main">
            <a:r>
              <a:t>- https://www.volcengine.com/docs/82379/1925114（查询：2026-07-27）</a:t>
            </a:r>
          </a:p>
          <a:p xmlns:a="http://schemas.openxmlformats.org/drawingml/2006/main">
            <a:r>
              <a:t>- https://www.volcengine.com/docs/82379/1928220（查询：2026-07-27）</a:t>
            </a:r>
          </a:p>
          <a:p xmlns:a="http://schemas.openxmlformats.org/drawingml/2006/main">
            <a:r>
              <a:t>- https://platform.minimaxi.com/docs/guides/pricing-token-plan（查询：2026-07-27）</a:t>
            </a:r>
          </a:p>
          <a:p xmlns:a="http://schemas.openxmlformats.org/drawingml/2006/main">
            <a:r>
              <a:t>- https://platform.minimaxi.com/docs/token-plan/intro（查询：2026-07-27）</a:t>
            </a:r>
          </a:p>
          <a:p xmlns:a="http://schemas.openxmlformats.org/drawingml/2006/main">
            <a:r>
              <a:t>- https://www.kimi.com/zh-cn/resources/kimi-k3-pricing（查询：2026-07-27）</a:t>
            </a:r>
          </a:p>
          <a:p xmlns:a="http://schemas.openxmlformats.org/drawingml/2006/main">
            <a:r>
              <a:t>- https://www.kimi.com/zh-cn/resources/kimi-k2-7-code（查询：2026-07-27）</a:t>
            </a:r>
          </a:p>
          <a:p xmlns:a="http://schemas.openxmlformats.org/drawingml/2006/main">
            <a:r>
              <a:t>- https://docs.bigmodel.cn/cn/coding-plan/overview（查询：2026-07-27）</a:t>
            </a:r>
          </a:p>
          <a:p xmlns:a="http://schemas.openxmlformats.org/drawingml/2006/main">
            <a:r>
              <a:t>- https://learn.chatgpt.com/docs/pricing（查询：2026-07-27）</a:t>
            </a:r>
          </a:p>
          <a:p xmlns:a="http://schemas.openxmlformats.org/drawingml/2006/main">
            <a:r>
              <a:t>- https://support.anthropic.com/en/articles/11049762-choosing-a-claude-ai-plan（查询：2026-07-27）</a:t>
            </a:r>
          </a:p>
          <a:p xmlns:a="http://schemas.openxmlformats.org/drawingml/2006/main">
            <a:r>
              <a:t>- https://support.anthropic.com/en/articles/11145838-using-claude-code-with-your-pro-or-max-plan（查询：2026-07-27）</a:t>
            </a:r>
          </a:p>
          <a:p xmlns:a="http://schemas.openxmlformats.org/drawingml/2006/main">
            <a:r>
              <a:t>- https://ollama.com/pricing（查询：2026-07-27）</a:t>
            </a:r>
          </a:p>
          <a:p xmlns:a="http://schemas.openxmlformats.org/drawingml/2006/main">
            <a:r>
              <a:t>- https://ollama.com/blog/cloud-models（查询：2026-07-27）</a:t>
            </a:r>
          </a:p>
          <a:p xmlns:a="http://schemas.openxmlformats.org/drawingml/2006/main">
            <a:r>
              <a:t>- https://kiro.dev/pricing/（查询：2026-07-27）</a:t>
            </a:r>
          </a:p>
          <a:p xmlns:a="http://schemas.openxmlformats.org/drawingml/2006/main">
            <a:r>
              <a:t>- https://kiro.dev/docs/billing/（查询：2026-07-27）</a:t>
            </a:r>
          </a:p>
          <a:p xmlns:a="http://schemas.openxmlformats.org/drawingml/2006/main">
            <a:r>
              <a:t>- https://opencode.ai/docs/go/（查询：2026-07-27）</a:t>
            </a:r>
          </a:p>
          <a:p xmlns:a="http://schemas.openxmlformats.org/drawingml/2006/main">
            <a:r>
              <a:t>- https://cursor.com/pricing（查询：2026-07-27）</a:t>
            </a:r>
          </a:p>
          <a:p xmlns:a="http://schemas.openxmlformats.org/drawingml/2006/main">
            <a:r>
              <a:t>- https://cursor.com/blog/increased-agent-usage（查询：2026-07-27）</a:t>
            </a:r>
          </a:p>
          <a:p xmlns:a="http://schemas.openxmlformats.org/drawingml/2006/main">
            <a:r>
              <a:t>- https://x.ai/pricing（查询：2026-07-27）</a:t>
            </a:r>
          </a:p>
          <a:p xmlns:a="http://schemas.openxmlformats.org/drawingml/2006/main">
            <a:r>
              <a:t>- https://x.ai/news/grok-build-cli（查询：2026-07-27）</a:t>
            </a:r>
          </a:p>
          <a:p xmlns:a="http://schemas.openxmlformats.org/drawingml/2006/main">
            <a:r>
              <a:t>- https://www.boc.cn/sourcedb/whpj/index.html（查询：2026-07-27）</a:t>
            </a:r>
          </a:p>
          <a:p xmlns:a="http://schemas.openxmlformats.org/drawingml/2006/main">
            <a:r>
              <a:t>- https://cursor.com/security（查询：2026-07-27）</a:t>
            </a:r>
          </a:p>
          <a:p xmlns:a="http://schemas.openxmlformats.org/drawingml/2006/main">
            <a:r>
              <a:t>- https://privacy.anthropic.com/en/articles/10023580-is-my-data-used-for-model-training（查询：2026-07-27）</a:t>
            </a:r>
          </a:p>
          <a:p xmlns:a="http://schemas.openxmlformats.org/drawingml/2006/main">
            <a:r>
              <a:t>- https://kiro.dev/docs/privacy-and-security/data-protection/（查询：2026-07-27）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449bd4eef45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3bd01669414b39" /><Relationship Type="http://schemas.openxmlformats.org/officeDocument/2006/relationships/slideLayout" Target="/ppt/slideLayouts/slideLayout1.xml" Id="Rb74cbe04ba8d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4cbe04ba8d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377679cce4c17" /><Relationship Type="http://schemas.openxmlformats.org/officeDocument/2006/relationships/notesSlide" Target="/ppt/notesSlides/notesSlide1.xml" Id="Rbdb15ab754ed44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25bf94d314a8e" /><Relationship Type="http://schemas.openxmlformats.org/officeDocument/2006/relationships/notesSlide" Target="/ppt/notesSlides/notesSlide2.xml" Id="Rcf9132c1355e4e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5ea43881c4504" /><Relationship Type="http://schemas.openxmlformats.org/officeDocument/2006/relationships/notesSlide" Target="/ppt/notesSlides/notesSlide3.xml" Id="R3f525cefe208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00d5f6eaa40d2" /><Relationship Type="http://schemas.openxmlformats.org/officeDocument/2006/relationships/notesSlide" Target="/ppt/notesSlides/notesSlide4.xml" Id="Rf995a8cfb52446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95623bf1848b4" /><Relationship Type="http://schemas.openxmlformats.org/officeDocument/2006/relationships/notesSlide" Target="/ppt/notesSlides/notesSlide5.xml" Id="Rbee741eddb3e44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e626ddab54c48" /><Relationship Type="http://schemas.openxmlformats.org/officeDocument/2006/relationships/notesSlide" Target="/ppt/notesSlides/notesSlide6.xml" Id="Rf4eb01ef3ab940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c9528d4dd4c53" /><Relationship Type="http://schemas.openxmlformats.org/officeDocument/2006/relationships/notesSlide" Target="/ppt/notesSlides/notesSlide7.xml" Id="R6cb0d1436a804d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f3c4560284a9d" /><Relationship Type="http://schemas.openxmlformats.org/officeDocument/2006/relationships/notesSlide" Target="/ppt/notesSlides/notesSlide8.xml" Id="R6d3b623d74594f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d37c6574243c3" /><Relationship Type="http://schemas.openxmlformats.org/officeDocument/2006/relationships/notesSlide" Target="/ppt/notesSlides/notesSlide9.xml" Id="R24074fece69343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743766c9a4aa8" /><Relationship Type="http://schemas.openxmlformats.org/officeDocument/2006/relationships/notesSlide" Target="/ppt/notesSlides/notesSlide10.xml" Id="Rfb9b7b307be34a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be060ef1e45f2" /><Relationship Type="http://schemas.openxmlformats.org/officeDocument/2006/relationships/notesSlide" Target="/ppt/notesSlides/notesSlide11.xml" Id="R49842241c04943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ca4f5c6604d6c" /><Relationship Type="http://schemas.openxmlformats.org/officeDocument/2006/relationships/notesSlide" Target="/ppt/notesSlides/notesSlide12.xml" Id="R3acb3a42a9d746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b3444d1d8410f" /><Relationship Type="http://schemas.openxmlformats.org/officeDocument/2006/relationships/notesSlide" Target="/ppt/notesSlides/notesSlide13.xml" Id="Rcd407cb71e6848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2921c95f7479a" /><Relationship Type="http://schemas.openxmlformats.org/officeDocument/2006/relationships/notesSlide" Target="/ppt/notesSlides/notesSlide14.xml" Id="R21f41c91dae647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97af6d7594f51" /><Relationship Type="http://schemas.openxmlformats.org/officeDocument/2006/relationships/notesSlide" Target="/ppt/notesSlides/notesSlide15.xml" Id="R3c75016028f14c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f5c6278af41f1" /><Relationship Type="http://schemas.openxmlformats.org/officeDocument/2006/relationships/notesSlide" Target="/ppt/notesSlides/notesSlide16.xml" Id="R7273d6979dd747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74BDF-390A-41D7-BB95-259BD01A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CB363-54B7-4212-B4B0-4C79F32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A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847FB-3813-4348-BEFD-A92385DA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8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F68CB-0714-4F1F-A7C8-CFBAB8B6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8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CBDCA-3AB0-46B8-98C3-67E0554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A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A6414-5D73-468D-A6C7-7FD5C2B1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8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6C767-9380-438E-9D02-1B59CEED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8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1A2EC-F581-468D-91E5-214FFCB6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A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A54BB-D628-4CD7-87CD-5D3EB6E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8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2FFD1-2FDA-481C-8D3E-E3C00983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8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EB934-534F-482D-B6C6-09ED2607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A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8E794-3943-4CCA-AC8E-19668A55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8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E79AB-E09B-48D0-AEF9-675026D4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-161925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8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3584D-B1B3-4A3A-A651-3E873841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096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80899-2592-4599-9505-8875C2F7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24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2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A8769-6685-44FB-A879-62FD309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8DAB4-E8C0-40C2-894A-B7AD41B8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D0"/>
                </a:solidFill>
              </a:defRPr>
            </a:pPr>
            <a:r>
              <a:rPr sz="1050" b="1">
                <a:solidFill>
                  <a:srgbClr val="26D9D0"/>
                </a:solidFill>
              </a:rPr>
              <a:t>AI SUBSCRIPTION LANDSCAPE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623D0-BFC3-4BED-A656-DF563473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7FB"/>
                </a:solidFill>
              </a:defRPr>
            </a:pPr>
            <a:r>
              <a:rPr sz="3750" b="1">
                <a:solidFill>
                  <a:srgbClr val="F4F7FB"/>
                </a:solidFill>
              </a:rPr>
              <a:t>AI Coding Plan、Token Plan</a:t>
            </a:r>
          </a:p>
          <a:p xmlns:a="http://schemas.openxmlformats.org/drawingml/2006/main">
            <a:pPr algn="l">
              <a:defRPr sz="3750" b="1">
                <a:solidFill>
                  <a:srgbClr val="F4F7FB"/>
                </a:solidFill>
              </a:defRPr>
            </a:pPr>
            <a:r>
              <a:rPr sz="3750" b="1">
                <a:solidFill>
                  <a:srgbClr val="F4F7FB"/>
                </a:solidFill>
              </a:rPr>
              <a:t>与会员体系全景对比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83C01-024F-42B5-A461-D0E44234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8CD"/>
                </a:solidFill>
              </a:defRPr>
            </a:pPr>
            <a:r>
              <a:rPr sz="1800" b="0">
                <a:solidFill>
                  <a:srgbClr val="A8B8CD"/>
                </a:solidFill>
              </a:rPr>
              <a:t>价格、额度、模型、工具链与适用场景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FC510-76A7-4CA7-AF81-A2FDE994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4D8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3A806-60CA-4686-8487-A7717238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D8CFF"/>
                </a:solidFill>
              </a:defRPr>
            </a:pPr>
            <a:r>
              <a:rPr sz="1050" b="1">
                <a:solidFill>
                  <a:srgbClr val="4D8CFF"/>
                </a:solidFill>
              </a:rPr>
              <a:t>个人开发者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70FFB-141E-491F-82BB-86980076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052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A87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FDE8F-EE5F-456C-BEC0-6C5CE35D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433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73FF"/>
                </a:solidFill>
              </a:defRPr>
            </a:pPr>
            <a:r>
              <a:rPr sz="1050" b="1">
                <a:solidFill>
                  <a:srgbClr val="A873FF"/>
                </a:solidFill>
              </a:rPr>
              <a:t>技术负责人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5EFC4-86AB-40CB-9B1C-0DAFF923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6D9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16834-C2E5-479F-BC6E-28E14CBB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D9D0"/>
                </a:solidFill>
              </a:defRPr>
            </a:pPr>
            <a:r>
              <a:rPr sz="1050" b="1">
                <a:solidFill>
                  <a:srgbClr val="26D9D0"/>
                </a:solidFill>
              </a:rPr>
              <a:t>小型团队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61CFC6-5F9C-4F20-800E-B8752BBB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49D"/>
                </a:solidFill>
              </a:defRPr>
            </a:pPr>
            <a:r>
              <a:rPr sz="1200" b="0">
                <a:solidFill>
                  <a:srgbClr val="71849D"/>
                </a:solidFill>
              </a:rPr>
              <a:t>信息截止日期：2026 年 7 月 27 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5F060-ADFC-4A1B-A462-8A48361B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055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49D"/>
                </a:solidFill>
              </a:defRPr>
            </a:pPr>
            <a:r>
              <a:rPr sz="1050" b="0">
                <a:solidFill>
                  <a:srgbClr val="71849D"/>
                </a:solidFill>
              </a:rPr>
              <a:t>16 页｜约 15 分钟</a:t>
            </a:r>
          </a:p>
        </p:txBody>
      </p:sp>
    </p:spTree>
    <p:extLst>
      <p:ext uri="{BB962C8B-B14F-4D97-AF65-F5344CB8AC3E}">
        <p14:creationId xmlns:p14="http://schemas.microsoft.com/office/powerpoint/2010/main" val="471800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25C2D3-1EFD-4110-A532-9DEAF1F8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B0042-A8DE-4DE4-855C-935BD4B0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9D996-1971-4663-A2D8-781C66EA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EXECUTIVE SUMMARY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090616-D897-488B-98A6-C7F0520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先选工作流，再选套餐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503AD-3BF7-4F80-9C1C-FF95BFDE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8CFF"/>
                </a:solidFill>
              </a:defRPr>
            </a:pPr>
            <a:r>
              <a:rPr sz="1500" b="1">
                <a:solidFill>
                  <a:srgbClr val="4D8C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469CA-E15C-4A87-9AA0-261691D0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76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高频编程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1FC8E-35B0-4C1B-95FF-E890973A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476375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Codex / Claude Code / Cursor / Kiro 是不同形态：桌面+云、CLI、IDE、Spec 驱动各有所长。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982D4-FC01-40D9-A0E5-F2D62B47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240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A8822-6049-4619-A8E8-C2C78896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69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D9D0"/>
                </a:solidFill>
              </a:defRPr>
            </a:pPr>
            <a:r>
              <a:rPr sz="1500" b="1">
                <a:solidFill>
                  <a:srgbClr val="26D9D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4B8ED-034A-468A-A36B-1B054B90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低成本多模型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4C08E-F772-4A3F-98A6-0DDDFF11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90775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OpenCode Go、阿里 Token Plan Lite、MiniMax Plus 进入门槛低，但额度单位并不等价。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73E96-3FE2-4BA0-A055-9157839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384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9ABB0-B29A-4ECD-B0AB-8E1A0B2E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73FF"/>
                </a:solidFill>
              </a:defRPr>
            </a:pPr>
            <a:r>
              <a:rPr sz="1500" b="1">
                <a:solidFill>
                  <a:srgbClr val="A873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96CAD-29D1-4117-8D3C-7DB5E8E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05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国内生态优先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B9EFD-0F91-455E-BB25-1ACAE386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05175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阿里 Token、MiniMax、GLM、火山更利于国内访问与支付；模型范围和数据条款差异明显。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60E78-E425-4F7A-B6AC-7EE3B6C2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528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FAB1C-5D62-4AC6-B752-436668FE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D6A8"/>
                </a:solidFill>
              </a:defRPr>
            </a:pPr>
            <a:r>
              <a:rPr sz="1500" b="1">
                <a:solidFill>
                  <a:srgbClr val="4DD6A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BA7DF-AEBB-428B-946B-9F635196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9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本地与隐私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14A76-6D21-4B9E-AFC5-6D8A3B2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19575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Ollama 的核心价值是本地控制；Pro 买的是云端增值，不是本地模型本身。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84A51-CD1E-4522-8392-F62ACA3E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672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2707F-0AC0-42C2-976E-DC8105B3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E55"/>
                </a:solidFill>
              </a:defRPr>
            </a:pPr>
            <a:r>
              <a:rPr sz="1500" b="1">
                <a:solidFill>
                  <a:srgbClr val="FFBE5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3DC6B-F84B-4288-893F-6B990529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339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通用助手＋编程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EF851-DF99-489C-A21F-5967FC1D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33975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ChatGPT、Claude、Kimi、SuperGrok 均扩展到 Coding，但 Agent 成熟度与额度透明度不同。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68CC9-2022-40B4-AE4F-9736D27A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816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25D2D-1979-45EA-B8D3-4D8013FE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1F825-6CB8-4292-897F-30B4D231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2026-07-27｜官方定价与产品文档；结论为基于产品形态的编辑判断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D3D7EA-8372-4DDC-A591-C89100A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4990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2295F-D734-46AA-84B5-DF000A35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C1F9-8F10-4991-9FBF-89EEBCF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226C0-0F2A-4625-9AAF-1993D3AC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METHOD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AD5842-DDBD-4FDF-9501-2D1A0680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月费只是入口价，真正成本由 8 个变量共同决定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77986-F44F-451B-84CE-71424BA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57175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73418-7534-4BBD-A5C7-713F666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288E0-F22E-421F-B0EC-1B6A4D9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A6B86-AD3B-4353-89D0-03EFA454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81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月费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987AB-D26C-432E-AC9D-9375CA91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固定订阅入口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6C640-8BCE-4CA2-B792-893CCA15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257175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275D4-C4FE-4FC4-8A53-934D8C3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62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EAFD3-30C6-4CF6-B6B7-77D1B9D7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52A23-901B-497B-8CB0-BAE3FF77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81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Token / Credits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1BDC5-6F8D-40A7-8BD6-4D68902E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7172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按输入、输出、缓存或系数扣减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DF205-771B-4225-A429-2A0FD86C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71625"/>
            <a:ext cx="257175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FDFBC-E64C-44DF-BE8C-186B26AC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62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76A44-A51A-4A08-B0C8-4AA0CBAD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8FEC5-47CF-4036-9F3A-A9777D08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81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请求次数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AAAD8-BABE-4C58-932E-5A2C3D6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7172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一次提示可能触发多次模型调用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6A408-EDB4-4C5E-ACEB-50342EA3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71625"/>
            <a:ext cx="257175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EFF6F-9239-4D3A-B2ED-25224344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62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0D6F9-D693-4AF8-97EC-703E9476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47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68328-2036-48B1-B429-1BDDCB68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81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快 / 慢请求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FBE319-747A-4A34-AFC0-0D9A60C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7172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优先队列与降速机制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B18C3-4DF1-429F-83B4-E6212D6B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57175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7E4EB-1C84-4725-897B-1215759E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AD00C-1CD9-42F6-A9FA-6D367EC0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F9771-26CF-4812-9613-4AE75306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Agent 任务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90D52-821E-4534-988A-7CB56C69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执行时长、工具调用与并发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29FBD3-F320-4ADD-8548-5A92FF26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257175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D2A59-EB56-4EE9-8520-A34214BD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622BD-2A92-41DD-9944-887DB1B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00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CA3C6-E57F-4EE7-9F55-A4BB50FD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33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上下文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463086-0534-4F36-B95C-3BF2A197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243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大仓库与长会话消耗更快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FDBAF2-8660-46B3-968A-A3C2074C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257175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9CE7AF-4842-4609-BC3F-29659CFB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D31A4E-F822-4E1B-B71B-4DCD106F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501ED5-89F2-4479-B535-4D2C324D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速率 / 并发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E28549-0097-463C-BC8C-9169F5B0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243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5 小时、周、月与并发窗口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E3CDCC-86A8-4B9F-8D64-39BF1DE5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24250"/>
            <a:ext cx="257175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037C6C-1AE3-47B4-BEC4-947221B0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297CFB-F2CB-4552-81AC-9FF4A25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00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11F"/>
                </a:solidFill>
              </a:defRPr>
            </a:pPr>
            <a:r>
              <a:rPr sz="1125" b="1">
                <a:solidFill>
                  <a:srgbClr val="07111F"/>
                </a:solidFill>
              </a:rPr>
              <a:t>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265983-B28A-4618-B9C6-E1D6F0A1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33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入口与模型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A350DD-7CD5-4394-A84D-A957363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243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IDE / CLI / API / Web 能力不同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BB3022-777B-47FD-AE13-0540D6FE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D9D0"/>
                </a:solidFill>
              </a:defRPr>
            </a:pPr>
            <a:r>
              <a:rPr sz="1875" b="1">
                <a:solidFill>
                  <a:srgbClr val="26D9D0"/>
                </a:solidFill>
              </a:rPr>
              <a:t>结论：不同计量单位不能直接换成同一个“Token 数”。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E509EA-FC07-4274-BDE4-CA7FFAD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C2F5E0-3418-4823-8797-49DC6AD7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2026-07-27｜阿里、MiniMax、OpenCode、Codex、GLM 官方额度说明</a:t>
            </a:r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E4E431-EFBB-42BC-9DD2-7C290AD7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1710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53FAD-042F-43DA-8592-3D2AF4C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1CAF4-CCDD-4061-B761-B714C7A3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6900F-449A-4784-A370-EDE10BA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LANDSCAPE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E38468-635B-475E-9DB3-CFA163D3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13 个产品分布在 5 种产品形态中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94425-36CC-47A2-9E70-F0853C9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横轴：编程专用程度｜纵轴：本地控制 → 云端托管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66DA8-15B2-4C7C-981A-811A369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B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7D5FF-BFD1-4CFB-86B3-280A7516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B8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47779-D605-42F4-9D8F-F8E8EB6D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FEAC5-AFC6-4602-A9AB-114522FC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CBF4D-A513-40D0-8589-E843711A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49D"/>
                </a:solidFill>
              </a:defRPr>
            </a:pPr>
            <a:r>
              <a:rPr sz="1125" b="0">
                <a:solidFill>
                  <a:srgbClr val="71849D"/>
                </a:solidFill>
              </a:rPr>
              <a:t>通用助手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F8F83-2B44-45B6-84C0-1B81AC94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1849D"/>
                </a:solidFill>
              </a:defRPr>
            </a:pPr>
            <a:r>
              <a:rPr sz="1125" b="1">
                <a:solidFill>
                  <a:srgbClr val="71849D"/>
                </a:solidFill>
              </a:rPr>
              <a:t>编程核心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C2479-ABC1-4129-8B3C-3EA67E73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764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云端托管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5FB39-BAB1-4E32-83E5-B04B958E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57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本地控制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54CFE-C8EB-4C97-9A42-C823D28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650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0CB8C-8171-4D62-A5C5-4263C50E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241744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Kimi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09884-01F7-4CB0-91CD-EB1C3BAA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335" y="231648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A2588-7C6C-4610-8820-31D64573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60" y="226885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SuperGrok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37194-79F1-454E-AB9D-439C14DC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68795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47C23-FBB6-422C-B077-1BFE6704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765" y="264033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Claude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8544B-BF3B-44D5-BC2D-797EE669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25765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D490C-FFED-4E5F-A55C-9533E0D1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238" y="2528888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4CA50-6A43-455F-B59D-9B33720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366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AB043-BF86-43BD-B30D-4465B1B5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6603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Cursor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1B53B-6FFB-4582-9B7C-E1BE5581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72494E-29A8-434F-8539-FEE053E3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065" y="30861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Kiro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8C7F3-65D4-4CDD-934B-F4341824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8" y="365379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54E832-A1AF-4591-B3CE-D6DDCFFA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60616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阿里 Coding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587F2-C4B0-48F4-B85D-A6EDBDB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710" y="40624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40EED4-4ADC-4075-B64B-E1C5176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4014788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GLM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2080B-7493-4AF3-946A-F251E3D7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958" y="43224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FEEEFA-8B9D-40B8-947F-57581E5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883" y="427482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火山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BFF07F-51AB-466A-A57A-7B075E26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76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53723-12AB-4C2B-AFF9-59A73C3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29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阿里 Token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8764E4-5D01-4DB9-BE35-6E004EA3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377" y="43595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D35883-B686-4F1F-B960-31F75A61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302" y="4311968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MiniMax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CE2C17-7145-47DE-ABFC-23DC5B77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19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483D71-4E20-4135-8ED6-75067DDB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572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OpenCode Go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D5B00B-A119-46BF-9D3D-EB7D0DB2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10254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CE3BA3-6460-43CA-9592-B6825E3A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54918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</a:defRPr>
            </a:pPr>
            <a:r>
              <a:rPr sz="1050" b="1">
                <a:solidFill>
                  <a:srgbClr val="F4F7FB"/>
                </a:solidFill>
              </a:rPr>
              <a:t>Ollama Pro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29B0CA-D99E-4795-B81F-4CDBA917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1733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4D8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FAD084-AB93-4D1C-A1F6-CE392882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62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D8CFF"/>
                </a:solidFill>
              </a:defRPr>
            </a:pPr>
            <a:r>
              <a:rPr sz="1050" b="1">
                <a:solidFill>
                  <a:srgbClr val="4D8CFF"/>
                </a:solidFill>
              </a:rPr>
              <a:t>Coding Agent / AI IDE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952249-C763-408F-AF16-D1B3242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245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6D9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D0FF0D-EB59-4DF8-9BCE-B9EB3B3A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626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D9D0"/>
                </a:solidFill>
              </a:defRPr>
            </a:pPr>
            <a:r>
              <a:rPr sz="1050" b="1">
                <a:solidFill>
                  <a:srgbClr val="26D9D0"/>
                </a:solidFill>
              </a:rPr>
              <a:t>API Token 套餐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7C250A-723F-4F5A-9E9A-D1A0157C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9245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A873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4DDEC6-55EF-47A7-836F-3B27C733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9626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73FF"/>
                </a:solidFill>
              </a:defRPr>
            </a:pPr>
            <a:r>
              <a:rPr sz="1050" b="1">
                <a:solidFill>
                  <a:srgbClr val="A873FF"/>
                </a:solidFill>
              </a:rPr>
              <a:t>通用会员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A893ED-9BB5-4F88-9645-C00D964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9245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4DD6A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46DE06-A97E-4BE2-90D3-E071A8C7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626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DD6A8"/>
                </a:solidFill>
              </a:defRPr>
            </a:pPr>
            <a:r>
              <a:rPr sz="1050" b="1">
                <a:solidFill>
                  <a:srgbClr val="4DD6A8"/>
                </a:solidFill>
              </a:rPr>
              <a:t>本地＋云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B8BB0B-0939-4360-9AE4-D764FDD0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245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FFBE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44AFF7-4354-4D88-BBB8-5F6895B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9626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E55"/>
                </a:solidFill>
              </a:defRPr>
            </a:pPr>
            <a:r>
              <a:rPr sz="1050" b="1">
                <a:solidFill>
                  <a:srgbClr val="FFBE55"/>
                </a:solidFill>
              </a:rPr>
              <a:t>混合型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1CBDE0-4CC1-459C-B794-B00B8326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CE3FE2-C8EF-4DAB-B220-1D866418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2026-07-27｜各产品官方定位与入口；坐标为编辑归类，不代表能力排名</a:t>
            </a:r>
          </a:p>
        </p:txBody>
      </p:sp>
      <p:sp>
        <p:nvSpPr>
          <p:cNvPr id="5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17C65C-9023-4C36-864B-75215407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59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6F098-CB28-4789-9F1F-533411E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2D424-57D8-4B52-8174-F96E5CA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14A31-3667-4F5C-B699-0E4A37B5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MASTER TABLE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073576-9573-47D2-A4D7-2B4CE473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全景总表：先看产品形态，再看价格与额度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DB560-878C-45F6-93B2-63F3A320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表内价格均为代表档位；“—”表示官方未公开或不适用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39283-80D8-46F5-ACF9-8D9DA8DD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3370E-B82D-4277-844F-6C35E1A5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133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EEB1D-4178-4688-A101-0F5322B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4097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C0A84-6B65-47CA-A12A-2769A59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76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公司｜类型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6466C-EDFD-4E3E-851D-BF8F0E7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09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825CD-EF26-479D-A5DC-AFDF5379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代表月费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32A0E-1189-464C-9AB8-3C19B97B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09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F90A9-7BE3-47D6-A563-63783C6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7637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额度单位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F04F9-E9BE-44F1-9BC2-25291FA9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097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6A262-3981-4274-B8C7-E86BDB69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模型｜入口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3D05D-A3C3-4BFE-AF37-2777B5D4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40970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1BD1D-59B2-4F83-8ED5-11B60A01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7637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优势｜主要限制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C69B4-9C96-470E-813C-FFE94931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4E9A9-BB98-44A9-A653-19882AAE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阿里 Coding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C6C69-DEC9-4B6D-A080-0CDE504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7716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A96CD-3F59-4ECE-A02D-29471794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383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阿里云｜Coding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67EA2-7B52-4B11-BA94-B26D352D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71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9DA34-0574-4F2A-B9B6-BB79A85B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383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¥200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FA133B-062C-43D1-B723-AD732349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71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114E8-BDC2-4765-BA3D-0A8734C7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383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5h 6k｜周45k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52452-49C9-417A-98E5-95E005A9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716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75FDD-E699-436F-BAAC-EEC86BE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383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Qwen/GLM/Kimi/MMax｜Agent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E191D-00E0-4F26-B351-E15BE821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7165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FDBED-53B6-4DDC-B772-1F94AF8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383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国内多模型｜限量；禁通用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A6CC6-5DC1-4F85-A5EE-14F9D39A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E27110-9CDE-457C-B1B2-53080DC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阿里 Token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1C7B6-6ACD-4CBE-A918-468DDDC7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095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F1612-8544-49F0-BF9E-C02589D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621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阿里云｜API 套餐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FC5DA9-A3B2-4803-8CAC-462878B9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955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D97108-CFC2-40EF-BD2B-556C8D4A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621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限时 ¥39 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1F9A76-A602-44EE-A5BE-FE88408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95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36EE02-0F41-4062-973B-4236F6ED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621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Credits｜5h/7天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F9412-BB66-4B29-9A3A-E1AB0FA9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E0B07E-7CC1-4223-A4B4-E58E20A3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62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多模态＋Harness｜API/Agent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52C474-0B8E-4EB2-9AF8-96B02022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3A7CBB-BCED-4142-8D2E-410A1ACC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62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跨模型｜仅北京区；规则较新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6E17CB-764F-46EB-A094-3FC94B03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CA5D88-4073-47B4-8CE8-CF454756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火山 Coding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A0DED7-FC15-47A8-BF54-492A8E6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4193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07D047-5637-4E93-BC0D-5913FB9B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60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火山｜Coding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9A7BDF-C799-4A40-B6C2-1F90F141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193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B893EB-728A-4090-BF5F-E1045C6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860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¥40 / 200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0BFAA4-848F-49A7-9152-DA2EE7C7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19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5565AF-30D9-41BE-AEA0-6E224F38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860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5h＋周窗口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9161D1-08FF-43BA-9BB7-68D3CD15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193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C71D92-513B-44EB-ACB2-1B643D33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860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方舟模型｜主流 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7F60FA-358B-406C-B3A5-D9B17776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1935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CAFD9D-E668-4791-A221-0D99287B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860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国内入口｜细项以动态页为准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0A0943-12F5-4197-B9B6-4401565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2601CE-E98F-4A3A-ACD4-CE5DB320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MiniMax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E630A2-E8F5-4088-A430-2E052BB6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743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8EBF17-7204-4130-A140-7B6D6DAF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98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MiniMax｜API 套餐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64EE08-CBAB-41F0-BE2C-416FA96A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43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C1B212-8C95-4E30-9ADD-D620343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98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¥49 /119/469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BA11EE-C36A-447E-A986-B845B12A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DCF6D3-A8A9-4D1E-880C-8EFB768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098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5h＋周窗口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C270DA-D2A6-4084-AA7B-D6A89F6F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432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32F61D-3D69-4E0F-B234-148F6216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MiniMax 全模态｜API/Agent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BA520E-0991-4585-BAE6-AA7EEE8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4320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609EAE-675D-4EDA-8AAE-E3495014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98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低门槛｜模型集中于 MiniMax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0683C9-82C4-4070-ABA8-A0E73190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F384B2F-6240-4422-B6E1-DE86ABB6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Kimi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A91DA3-2A15-4A0E-B31C-1EEC239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670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48605D-18A4-4176-8D19-E43D4024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月之暗面｜混合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1D43E2-5C49-41D1-8CB2-8A69317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670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5C109E-C23C-4387-B232-32D33ABA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337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年付 ¥39 起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E150D4-6B5B-4C78-87C6-3C2B76E4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67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5E60F6-743F-41A8-91FC-AC762361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337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周刷新使用池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FC3491-C79C-4E43-803F-E8FB6C2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670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2929B7-0DA4-4012-8B18-671410C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337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K3/K2.7 Code｜Web/CLI/IDE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2E9C7E-EF40-44EA-A48D-A3C64CFE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6705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6DC7DC-F97B-4AC9-86CF-D36DA012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337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长上下文｜会员与 API 分开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280B96-DC30-4934-BDCA-BA578F3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07458C3-1B0C-4D6B-ACAB-1704A1D8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GLM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BD25EC-22A4-4462-BAED-3CB2E29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390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577AC1-A57B-4E8C-8FEF-8EEBBD1D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575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智谱 AI｜Coding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D77E81B-EE9D-4085-8BEC-12FD1169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90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039230-7FDF-41C1-B29B-B7E9975F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575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订购页实时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7261EB-6818-4807-8E53-192984D5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90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BBF554-A4E9-4600-8FA7-1837998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575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5h 80/400/1600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CE54089-4FA8-4C82-BED1-C9C41052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909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399D438-E56F-4B65-8C7E-11CF9704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GLM-5.2/5-Turbo/4.7｜Agent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2E36F01-066A-441C-9CC3-16AD5191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9090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5A4B395-5595-4B3A-A4E4-F95703F0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575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国产模型/MCP｜高阶有倍率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09665D-EAE9-43ED-B78A-DB43AC46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15FBBF-D1A7-457B-BF62-2B86CB59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Codex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B8C9F51-E8B7-4320-AD4E-E80AA249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714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BADC22C-E7FD-48DD-B936-B4CC4602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814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OpenAI｜会员＋Agent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1DEDD19-84BF-4D29-9925-04395941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14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CD4078-3EC6-479A-A28B-3CB00F9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814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$20 起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AACF88-E092-4AD0-8CBD-49F61CA9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14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15C2C2-C91C-4F02-8389-EED4C7B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814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与 ChatGPT 共享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2F0BF5F-17C0-4615-9756-998BA5A7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3F0CAB0-32BD-41EE-AFE2-D4E83CA1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GPT-5.6 系｜Web/CLI/IDE/云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E6ECF1-4E9F-4E98-8228-35FEEF83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1475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D1BE2ED-2734-4FB5-88AA-F4B12AFA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814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完整 Agent｜不是独立会员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117954E-20E0-417B-AD94-2837FDB7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C87FCFA-56EC-483B-ACCF-8E3114B8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Claude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32D7E0-9E4C-4003-A046-77F84402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38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4821DCB-2601-4BDB-A66D-C502708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05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Anthropic｜混合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9F4D4A0-1E3A-4CCD-9DFA-5EBCE279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386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184E00-6687-450B-A7B9-D9F50CF8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052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$20 /100/200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EDFCE38-B160-4B67-B5C3-D3E30E5B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38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9B74D1E-C588-40F0-A8F4-73839BEE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052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会话/5h 窗口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1BA8F7F-7071-475C-A16D-7976202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386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77AA562-6788-4F43-BCAB-C82178DC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052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Claude｜Web/Claude Code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01AF0B8-AD22-4474-BCDA-5380507E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3860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641D289-E8A4-403F-BCDB-CE1D7F07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052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长程编码｜额度共享且动态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BF72F17-4ECA-4423-B7DA-B35DE24A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3B9A352-E85B-4DFC-8D81-FD2C2E44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Ollama Pro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D2BE791-515B-43A2-82AA-7CB52AB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362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E4F47CC-EDC6-4001-B768-F621BE52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29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Ollama｜混合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2A79EB1-07E7-4B72-A2F3-9F9D0CF5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62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F3ACE95-E850-429A-8938-BB18F118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291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$20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6587EE4-ED8F-4A9D-86F5-59DDB6DB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624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DBD876A-76C1-4535-A6FA-0773555A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291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云用量=Free 50×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E52607F-0828-4F13-A40F-A7EA2E78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624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79F75E3-148F-4BD8-8391-D5891EBA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本地模型＋Cloud｜API/CLI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DAD4E48-9248-4261-B786-08D2C43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6245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8ADE0D1-0FFF-40C0-95C0-4CA40C5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本地优先｜强模型仍依赖云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AFDEBF2-F1B0-4405-ACE7-20CFD047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56C5051-C8C7-4D58-BD19-2927C9B4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Kiro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BD2D37D-C6D8-48DB-92FE-963404C6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686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B467916-B5C8-4298-A4AC-DE7D1EC7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AWS｜AI IDE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87007EE-E59B-4FA7-A7B5-B8CD1CF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9A3E498-60BC-4DC5-98DA-A0F94CF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529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$20 /40/100/200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1ADA8EA-8CF4-499F-9909-41F95A21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86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E96AD92-08A0-4BAF-872B-CC08726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529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1k/2k/5k/10k Credits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37C23DD-3041-48D6-8361-F4E7952D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86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1FD800E-ECFC-4A1E-B26F-8580E12F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52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模型池＋Claude｜IDE/CLI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73BD3FC-7F6D-43E7-9129-805ACD81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8630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60D7FC1-80D5-4032-815B-6BC506C1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Spec/Hooks｜积分按任务消耗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7C3BF4C-2FA6-444E-B126-362C2869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34A8DEA-5426-4342-B416-E92D046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OpenCode Go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B91FB91-4613-44DA-ABC4-49A4A468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101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7BEEEA7-5461-4C22-A3D0-67B0A9B8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768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Anomaly｜CLI 套餐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2F3994F-3662-4A63-BCDB-04146A5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101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D6C7680-86D6-431C-B419-F64FAA1D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768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$10 续费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C8381B2-AC68-4930-839F-D9130E20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10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9DD46FE-D2AF-4FEC-8AFC-779D80B2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768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5h $12｜周$30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D695A77-7A63-494D-BDCF-0241653D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01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AC002D8-84A9-4D18-8282-AF17AFEA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768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Grok/GLM/Kimi/MiniMax｜TUI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59A4CA0-6F15-434F-A90D-5F410710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1015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507477E-5A37-4A79-B268-F82FB5A7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768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低价/自由｜模型按价值扣减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A42EE61-1582-47A0-996F-D2FDBBAE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6A83006-BD97-4009-8023-A3FA489E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Cursor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080C628-70AC-4576-AFD9-730D782C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334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FF72055-525C-4FDB-A39B-80895FBD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006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Anysphere｜AI IDE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62FDB4A-A6D8-4D3B-B74F-958CB967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3340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96E0369-B93A-487F-8117-81F7D64E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00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$20 起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D7B9AA6-F207-4FB3-BD1A-AC34419F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3340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8F6CE3A-1C75-422E-BFC9-DF7A70B4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006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模型池＋API 池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4926FE5-881E-4171-A50D-FDD5C72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340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1D90838-BDB5-4F78-9F6E-47C6276C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006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Composer/Auto/多厂商｜IDE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A19F123-8B6D-4BDC-8EB1-9CEB7363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33400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89F9403-31B6-4BEA-948B-20EA456D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006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IDE/团队｜池规则需持续关注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BA1607E-819B-4842-BC9D-9B340384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2759FF3-A59A-441E-BCDD-3C9D7341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SuperGrok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69DF651-7D17-4605-AB8F-302E7276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657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041BD2A-7E2A-43BE-9A11-B1135B8D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245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X.AI｜混合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E5CE368-AD17-4019-A3BC-C869D0CB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6578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1881E9F-C707-478C-A617-F3EAC9C9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24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$30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F4552E8-8FDE-4B9E-A5C1-02ADAFE4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657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A30A183-3F90-4202-91A3-4AD74416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7245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更高功能限额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77635C6-4554-4F8A-94A2-6C5F22C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578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E62EAD3-85FC-48B2-8B43-EFF5FAB0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245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Grok 4.5｜Web＋Build CLI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317D7CE-0972-4207-954B-5EE121BD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657850"/>
            <a:ext cx="2771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9B1B1E5-8A39-4B17-9B58-D538B3CC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245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实时搜索｜Build 仍为早期 Beta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45FFC6D-2D7A-4C57-B1CD-FD0EB411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84215F7-B4E2-4053-A5B0-F2AC114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2026-07-27｜各产品官方定价页与套餐说明；完整字段写入本页演讲备注</a:t>
            </a:r>
          </a:p>
        </p:txBody>
      </p:sp>
      <p:sp>
        <p:nvSpPr>
          <p:cNvPr id="17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AF8563-52C4-406A-9CCB-A58F177F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2676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42D70-E7BB-46A2-9E07-B9800526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A72A9-1ADB-4CA9-8643-FA14ED52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1290B-8AA9-48C7-8EAA-85F447EE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CHINA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F96C6E-D69D-4476-865F-A7FCCE24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国内方案的关键差异：专用 Coding 额度 vs 可调用模型套餐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ECBD0-726A-44E0-815B-10D50E3A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BF455-52B0-46DF-805C-B549055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A9C86-4205-470E-B3B2-DEBD7FE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478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0D393-0781-4270-86F8-75FF2B8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144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月费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81EB0-56FC-4458-9736-82B2422F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4780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2E552-BB96-4DDD-A61F-E73EEC1E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14475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额度机制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52319-934F-4EB7-ABBF-8C28C7C5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478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8D60A-B067-4B43-8F41-6642CF56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14475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可用模型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3F63E-CFD0-43F2-B077-CEF39E5C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478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AE1BD-D7F6-450B-8CA1-AF358FB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14475"/>
            <a:ext cx="218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兼容与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0A7CC-4C0B-4EF7-9AF2-DDA651A6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8679E-76CF-40F9-8AAD-74068304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14475"/>
            <a:ext cx="1990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6EF9E-E079-4786-AF20-877D6D99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80D69-4A79-4615-ADB9-ADBFD18D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阿里 Coding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FD6ED-BED9-4DEC-8F14-EBE927F6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669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911F8-C147-40D2-B2E2-CD536B80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3357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¥200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E8553-4409-4699-8FD3-400312F7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669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D341E-1133-4F0C-A05B-D9CE7E3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33575"/>
            <a:ext cx="1419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调用次数：5h/周/月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A762D5-66EE-40FC-8B64-73600B0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669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55A2B-53C0-4666-9EF8-EE7E5987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335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Qwen＋GLM＋Kimi＋M2.5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14976-C099-40EE-A252-1CEE27B6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66900"/>
            <a:ext cx="2333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2B5B4-29C1-4533-8FE3-DF125F2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2181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OpenAI/Anthropic 兼容；禁通用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75F29-EA9F-486F-A866-D25F9F40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2143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9F4C4-F217-4707-9050-E2A915A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33575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多模型编码；限量且旧体系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403E9-940B-42AD-8EE7-D49F9E00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A7404-CFDA-4859-A409-83E3F986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阿里 Token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3043CF-3446-46DA-96E4-A09BE96C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908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A7F833-2F46-40BF-876D-FA470B16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5747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¥39 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5A71AA-3612-474F-BADF-A0638146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F98492-87F7-4DA7-9A13-776210F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57475"/>
            <a:ext cx="1419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Credits：5h＋7天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6E0DED-FC66-44AF-8F52-21EBA913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908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BD2586-CC6B-4D66-B456-F8C8FD2D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574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多模型＋多模态＋Harness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5E3EAE-A371-48A4-92B1-40FE3EA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90800"/>
            <a:ext cx="2333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A7100E-99DB-47F9-A242-733E2A71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57475"/>
            <a:ext cx="2181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订阅 Key；可接 Codex/Cursor 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F109F9-862B-4CB3-90E3-FCF0D8E9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90800"/>
            <a:ext cx="2143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D20FBA-A2D8-42B0-9966-682506EC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57475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最完整的统一额度体系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332BE9-517D-4A8A-B738-A78023C5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D6B5AE-1820-4DC9-83DC-D38F51C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方舟 Coding Plan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DD6E34-D092-4AEC-8F36-C2F01837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147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1CAC95-799B-4C49-B2B1-1444BE53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8137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¥40 / 200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DF3FBD-9ADA-4175-901E-9EA76AD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147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7051C3-C215-40CB-A2E3-28498A29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1419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5h＋周窗口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F29ED2-62C3-45AA-8EED-9714EBA8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147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C9334-5A4C-4BE1-88EF-437E0E8F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813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方舟动态支持列表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514C46-AE66-4902-BD18-E07EF70A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14700"/>
            <a:ext cx="2333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98D4FD-9881-4DD2-A8A5-BED07430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81375"/>
            <a:ext cx="2181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主流 Coding Agent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E573C9-7295-4753-9D4F-E889C9A3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14700"/>
            <a:ext cx="2143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0BB3A7-7C07-47DF-8BA0-D9308AB0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81375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国内入口方便；细项透明度较低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4E6847-0314-47D9-B044-506A5BA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556E32-5BDE-45C6-987B-73949520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MiniMax Token Plan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D44BF5-BEF1-4E51-A0A6-60C44D4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386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EC5F87-54C7-417E-A94B-B45A8E9D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0527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¥49 /119/469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1D5F10-72EF-467C-A578-6A6B9D58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85B106-011C-487E-B8AA-7DB1E434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1419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5h＋周；Agent 估算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B063AC-E2BC-440B-8B51-D9F646F5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386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660DD1-3500-4237-A020-DA1801A1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MiniMax 全模态资源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3EF22E-4DD8-43AD-BB68-20D8FDA0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38600"/>
            <a:ext cx="2333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E03354-8363-4C3E-927C-1A78E45A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05275"/>
            <a:ext cx="2181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OpenAI/Anthropic 兼容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66AFCE-62CE-4CB7-AB63-2613A836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38600"/>
            <a:ext cx="2143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F07BA0-F54D-4B4D-9F77-98A2EADF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05275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多模态共享；模型集中于 MiniMax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715F05-6962-49BE-947F-31FCF0B6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7D2D13-C6E9-470B-9DD2-6C4797B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GLM Coding Plan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72EA97-07E6-47F6-8F16-D158958A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625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D9ECA0-D75B-46C6-9F10-20729713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2917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订购页实时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0E3C66-BFD7-461D-9963-8F36572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62500"/>
            <a:ext cx="1571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0F4A838-4406-47B7-8E7E-1E790D80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29175"/>
            <a:ext cx="1419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prompts：5h＋周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375850-C17F-4533-AD57-7C1980E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625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DE939F0-C499-4551-A523-191A346F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291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GLM-5.2 / 5-Turbo / 4.7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561585-D3C1-4F8B-A70C-ED597D8A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762500"/>
            <a:ext cx="2333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4B7728-2307-4EC9-A0CE-6AA8ADDF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29175"/>
            <a:ext cx="2181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支持多 Coding Agent；禁通用 API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80F760-429A-4798-A016-DC38E502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62500"/>
            <a:ext cx="2143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50BEDEA-29E4-45DC-8954-C3F28223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29175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额度说明清晰；高阶模型有倍率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2843EF-163F-4D6C-9D4E-05109990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6680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D3D7D1D-4AF5-4F2A-AA53-49DF4128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7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97D69F1-4916-4C89-A46D-71EAFF3C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8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选择提示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2A20EC-BBC8-417F-84DB-75D5917D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388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做自建服务：优先 Token/API 套餐；只在编程工具中工作：Coding Plan 更可控。国内支付便利 ≠ 数据条款相同。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BD735E-D3D0-4565-88FE-227B3EE7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5CA2E4-800A-4564-A3EA-C70EE3F7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2026-07-27｜阿里云、火山方舟、MiniMax、智谱官方文档</a:t>
            </a:r>
          </a:p>
        </p:txBody>
      </p:sp>
      <p:sp>
        <p:nvSpPr>
          <p:cNvPr id="8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115FBB-A769-4B02-9091-93CD204D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8022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2E44A-1420-4883-B13F-AA05FF15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76644-FB3C-43FF-B17C-3D970A64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E562D-EC39-4430-A5DF-F6073C5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HYBRID MEMBERSHIP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4C23E7-CBFF-4998-9241-5A9E8988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通用会员“包含编程”不等于可持续高强度编码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C13EE-D44B-4E69-B2D9-7730EF7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428875" cy="388620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F5A34-F618-46A5-A43F-876887D7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1066D-F580-47F9-ADE6-7E7398C2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Kimi 会员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57612-8001-446D-BFA9-EC97B987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73FF"/>
                </a:solidFill>
              </a:defRPr>
            </a:pPr>
            <a:r>
              <a:rPr sz="1350" b="1">
                <a:solidFill>
                  <a:srgbClr val="A873FF"/>
                </a:solidFill>
              </a:rPr>
              <a:t>年付折月 ¥39 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50FFE-56F4-4A25-8BA6-8D38530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A8AC4-1F29-4C40-BC0F-695E96B0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5DB2A-8D6E-4F67-B369-8EDF1C45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Kimi Work / Code / 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5F8A6-A869-4B2F-A638-9EC005A3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7C58B-6D34-44E7-BAC6-0B0D4A48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K3、K2.7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9F3D9-3598-4DE0-9728-28742F5D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1EADB-7F26-4B67-ACB5-06927F55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8CD"/>
                </a:solidFill>
              </a:defRPr>
            </a:pPr>
            <a:r>
              <a:rPr sz="1125" b="0">
                <a:solidFill>
                  <a:srgbClr val="A8B8CD"/>
                </a:solidFill>
              </a:rPr>
              <a:t>周刷新额度；高档位增加并发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B22A7-2102-481B-A0C8-50FE1CC6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2428875" cy="388620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D3C51-8A45-4B25-BF10-6D6A496A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A0F07-CD90-4463-9C44-7E15F969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9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ChatGPT＋Codex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035D8-DDAF-4DC9-84A7-5758103F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479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CFF"/>
                </a:solidFill>
              </a:defRPr>
            </a:pPr>
            <a:r>
              <a:rPr sz="1350" b="1">
                <a:solidFill>
                  <a:srgbClr val="4D8CFF"/>
                </a:solidFill>
              </a:rPr>
              <a:t>$20 起；Pro $100/200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9B251-24B2-4642-A086-8114B60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8605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BAA28-EE8D-464F-92D3-C9628FCB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平台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96A5B-4CB6-447F-8B19-29BEA752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623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桌面 / Web / CLI / IDE / Cloud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60AC4-F08F-40FA-AF2E-0FC0EA69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35896-D1CF-479C-A9E1-06F0ECE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148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GPT-5.6 系列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B75B2-2D60-485F-94C6-E692F281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863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限制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930C6-EA48-4C93-90A9-C895154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530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8CD"/>
                </a:solidFill>
              </a:defRPr>
            </a:pPr>
            <a:r>
              <a:rPr sz="1125" b="0">
                <a:solidFill>
                  <a:srgbClr val="A8B8CD"/>
                </a:solidFill>
              </a:rPr>
              <a:t>Codex 与 Work 共享用量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432DF8-3090-4FC4-AD21-4D2EF4D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43050"/>
            <a:ext cx="2428875" cy="388620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C07087-7BE1-4AC1-9E1A-F8723AD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43050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44E7D7-4AC2-4149-BAD4-E0488E0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Claude Pro / Max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D1ABC7-1D4D-4E58-A5DE-C47B8F14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D9D0"/>
                </a:solidFill>
              </a:defRPr>
            </a:pPr>
            <a:r>
              <a:rPr sz="1350" b="1">
                <a:solidFill>
                  <a:srgbClr val="26D9D0"/>
                </a:solidFill>
              </a:rPr>
              <a:t>$20 / $100 / $200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AB6932-0BF6-4060-8120-1EABBDB3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6D5D7-5A9C-44A9-B600-04B36B94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平台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951B8A-0CC2-4EB2-8D38-23D42F7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Claude 应用＋Claude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125311-DF9C-4733-9308-858300A2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576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模型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5E353-EF89-4F5E-899E-B2199E8B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Claude 系列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F9911-A42C-4A04-903C-9005738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限制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C4E17D-BD7D-46E5-BB49-6513F7F3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8CD"/>
                </a:solidFill>
              </a:defRPr>
            </a:pPr>
            <a:r>
              <a:rPr sz="1125" b="0">
                <a:solidFill>
                  <a:srgbClr val="A8B8CD"/>
                </a:solidFill>
              </a:rPr>
              <a:t>会话与 5h 使用窗口共享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A18A77-7AB1-4A59-98C2-56782486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43050"/>
            <a:ext cx="2428875" cy="388620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B83EE7-8C50-468D-A212-FBADEFC8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43050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BDF542-96C0-4C38-B28C-4858BDE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09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SuperGrok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89F061-4ADB-4CA1-8599-E36A291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479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E55"/>
                </a:solidFill>
              </a:defRPr>
            </a:pPr>
            <a:r>
              <a:rPr sz="1350" b="1">
                <a:solidFill>
                  <a:srgbClr val="FFBE55"/>
                </a:solidFill>
              </a:rPr>
              <a:t>$30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9467A0-C499-4E37-BEF0-2AE694BE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8605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C0716D-BB56-4F85-B0A8-14576653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95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平台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BBD4FC-F8A2-4C08-8102-A8D995CF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623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Grok 应用＋Grok Build CLI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B48730-9BAF-4495-92FB-51BBFFF9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8576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模型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654664-AB4B-4A88-B79D-F522104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148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Grok 4.5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7DC316-2534-4271-BB0D-0ECD30C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6863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限制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327BFB-9E2D-471A-8052-C843C5B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9530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8CD"/>
                </a:solidFill>
              </a:defRPr>
            </a:pPr>
            <a:r>
              <a:rPr sz="1125" b="0">
                <a:solidFill>
                  <a:srgbClr val="A8B8CD"/>
                </a:solidFill>
              </a:rPr>
              <a:t>更高限额；Build 仍为早期 Beta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E89090-D854-4A70-A311-AED5FECB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D9D0"/>
                </a:solidFill>
              </a:defRPr>
            </a:pPr>
            <a:r>
              <a:rPr sz="1650" b="1">
                <a:solidFill>
                  <a:srgbClr val="26D9D0"/>
                </a:solidFill>
              </a:rPr>
              <a:t>重度编码判断标准：是否有专用 CLI/IDE/云任务入口，以及额度是否为编程工作负载设计。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D661DF-9AA6-4CF3-964F-CD2F8B9F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A560D0-38BB-4B1C-B9D4-CE912A57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2026-07-27｜Kimi、OpenAI、Anthropic、xAI 官方定价与产品页</a:t>
            </a:r>
          </a:p>
        </p:txBody>
      </p:sp>
      <p:sp>
        <p:nvSpPr>
          <p:cNvPr id="5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A5D551-D6E0-4B6F-9E32-1ED915D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2997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930D7-9377-4BA3-80C6-CD78EFC7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954B3-5C62-4940-8A5D-F8DF54A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35630-2697-4E25-9BC0-E65D7F84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AGENT WORKFLOW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EFE64B-886A-40D2-AD3A-D2975260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Cursor、Kiro、OpenCode Go：分别代表 IDE、规范驱动与开放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42D3E-085F-40E3-9667-B47C143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49D62-2B11-4AE4-A58E-F742CBB0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72330-8BE5-43C3-99E6-185AE1B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5049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E7E45-76CF-4B93-8598-0F66A132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716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Cursor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E7961-4203-4A69-954C-9046E52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049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DED8A-9DF7-4C80-8F2B-C50FA941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Kiro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814ED-75C3-4129-BF3B-82403997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5049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074E2-0019-4821-9BF8-28F8046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OpenCode 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AFC83-C76D-4FF9-828A-A579E71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762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1E39B-D019-4A5B-A786-92CE84F0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核心入口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D843B-90A1-453F-8D76-DFA05541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9431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EBCCE-AA21-4119-8EE6-C5844A4B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97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AI 原生 IDE＋CLI＋云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02ED8-6265-4853-873B-0351C891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431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A5874-36E6-4BA9-95E4-28F1F3EA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97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IDE＋CLI＋Web 自治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AF367-2BDA-408C-81BD-A7288220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431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397C2-7533-46F4-AFE9-F3A8FC77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97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开源 TUI/CLI/IDE/桌面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6B7E9-4EFD-4E94-895E-4B0DE537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762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8932D-8B95-47C9-8026-593E674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代码库理解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448BD-AFF5-41E8-BE9A-0B0C601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76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520C2-AA97-49C0-8C4C-43546EB2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31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索引、Agent、Cloud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67E77-6BC9-4604-8843-EEB434D3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76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CA517-46BE-4295-8A37-E75A400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431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Steering＋Learnings＋Spec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A89532-7343-461A-9842-03AA8267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A9CC2-4B1A-45C2-8312-BDC7FBA6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431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LSP＋项目上下文＋多会话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7E6BF-A839-4DEE-B088-8A49AF4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762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6841E-25B8-4640-9439-0C1B90E0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自动执行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7F3C00-0840-4DA1-94AF-A3D98358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09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B8EE69-76F5-4FB3-B26A-C5FA2AF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765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多文件、终端、云任务、Bugbot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B1D20-0D04-4BFB-BDED-A976FBB2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09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0685BB-0083-4EBB-A2AF-F3ACB4C7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765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Spec、Hooks、自动 PR、Automations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7C504D-B709-4274-B447-24E805FF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099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DDA963-7033-4423-81A8-FE8A632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765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Agent、工具、MCP、自定义 Provider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93AEF7-51B7-485E-B820-11011BDE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1762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78FD23-4F1E-40EA-824B-7BC9A2FC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模型策略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7FF855-39F8-4143-9D21-66114CA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433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23DB79-2D22-453E-9731-8D226661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099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自有模型池＋海外前沿模型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4B7AAE-D16F-483F-9F4F-52A6096B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996CA2-903C-4553-AF88-AAE1504D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099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开放权重＋Claude；按 Credits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82F368-D999-482A-B3F8-0877ED71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5433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9BA71C-5ED6-4A3B-AD30-CD7F9B68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99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Go 模型池＋任意 BYOK Provider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21CF13-9E19-4D2C-925C-DC7AC27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1762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76D4BE-A720-44A0-B669-560EDF23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自带额度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0F56B3-AAC6-4520-8EDD-7F533051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767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31F446-EB8E-4E3B-B0E8-4E813C04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433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双池；Pro 至少 $20 API 用量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D8BB6E-036A-4660-9EAA-9B819A71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767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968276-12EF-4F2B-A779-DD3E6C5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433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1k–10k Credits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AC9DFE-82FC-4C90-B619-2485057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767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E211BE-E83C-4D0D-ADB8-9439718C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433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5h/周/月按美元价值窗口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163880-EB37-4F5A-8A06-B03EAC3C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762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57CD5E-9038-49FC-BBCF-3E3A422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团队能力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72FDA9-53D2-45C0-99C4-9C736749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101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ACEF5E-9FC4-4ADB-A873-F1D6890B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767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Teams 管理、隐私、市场、分析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CA156F-18ED-4D13-A500-6CCD0330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6101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BEAF1B-D6A9-4866-BCEB-3A9B0B3B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767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Enterprise / IAM / 组织治理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5DF51A-421E-4954-88EC-71BDC96A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101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4C9CC7-77D5-4EB5-9426-CA2A1289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767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工作区级；企业能力较轻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5BFDA6-8ED8-4BD2-A221-D3CD61D7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762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85C7B6-2D8F-4278-8D05-152ADAC6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主要取舍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9EA922-6E27-4AF7-B33C-13EE5C76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143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DF3C93-CACB-40A2-B1CE-4E7AB0EE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101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体验成熟但计费复杂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9F659E-C67D-4A0E-B006-F64000E9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143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BB59A6-03BD-49B0-9D11-EEF51AC0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1017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结构化强但生态相对新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BA04F9-D4FE-4E7E-B351-A98B6007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1435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B7FEB2-E3E9-4B7C-8EC8-C0EC652C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101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自由且便宜，但需要偏 CLI 心智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E7B835-26F8-4B91-BD78-493360A5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5F47A6D-F394-4FBC-8310-1E5BF1E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2026-07-27｜Cursor、Kiro、OpenCode 官方文档</a:t>
            </a:r>
          </a:p>
        </p:txBody>
      </p:sp>
      <p:sp>
        <p:nvSpPr>
          <p:cNvPr id="7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6D4C96-118E-4E78-956D-2B8BA124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0947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5A3B47-7458-4C9F-B49D-34F4E20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7DE3C-732F-45D2-AD56-CE90F6D4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745D1-E340-4B1F-942E-0C8DD030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LOCAL-FIRST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23A35A-6ACB-45BF-826F-96371C1F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Ollama Pro 买的是“云端扩展”，本地运行仍然免费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810CB-8F97-44E0-8D19-3DB3032C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143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8DBD9-9EDB-47CB-860F-1F754519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715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F793C-8003-411B-BDD0-7F9E9DDF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本地路线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301A3-2FA2-40AB-A97D-D487D612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模型权重与推理留在本机</a:t>
            </a:r>
          </a:p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本地 API 与 CLI；可离线</a:t>
            </a:r>
          </a:p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成本来自 GPU / 内存 / 电力 / 运维</a:t>
            </a:r>
          </a:p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模型效果受硬件能承载的参数规模限制</a:t>
            </a:r>
          </a:p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适合敏感代码、内网与可控部署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9FDAE-1045-4838-9648-EBB00E94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5143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FAA4C-87FF-4E3F-B6C4-00603EE1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5715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50F0C-128B-406D-9132-06FFE779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7430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Ollama Pro 云端增值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D070E-0544-4D8E-8C04-FEA4E734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050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$20/月或 $200/年</a:t>
            </a:r>
          </a:p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可访问更大、更强的云模型</a:t>
            </a:r>
          </a:p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同时运行 3 个云模型</a:t>
            </a:r>
          </a:p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云用量为 Free 的 50×</a:t>
            </a:r>
          </a:p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• 上传并分享私有模型；官方称云端不保留数据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D2ECE-2177-4834-99CB-BC03729D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41910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6D9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B4F4A-F61A-4E75-A091-DDBAECE1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816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D9D0"/>
                </a:solidFill>
              </a:defRPr>
            </a:pPr>
            <a:r>
              <a:rPr sz="1350" b="1">
                <a:solidFill>
                  <a:srgbClr val="26D9D0"/>
                </a:solidFill>
              </a:rPr>
              <a:t>判断原则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CDEC6-1853-4E3E-91A7-F96AD62F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625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</a:rPr>
              <a:t>隐私优先：本地｜效果与速度优先：云端｜两者混合：按任务路由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725B1-C8CD-4B01-AC26-FC35CA13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592F6-7B04-4A50-8508-9A69F8CA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2026-07-27｜Ollama Pricing、Cloud models 官方说明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1F75F9-D47B-4A3C-BB20-096B7B7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4307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4156F-88CD-43B6-B47C-A2A9A73F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6DDD9-8705-4A7C-8392-42D0365E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F6983-9DED-4961-AE2C-00DDAFB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PRICE NORMALIZATION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FAE99B-73A9-41CE-AA0D-086908E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代表性入门档位：月费跨度不大，额度结构差异巨大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84846-50E4-41BE-B600-67BB19C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汇率：1 USD = 6.77 CNY（2026-07-27，四舍五入）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F6622-A0B8-45C0-90A0-828B8DB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2386F-326C-43E6-BFB4-73A05BA3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CD"/>
                </a:solidFill>
              </a:defRPr>
            </a:pPr>
            <a:r>
              <a:rPr sz="975" b="0">
                <a:solidFill>
                  <a:srgbClr val="A8B8CD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F83E0-AB6B-40BC-BA61-486591E3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370" y="1571625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EAC42-614A-4EBE-AF2C-818892E9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620" y="52578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CD"/>
                </a:solidFill>
              </a:defRPr>
            </a:pPr>
            <a:r>
              <a:rPr sz="975" b="0">
                <a:solidFill>
                  <a:srgbClr val="A8B8CD"/>
                </a:solidFill>
              </a:rPr>
              <a:t>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EDA2A-1868-44C5-83DD-59C96505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39" y="1571625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D535C-4A19-4078-8792-1A3CD563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489" y="52578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CD"/>
                </a:solidFill>
              </a:defRPr>
            </a:pPr>
            <a:r>
              <a:rPr sz="975" b="0">
                <a:solidFill>
                  <a:srgbClr val="A8B8CD"/>
                </a:solidFill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A043F-121C-448E-B7AE-2D284E2C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109" y="1571625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64110-4981-44F4-A4CD-0852219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59" y="52578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CD"/>
                </a:solidFill>
              </a:defRPr>
            </a:pPr>
            <a:r>
              <a:rPr sz="975" b="0">
                <a:solidFill>
                  <a:srgbClr val="A8B8CD"/>
                </a:solidFill>
              </a:rPr>
              <a:t>150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DD6DE-259E-4446-B9B7-BE94B0F0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978" y="1571625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F25E5-EB43-4C55-BFCA-90E2E7D6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5228" y="52578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CD"/>
                </a:solidFill>
              </a:defRPr>
            </a:pPr>
            <a:r>
              <a:rPr sz="975" b="0">
                <a:solidFill>
                  <a:srgbClr val="A8B8CD"/>
                </a:solidFill>
              </a:rPr>
              <a:t>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F305C-CBB4-499D-ABBE-B307C4BA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87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阿里 Token*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9853E-C76C-4207-83C8-3E9E8CD6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47825"/>
            <a:ext cx="116287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3B5DF-5957-45CC-A411-02F0147F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628" y="16287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5374E-71E1-445F-A3F5-A8609720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火山 Lite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35B90-029D-4EBD-97F3-7DCC0A6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43100"/>
            <a:ext cx="119269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B24E8-A41D-40E7-9E8A-9F69123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446" y="1924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8B4BA-2F9D-47D1-8A07-771974A0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MiniMax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2C3FB-11FF-4910-A3EB-52F84A4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461052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2EEB5-C6B4-414D-B577-C75F42F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802" y="221932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¥49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A80D0-9514-4B54-9F08-2359F5B7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Kimi*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99165-FA8B-41AB-AF85-33D084C5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116287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7BD26-D22E-4BB9-917E-0A4FCB5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628" y="25146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3367B-F64B-4FDA-AE7D-7CF2CD82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OpenCode 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702A95-7FDC-4D90-99B3-7FFE67A4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28925"/>
            <a:ext cx="202758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22471-2923-40CF-9710-8149824D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333" y="28098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¥68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5C560-FC62-4CC6-BFC1-EFDB49D2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ChatGPT Plus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B9ADD-3D4B-4D84-8A57-A6125E8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402534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4364A2-311B-499D-9E2B-276AA7DC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098" y="3105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¥135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25B5A1-7804-488D-9122-96DACACE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Claude Pro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5DF63F-829B-4B9F-900B-D1015F2B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19475"/>
            <a:ext cx="402534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7EC5CB-6484-4905-95F8-3BB2BAF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098" y="340042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¥135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FEB992-BF1D-4525-88D9-FCAC970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Ollama Pro*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493FE9-DFFB-43CC-972E-78D77F93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336936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B10395-B31C-4F93-B3B2-F8820378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115" y="3695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¥113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043906-0E93-44AF-81BE-5701AB99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Kiro Pro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CCA19B-907C-4575-A6A5-AA67F4F8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0025"/>
            <a:ext cx="402534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563056-77EB-4CA4-9BB1-800C85F0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098" y="39909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¥135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AAE30A-95CB-40D2-B854-7754B8D3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Cursor Pro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F32510-D539-4B11-90C1-46C75002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402534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374926-45D4-4B0D-8208-03F3E4D3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098" y="42862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¥135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73C234-2F87-4EC3-8684-BD188ED1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SuperGrok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DF61CE-2FA6-4B8C-A59C-369E173A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00575"/>
            <a:ext cx="605293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F6C645-CC65-47A9-BAB6-F829C73B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680" y="458152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¥203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D7FB9E-E505-41BA-9F81-2A77617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阿里 Coding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87F923-D836-4E49-9B78-0177A44A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596347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667A20-34E2-4E40-8214-7DB03877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228" y="48768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¥200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FF900C-4B6E-45A3-91E4-BD609618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CD"/>
                </a:solidFill>
              </a:defRPr>
            </a:pPr>
            <a:r>
              <a:rPr sz="1050" b="0">
                <a:solidFill>
                  <a:srgbClr val="A8B8CD"/>
                </a:solidFill>
              </a:rPr>
              <a:t>* 阿里 Token 为限时价；Kimi 与 Ollama 为年付折月；OpenCode Go 为续费价 $10。税费、地区价与促销不计。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EED4C3-B3AD-4829-B4F3-5C63585E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97917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9498C-2787-4347-801E-A55B0C36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912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</a:rPr>
              <a:t>有效月成本 = 固定月费 + 超额用量 + 支付/税费 + 等待限额的时间成本；不同额度不强行换算为 Token。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9E4F73-1EA6-40DF-917B-C7C5C31F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FD96A7-8351-4D5B-B50D-EC4913DE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2026-07-27｜中国银行外汇牌价；各产品官方定价页</a:t>
            </a:r>
          </a:p>
        </p:txBody>
      </p:sp>
      <p:sp>
        <p:nvSpPr>
          <p:cNvPr id="5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8FA293-6C70-46F6-9FCD-65937E65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7828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368965-E99F-4E96-96E5-F8EEE615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252F2-D6C9-439F-8BEA-A7E7425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09D08-8CBC-4193-BA7F-2CF4539B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EXPERIENCE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78252D-660A-4D87-B1A9-E684BA5D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能力热力表：平台集成度决定开发体验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84647-A134-44E2-AB65-38E3AAFB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3=强／2=中／1=弱或间接／0=不适用；为基于官方功能的编辑评分，不是模型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79F9C-0C9C-425D-A6FB-CB4213D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阿里C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C2270-4F60-4DDF-BBF4-881B8480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阿里T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FE766-6D1E-4310-87B0-37956BDA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火山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37D8B-5AFC-4723-9F78-378855B9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MMax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92106-D758-442C-8AFA-839FD7FD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Kimi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DD2AA-394F-4CD8-BFC6-EC6A9F84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Codex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7E897-DC5D-4B36-A3F4-3433B987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Claude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AAC5D-6566-46B5-83EB-D288FAE3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0D581-F8A5-4A2A-B729-7C19EFE7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Kiro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C0719-5BDA-424A-805A-D763C90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OC 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047E5-DC9F-4FD4-B4C9-7979FD96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Cursor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7A7C6-5555-40D7-8B25-D54424C7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Grok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8CF4E-E685-4311-88F7-57E8F8A8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419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8CD"/>
                </a:solidFill>
              </a:defRPr>
            </a:pPr>
            <a:r>
              <a:rPr sz="975" b="1">
                <a:solidFill>
                  <a:srgbClr val="A8B8CD"/>
                </a:solidFill>
              </a:rPr>
              <a:t>GLM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BB274-D6F9-4154-ABA6-B12F02E4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代码补全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19F7F-C16E-4317-BD7F-028CB868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20165-C7CB-4C95-A67F-503BD532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28216-E4F0-48F0-828E-EA36F36D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48854-D79E-46AC-81AA-DC688300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91025-8A62-47FB-B5D3-DEEB17B5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AF3CE-65F3-41EA-82DB-A1E3543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990BB-5ACA-4C37-B25A-7565B12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69CB0-8EE0-46A9-A29E-4DBAAFA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4FCA5-77D6-42EF-AB7F-827E8E4F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5DCFA7-85D3-4B3F-85D4-8623120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DA6BB-6172-4A09-BFF4-ADDBC5F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3F78BE-FDCE-4F13-9957-F4BA031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131CCD-4E28-4A53-948F-8E6AD80D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CD9DF8-FD8C-4963-BE52-00972409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DC469-7305-4DE9-AB8D-99281CC8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7E0884-34BF-4E22-8832-B3577F3D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A2D5AB-0473-498D-9E18-245C6D5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811E4F-0AB6-4C54-8080-34B83BA7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C845C6-3E29-440C-B0AA-B6A3333F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D0E914-4949-4646-A822-32FF9123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97B4BF-4666-4A77-8D4A-6E47706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1938B6-B6B4-46BB-B39D-0405C273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0E5BC5-BB49-42B8-9D82-548E312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B3E955-360E-4C15-9F3E-F100A5FA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FDF525-5662-4DFE-9278-7E8396A4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7335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08F178-B4CD-4FDD-944E-F1D99E6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002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525447-F45F-4FCA-A169-775E548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多文件修改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E7ABF1-FC19-4666-A552-5A72C30E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C4E016-C5C6-464B-A638-12704D8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A94E31-CFF5-476D-A6B1-3A5792C4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3AC9EA-9F89-4735-AB50-06347E6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183AB5-7EAC-47D0-A659-CD2C000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0B3D2C-03CC-4CC0-83E4-B536051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94E871-A7F8-4647-9146-BE4DD3EF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AA1E43-A183-4DE4-ABF6-BC860030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047C70-8FBD-438B-BE36-F95040BB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E87056-25C7-40F9-9B71-B77A3DCA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AF17F4-AB0D-4AA1-9CEC-E99ACD76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5FB085-EC0A-4CC4-AB4E-80BBEBBD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52D156-B21F-4937-BF0F-971D65D7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2B403A-6B63-4CCD-8E0F-0A3B6583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DF0EC9-BFC9-4524-8C4A-99B9387E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4AEBAB-FE8C-45A7-B1F1-A8641071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30A4A1-8172-43A2-BCBC-6A6BBC77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CF3B75-4538-4C86-8B44-447A28B6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A46663-4071-42E5-9361-18DAD61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53530E-0A9F-43E3-B4C5-75D0DE9E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C5C436-B375-4B21-B111-E76AED21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1B5498-50FD-45C1-9F5C-B2407C70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BA74BE5-3D81-4BC9-980C-33AC42D2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C47B2D-4046-479E-BD49-390856DC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D19539-DBA7-40F2-95F0-FBE51DC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1431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1C9EA2-84D3-4DB5-AD61-2EC1E80B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0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72A480-5583-4218-AFC1-4FE6106E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812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代码库理解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EDAC8F-8A92-4FF7-A66E-C4CA1347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2394D8E-DCF5-4A0E-9C93-DC467EBA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824A80-F24E-479A-8554-236083A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A9E241-7DC3-4A9A-9907-2DD00787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CAC39B-464E-45FF-9C0D-4E5A6987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833D4FA-119B-4BB9-8F61-395B125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F63076-FB30-489A-AC1A-9AC47140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8FA0815-C456-433C-9F4A-5733998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E468726-10C9-406C-B434-0780D92B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F587D27-06DF-4DDD-8810-764EAECB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FC4C97-B108-42AB-8BEF-5505530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CC5EC4-8344-47DF-BD2F-82174E0D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EF79FF-BA46-46CF-ACAE-F478AF95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79F971-7302-47E1-AE6E-20192A75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1CB824E-606F-4C8B-B6A7-85CE3BAE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DE0CF98-E91D-4BBA-9AD1-EBCEC0B3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A71DDFA-C007-415D-B453-C331E064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9B0E006-7DCE-42AA-B2B9-1CF8F68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6D06B94-1B47-4DBA-B081-33B0E1CC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5E8F445-842A-4B1B-AE8E-498D8861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2A0E3EB-2CED-4E24-91C6-63B89217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857E8B6-1CBC-484E-B858-DC7B3A56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23C3A5B-7176-4778-AA0D-AE12F5B6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A904CC-12C4-46A2-AB39-FEF39B07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9E97DD6-58B2-4AEE-BDFF-B8204D48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5527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3D73C7-B4A5-41B2-B9A2-E9775E1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6193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EB791F3-82FE-47C9-88C1-7051F6E9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Agent 自主执行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5E42B11-0E4D-434D-BC8E-7FFC8982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55B9F69-1456-43D6-9F21-620C0AD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920E006-E3BD-4694-98EA-9C26F7FF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4577453-7C89-4304-A483-CCFC333D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08CEDCA-42C0-4981-A309-6DF98B16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C7A16BA-6BF2-46C3-9194-3B4CC44D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38CAC85-FE98-4F5E-9710-5054291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F3FC61-7A44-412C-BA62-E6BDB3F4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6FEA14E-A5A3-40DE-B938-E3114240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25B619C-226F-4C35-9A32-A126815B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9C3098F-71BF-43BD-A166-0A087497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0B82CB3-D199-424F-89A2-553014AF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C550EE1-F23D-412C-9625-9CBF7117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BE643D-436B-4C3A-AE0C-8279D4AF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18D1C68-A519-4658-B82B-9C50D2F1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79B1110-159C-4282-85A3-6A56646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956E545-2453-43A2-BE92-8331C3FF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F5838D7-EBBF-4B7C-92B1-1B491DE3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5234BAE-13E5-4AA4-B246-52541C1B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40D5F9-AD9B-486F-B971-6C5473B6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C139FB4-EC32-47C2-9354-974918C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51C1E7E-E210-42E0-8209-2E201CDB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9909259-A0D5-4B1A-92B5-C8080008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A0944CB-FFC0-4F3F-836B-27BC5052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8172186-7CD3-4B2E-81A0-EE9A75C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9622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F53247-7CC2-4601-90C3-6274CBF0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8362751-3FA7-4262-9D0F-50BD9392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0042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终端操作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7390D19-BEFC-4055-BEC8-561B86A9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4010C60-56E8-4086-9BFA-946FFEE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7EF2EC1-8BB5-49DD-B9EB-CFF1F231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E20FA10-DF83-4E6F-96E1-44B65346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6F27106-CBCA-498E-9C4F-C9A2ADA7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119C0F1-D37E-44B3-AD34-00BBD0B4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D448CFB-EC6E-424E-94F2-C381CC25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E82457C-9511-4F5E-93E1-CE9733F1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4D141AF-63C8-4040-8A5C-CDAAE63C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8FDB051-9CEA-49F5-8F8F-AD457805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DF146A6-CBF4-4599-924C-78766CB9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929ED40-3265-4925-8294-C7F1E36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1B72F79-A868-4B8D-A642-954D4D3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69A8EBC-9A5E-427C-B974-55624D2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BA191CD-F474-4DA5-B3CA-4DB0948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5AD44BA-9A84-4BE5-92BB-98650E15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AF6EDAE-C0C4-4C57-8C6D-C4376E3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DD2B1F9-80EC-4293-AA1C-4A996962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981761F-8EAC-4CF4-A4F4-37DEFF3E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5F75A47-D92D-4BB1-8223-A30211C9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F8D04CA-C61B-405E-8202-DF085911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32C8E51-5C70-4FED-9639-A34ECABF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CDD6098-ECFB-4547-A886-59057F0C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196362A-B28E-4471-AC10-236AD55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199538A-7FC5-49B0-A068-A6B0C89F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3718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818928D-65F4-426E-A3B0-271F96F1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438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F66316F-A2C3-4D3B-AEEF-9FE844B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MCP / 工具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2B5F97B-832E-4816-9007-757FC74C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FC5A789-D44F-4839-9C2D-846EC376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A4A9F58-59D3-463B-8472-AF12441F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7CEE38E-596E-40F8-B69E-B6CFDEF9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9444C7F-BB68-44B1-83B7-78DD2F94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A52C9C9-2413-40D9-809C-E74D1B4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682EE6D-9D4A-4633-8770-C0BF165F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D9FF1C2-0063-4441-8953-5937B8FA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57ECAFC-2E75-4784-B7D8-C019F9BF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871A978-B305-4E9B-95C3-C836D000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3D6E796-B700-4679-A57E-4A5EC816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970670B-B172-4886-9866-36D6F9FC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7178080-EE35-4795-A9B2-F451E05E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EB19334-8941-427E-9E73-C1D6779C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C6ED745-987B-42B8-9867-9C08083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CCAA495-65CC-46BD-A2CC-42A2495A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0E13D82-DF44-475B-A11F-704704E1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91143EB-F015-49FD-A194-CA73682B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817E134-6692-436E-A1D7-3EC7551B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950F157-6D83-42BD-AD25-CBD3FC7E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D0A939C-A016-4506-BB3B-3E1E4E68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42A534B-057F-4B1E-A6BF-DBBD216A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17931AE-385F-403E-B468-80726F26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2F34BC8-4E28-4F65-BE23-7E4CC454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A409C61-9C17-4B5B-A6D3-95E3EB10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814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FCE3AF4-3823-473A-A7C9-E137A40F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848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0212776-E149-4437-814A-C8DDD0DB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模型自由度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1DC16B4-4317-480F-A902-26E6A791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6D3AA38-75ED-48B4-8694-2CA27207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338355B-D842-49A0-8E2D-3D137AF8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2EB4E16-C0F4-42D0-A281-7904DDD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0F5C32D-DD3E-4CAF-98E3-8ECD32B6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52ED787-1D9E-442E-8433-009CF0BE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E6122A6-7E6E-4A78-B65E-4CA5A6F0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B876505-0808-4597-83AC-4B01F30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79CCBB7-AA91-47D5-8AF8-244E10F4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2944816-496E-4247-BED1-4B73108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625823F-4E6B-4D36-91FF-002F28A5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BA9FB8E-B304-4EEF-9CE9-E3792A78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7204117-E8BB-45AD-BA66-10A9CFE1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5B7D7AE-2865-4F8E-A446-D0540343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F5E3285-918A-498B-AB31-B897359C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7D285E2-D084-4DF1-89BD-2DDCFE57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F85A916-A637-40EA-A024-255BD126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32EFE34-B87C-4E02-ADED-549677AD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0E238B8-780E-44CD-AE6E-41F0868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B0F3705-F227-4893-B829-13AB4C5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2D07333-2F11-42DE-8356-927B591D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FDB953B-0C71-4CA9-9F84-B04B6918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996D0B8-9451-4563-8274-82CD528B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7DE573B-6C8C-48D1-9CA6-107C09C7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9E8E554-8BA4-4508-9EA6-86F52C9B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19100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40F5D2E-5A2D-4A1C-8067-253DBC3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257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94F5823-CDB7-4E77-953E-96751B0D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291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中文体验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4AC6FFA-3D49-4532-A8D1-07B4B8F5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1A933FD-25AF-4A60-9FAB-88349D3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7D577B4-1308-4C29-ADD7-5F782E02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964387E-81FE-4DDF-B556-CDBC5700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4CB99EA-D98A-4525-A7F0-78DD8E9D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BCCD409-C7AA-4F64-8E25-375644CF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73D042E-415C-4012-A3D9-923460D1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E3B54B5-5617-4D4F-84DB-CBAE7CF4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F07E61C-42F6-4EB4-894A-97B124AF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A1CE4DF-6910-472C-9A36-0AB9CB11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E2A7F2C-F1CF-4590-B2C7-2CD4430F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81F7B49-2512-4961-AA4E-07A3C2CB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727A613-8D4B-4659-A79A-E9BF6777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BB2F64F-725C-42BB-924A-6D3330C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136B375-A6A4-4555-BC2A-2A5AF10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EF83394-275B-4653-AD36-A8BF515E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46E2C24-44B8-471E-908A-B7CE1421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92E6F21-2754-4890-89F6-6875DCF1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638FAA3-42B3-4B44-8ED7-4827ADA1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FD8A104-4A9A-4001-B911-C834C7B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8711BF0-5A10-4D15-BB55-63F06024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5B5C97B-9549-471D-9B32-A1BF8DEC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79864E5-1365-407F-835F-8407A15B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FF761CC-96DD-4541-99DA-C7B2F30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F6C4194-9949-46E7-8A93-1AF96BD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60057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B017A02-6998-4FEA-8469-050B9A51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667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EB8A131-3A71-4196-A35A-AFC0C4E9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国内可用性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F7ACBD1-B322-4383-B301-05FFE3BC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EB839FD-4DA9-4B69-ACF9-84BE1F34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3155209E-B370-407B-AE98-F31E43CC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21BECE2-8B4C-4667-90DF-614E40B4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3060F46-991D-4C2D-B42E-43F993B8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06CAAEB-148B-4359-9D80-315222C3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C60EC6D-261E-4E83-B56B-FB7F17A0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F75CBAB-A7F7-486D-A11C-645994C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98F2B65-0E1D-41BA-99F7-2D8C1F10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52ADBB6-CA51-436F-B3CF-4E32165D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B1DBA55-1586-4CA2-A565-5AE4821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33AB950-4C67-4456-BEC0-0B5E7D7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0CDEBFA-93ED-44A4-803C-1328FD6C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903156B-3023-464E-ADFA-52A933B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01FBEF1-4278-48F1-95C5-357D1212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73ED7AF-988D-44E2-AA20-B83F4B5B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4CFC0972-D3B7-4284-93ED-F602D3F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E6BFF87-76C3-4CD4-A96A-71717CA1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16BD1BA-9AFA-4104-BAC7-9108BCDE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1DBF1AB-815A-4F81-8A5C-115D094D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0BAB0C3-A721-4945-9777-B8D5241D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A92C07A-072D-408E-9A65-848F5840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4ACCA34-E5C8-4393-9C48-75729FB4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B999824-FEDD-4DDC-82D8-C27BCE6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0C4ABE5-E5B9-4CE3-AD33-7C82EB8D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0101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D62B795-E505-4C11-B6F8-FA288847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0768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501E63F-4C3A-4162-8EFE-EB89EC0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</a:defRPr>
            </a:pPr>
            <a:r>
              <a:rPr sz="1125" b="0">
                <a:solidFill>
                  <a:srgbClr val="F4F7FB"/>
                </a:solidFill>
              </a:rPr>
              <a:t>团队管理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9FB808F-916F-41CA-809F-A901FD22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095F69B-A50D-4270-8A8F-C394B0CB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A70F14E-3B53-4682-9832-8E5821EB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CFD177E-6A7E-4DF9-BA47-05AC017C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8908FE3-A8EF-4F28-B275-705A0B1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BE8723EF-B693-4C6F-8188-3D6B992A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A6F5AC88-9E33-45D8-96CB-B06D035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31B02A2-65EA-4730-8C1D-69FB5AC7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F162957-9A77-4B50-850D-DEB9798F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43481B0-8CBC-4F3A-94E3-E319C73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207AF09-15D5-4C79-AFE0-F4BF69C1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A0D818E-475C-4FB0-804A-96B9B30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649E6C75-79E1-4F42-AB17-5A76AD62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49C0B826-86DD-4341-BE75-D10994CF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DBD11A7E-22E7-4155-88AA-2960B3E1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1BCEC2D-CFAC-4FCB-BFCE-06967F0E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C5B45636-7885-48D1-91C4-FFEDDC1F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E50BC443-B6F1-44EC-820C-960C4FF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F71455D2-1AFA-42B1-99C7-A31BAE5A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5D17EE7-2E56-4324-BB2A-BE37D303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048AA7A-3A7C-4AA7-B01F-2B913115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1ECFF1A-4EA6-4229-A390-26195802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8BAB0DB1-4472-46A4-BDF4-024A91B2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57AF21EA-CEB6-4589-B791-EAA2A1C7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CE1DF71A-5477-493C-9341-9520F7B5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419725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CDE427C-8944-4A08-892A-84599C4A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4864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EE65666-FCCE-4F49-BDA0-B2BA0A26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626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71849D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5FF2C21A-D4FD-43C5-9E4C-8994B5FE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000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849D"/>
                </a:solidFill>
              </a:defRPr>
            </a:pPr>
            <a:r>
              <a:rPr sz="1050" b="1">
                <a:solidFill>
                  <a:srgbClr val="71849D"/>
                </a:solidFill>
              </a:rPr>
              <a:t>0 不适用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50E5794-6447-44A2-997C-2532E848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96265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4D8CFF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0184DCC-4ACF-4495-885F-468DF5A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007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D8CFF"/>
                </a:solidFill>
              </a:defRPr>
            </a:pPr>
            <a:r>
              <a:rPr sz="1050" b="1">
                <a:solidFill>
                  <a:srgbClr val="4D8CFF"/>
                </a:solidFill>
              </a:rPr>
              <a:t>1 间接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EF744B3F-6ABC-4858-9D41-E058B8E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62650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6D9D0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A8AC52C-E12E-4E07-96B4-3C4BE454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000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D9D0"/>
                </a:solidFill>
              </a:defRPr>
            </a:pPr>
            <a:r>
              <a:rPr sz="1050" b="1">
                <a:solidFill>
                  <a:srgbClr val="26D9D0"/>
                </a:solidFill>
              </a:rPr>
              <a:t>2 中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757D085-1F33-425C-AEB3-0DDB3B42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962650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4DD6A8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DBFBE37-309A-4280-99D5-D13D61B4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00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DD6A8"/>
                </a:solidFill>
              </a:defRPr>
            </a:pPr>
            <a:r>
              <a:rPr sz="1050" b="1">
                <a:solidFill>
                  <a:srgbClr val="4DD6A8"/>
                </a:solidFill>
              </a:rPr>
              <a:t>3 强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6C5564A-30C9-48B8-BCB0-91BF343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43307B2-AD53-4704-A83C-320BA111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2026-07-27｜各产品官方功能与入口；评分为编辑判断，非模型性能评测</a:t>
            </a:r>
          </a:p>
        </p:txBody>
      </p:sp>
      <p:sp>
        <p:nvSpPr>
          <p:cNvPr id="29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57F7BD-6DF9-4F53-9DD4-AE77F977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67684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86731-E8A9-4052-93DB-48254449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A1266-1C75-41C2-92A8-134FE039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17C15-CF94-4F73-A5CC-EBE59106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RISK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3A05C4-E8F8-4608-9A06-EA33F20D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隐私风险不是“是否上传”二选一，而是上传、训练、保留和地区的组合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A534D-4633-4AC2-9F74-E60C2F7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61D7A-A1A2-4CCC-8279-65A5231F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E784D-FC04-415D-8E01-6FDECDEB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6685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6E85D-5FF7-4EB9-A07D-D218D12F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33525"/>
            <a:ext cx="1990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代码是否离开设备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41FB5-2F16-4639-BAE5-473C3CD9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668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1635A-5E8B-4F87-A349-5701F9BA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33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训练 / 改进选项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63C27-25B7-4507-8226-03F61DB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4668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16A11-B609-4402-9180-56D7D5E2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33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企业数据策略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E3499-441F-4044-A6E4-DCCB5E9C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4668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4BB80-1D5A-4C0D-B793-93D01D10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335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主要风险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C6733-DE3A-4B2C-B667-62D519E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CD170-172C-410B-96BA-D43296A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完全本地 Ollama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DA611-929D-4CA3-9CA0-A771C223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8595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6A757-4FA7-4B01-84CF-FBD9CFE7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1990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否（本地模型）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56510-293F-436D-A7A4-D318BBD2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859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8888C-3EE6-4CF6-805C-5DEF6D3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不适用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E2117-5421-417D-8BBA-5BDE2FF0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8859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CC890-4DF7-49EA-BA72-A92F398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由本地部署与权限控制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E7EEF-2452-4290-97C1-04CE3E1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8859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5E274-7DF0-4A9F-B842-D990658B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硬件、模型来源、供应链与运维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15B69-BB5E-4669-9796-5B825B4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05C8B-7CFA-4D2D-8ED8-93B47A19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云 Agent / AI 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2010B-51AE-463F-9A82-089F0FAA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46EE1-1F0A-4B58-AA14-87D46B4B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38425"/>
            <a:ext cx="1990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通常会上传必要上下文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D1732-B8DF-4D4E-A524-C3A907F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71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6D2A6D-D47E-4B99-87FF-DD5BA26C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384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Cursor 可开 Privacy Mode；Kiro 个人可退出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A51E94-9ECD-43AB-9412-ACD96A56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71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4213C-03DB-4A87-A041-AA667F87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384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企业版多为默认不训练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1C90C-D262-427A-86BD-933FA31F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717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E9E93F-0AC4-4D26-BD59-CFBFE84D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384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索引、插件、云沙箱与第三方模型链路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A1C2A1-DB9D-4385-86B0-34ADD91A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AB43D-606D-4146-8850-CF0A227E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通用个人会员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98384A-E88E-4356-8205-00B7D35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C54EDA-9360-411F-B960-A34338C9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24225"/>
            <a:ext cx="1990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9A1ECC-6F90-4486-A330-990EE56D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575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B49020-21C4-4B69-96A8-12F2167C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242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ChatGPT/Claude 等提供设置；需核对默认值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F17D01-6BC8-4070-B9A7-15188DEA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7FA109-1384-489F-A9D7-A61EC728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242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个人与商业条款不能混用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819574-850E-4B4C-A7C6-AE50D311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575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6F4EF6-F082-40E4-B6AE-5C1ED551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242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会话共享额度、数据保留与地区限制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9207B6-B2F4-4339-8791-EF9B672E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337C25-E9F0-4CEE-A73C-45422F7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国内 Coding Plan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C723D4-F5C0-4523-8C09-46947DC5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4335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A5D3ED-7C19-4F4D-B8C6-531B9F3F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0025"/>
            <a:ext cx="1990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是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4617A7-6C82-48CA-8DC0-7F72BD16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B32EA2-8FCB-49BB-9579-2F712EDF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00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各家协议不同；阿里 Coding 明示可用于优化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F08CC7-DE0C-466C-8F7A-E7CAC9E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433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D8802F-022B-4EC0-80BC-A3371F2B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100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团队版通常提供更强数据承诺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ED4B44-02E4-4BD5-A850-12097EA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433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F66FFE-265B-4E9C-81CB-DF3833A3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100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专用 Key 误用、区域、限售与规则变更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93D5DE-C0A6-4E92-93C8-8373666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228538-BAA7-4417-B552-01D4F4A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Token / API 套餐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466E5C-7472-4B2F-B166-93E16C94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29150"/>
            <a:ext cx="214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E3E0AF-4155-4E5E-A8FC-D5ECF197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95825"/>
            <a:ext cx="1990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8675D6-8DC3-48D1-9563-12BC094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291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9D0809-DC85-4022-97CD-55612522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958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以平台 API 与套餐协议为准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713655-31C9-4EE4-A112-759C2F1F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6291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12B966-01AE-4D89-AB6D-62CA28F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958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可选企业、地域和隔离能力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4585C9-6093-44B9-9737-F683952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291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5D69F1-8BAE-4AAA-9385-35384B7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958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成本失控、密钥泄露、模型替换与倍率变化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102BFF-05E9-42B0-A9FC-D3B2E200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1E83FB-A5B1-49F5-BF64-60A9A029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E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36579F-0C0E-4E4E-AFDE-358F1201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最低合规动作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014E29-EED7-45F9-8F23-8C227FA5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5310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开启不训练/隐私模式；禁止提交密钥和生产数据；敏感仓库采用本地或企业合同；记录套餐与数据条款版本。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4A20F8-6EDF-4B8A-9D48-1AB9EB13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994360-324B-4E45-9D24-A375B61D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2026-07-27｜Cursor、Anthropic、Kiro、Ollama、阿里云官方隐私/套餐条款</a:t>
            </a:r>
          </a:p>
        </p:txBody>
      </p:sp>
      <p:sp>
        <p:nvSpPr>
          <p:cNvPr id="7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21CEC4-43F5-4453-BDFC-F7ED3861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50340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DB800-1743-4EA5-8851-470B44A3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88355-3116-4701-A8B7-082AA6D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05F2C-3321-4E2F-B33D-3C0C00EE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RECOMMENDATIONS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E244C2-4AC0-43CA-A3BC-6A79736D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典型场景推荐：用“首选＋备选＋限制”替代单一排名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65B6-CD8B-49DB-A737-48E876F7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96D49-31D8-492A-A424-87F0D412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EA479-C721-4B84-B300-9D9D600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09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A325B-1D7E-456D-85A9-95032E99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637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首选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993B7-B479-416D-9826-F47E2A1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09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8FFB5-AB2A-425B-BA80-7606DF48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7637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备选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47D9-7341-4101-874D-19DD0C34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097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F80A8-0EA2-44D5-AF2C-0C7E230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理由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B0CB1-04AC-42BF-AF86-6B2C26B4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097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F7805-1A65-4592-9A9C-E4444F77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763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D9D0"/>
                </a:solidFill>
              </a:defRPr>
            </a:pPr>
            <a:r>
              <a:rPr sz="1200" b="1">
                <a:solidFill>
                  <a:srgbClr val="26D9D0"/>
                </a:solidFill>
              </a:rPr>
              <a:t>注意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5C60D-C3C6-468F-85E1-4DE021D0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3EB16-A515-44FB-864A-0EE8F8B8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偶尔使用 AI 编程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2B872-3521-421B-B39A-64DCDA34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128FD-164A-4583-9BA9-844146AB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7642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OpenCode 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8A761-FCE0-4B2F-9518-8B8A6F06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4DD93-3AA0-469F-93DC-7A32578A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7642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ChatGPT Plus / Cursor Pro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F774A-3C34-4F38-A512-99E89684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4322D-45E7-45BE-AF86-42BE1800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7642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低门槛；需要时再升级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5F39C-C9B1-4E84-A5B4-6C4F5561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097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B616B-65BB-4B17-A016-D1762880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76425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模型成本影响可用量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784A9-0E72-4C44-97C5-6107FC8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2794D-5112-4BAD-9483-0E095BB9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每天高频 Coding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08069-D95C-493E-AAE3-264143B1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3741E-73BB-47D9-87B7-890E4F74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6697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Codex Pro / Claude Max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01FE2B-F9E2-47FE-BB7D-E7C4ADEC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003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F1B5C-4BDF-4E16-A13B-09E6BDB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6697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Cursor Ultra / Kiro 高档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2E6F1-4ED8-4C43-B800-088C4ED1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74BAAA-5300-46A9-A29D-92D0DA43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6697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专用 Agent 与更高限额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BE4D2-7BD9-4BFA-B1C8-EEE43926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9DFBA1-E763-449A-B6AC-4A45CAEB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66975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先测 1–2 周真实消耗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594FBA-38AA-458E-980A-0145B48F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12D9A6-30C3-4D18-8A1B-5451FF7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国内访问优先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CBD0A2-DAFF-4DDD-8C91-FAFA0BC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49A8D2-430F-4313-B2F7-E043DF4A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5752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阿里 Token 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3BDFCF-33D3-4235-8133-A2590B1D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908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D6984A-A40E-44A6-AC21-D38CD2B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5752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MiniMax / GLM / 火山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A8363B-E1FF-4144-BCCF-EEB1F8DC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23C8BB-3CAC-4DEC-AA79-8A4973FF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支付、延迟与兼容端点便利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C8C0A9-2991-4727-A6F0-E414DF7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392A2C-6E05-4871-A504-2049619C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57525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核对数据条款与模型倍率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8BE6EF-7AAA-415D-B66C-B40328C3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D335DF-6849-444A-B773-D8E7950A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API 调用量较大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E7A665-B806-4557-9216-809F2AE0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814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D55532-82F8-4BA2-88B9-4EFF97C4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4807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阿里 Token / MiniMax Token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9649B3-E948-4FE4-BC8A-689A26BB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814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97D9FA-B4ED-4686-8CF7-596FA24B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标准按量 API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FB3803-E1E2-4DF8-A4D1-43B0B3EF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ADBCFE-AFEF-4663-973B-2D33A6BC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统一额度或可精确控制成本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55CD42-4515-4600-8C86-AD0D3AFC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59D4A8-77F6-4299-90B4-A26333E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48075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Coding Plan Key 不可滥用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960220-1D08-4A84-874F-F93D683D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751DEE-1552-419F-9B59-F4ACE4E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注重代码隐私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0D2CF7-0D2B-4F89-85E0-3524FE7A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719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0EBE36-6C65-4CA7-BF12-7A11BE35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3862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本地 Ollama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EE4AF1-1DC6-44A2-8A5E-3691B604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59AA87-797A-44EF-9064-26F5E423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企业版＋不训练条款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9B08EE-F57E-4332-B795-E4E2A9FD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01BF58-F4E0-45E7-9594-A5EDE4A4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代码可不离开设备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FA7D00-D8ED-43F8-8F49-9FB79C38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719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6EF096-C43C-41AC-81B9-29252891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38625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硬件与模型效果成本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9A6347-140A-4C25-9904-83758BB9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E08CB8-A0BE-48A4-8516-8F223E4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希望自由切换模型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D3A774-3E29-4DDC-A68F-AA09CD54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625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53C7E8-7304-42D8-8A82-4F0FAE1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2917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OpenCode＋Go/BYOK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9BD566-9B8A-4A49-B7B5-935E7257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625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694B0E-D765-4F50-88E1-7FB0873C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2917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Cursor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EB05A79-169C-4A68-80B7-126F4D51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3EE447-3BB5-473B-88AA-790D716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Provider 开放；可并行多模型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B2151A-A0F6-42BF-9D0A-41D6204E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625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2B3220-9A32-4C60-8561-BE8766D6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29175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配置和成本管理更复杂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0FB9806-80F0-4F0F-9570-42275074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AEA3A1-267E-4EB8-BB4A-A58DAD4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972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小型创业团队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F6E340-3174-4E45-B291-8F803CAC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530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AE7A533-1FB1-47C5-BC0A-56FC7813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1972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Cursor Teams / ChatGPT Business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DDC1AE-D633-4F9D-983A-ED4CF805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530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C96119-F4C8-4A57-BFF2-496F59A3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19725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Kiro Enterprise / 国内团队版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EBD499-289E-4DD1-A301-5124E37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530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DFA4E7-9CDD-434B-AB6B-AC37B026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1972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团队管理、权限、账单与安全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E176E0-1B2B-4F06-80F7-BBF5D54F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530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77FADC-488A-4A22-9F38-3BC8AA5A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19725"/>
            <a:ext cx="1419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</a:defRPr>
            </a:pPr>
            <a:r>
              <a:rPr sz="1200" b="0">
                <a:solidFill>
                  <a:srgbClr val="F4F7FB"/>
                </a:solidFill>
              </a:rPr>
              <a:t>别只按个人席位拼接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452ED5-63F3-42F1-9D09-B9ED3226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10F037-324F-4B7A-9C3B-BB4D161E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2026-07-27｜推荐基于产品形态、入口与官方数据；非绝对排名</a:t>
            </a:r>
          </a:p>
        </p:txBody>
      </p:sp>
      <p:sp>
        <p:nvSpPr>
          <p:cNvPr id="8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1E6EC4-0343-4517-9C3B-E52293C7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68372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A82EB1-8FCD-43FC-B254-FEB4859C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32628-5358-464A-8E9A-AAA59BA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07F5B-C5C1-4B6C-8345-14057E96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DECISION TREE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6453B-692C-48F1-8075-84959EF3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六个问题，把选择收敛到三条路线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72495-AB19-4A0D-B2FF-77A5755C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C0FBE-412E-4712-A994-8124A3DD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E6F32-3494-4333-AEE0-C75FD51A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7176E-E918-4763-98F6-6DEDBD28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C3A95-E37A-40B9-B9CF-978AFA92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A3DA9-CD65-4A8B-80FB-757E66AA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0D52E-A382-465A-B38C-78843296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6D4B3-80EE-4D09-8E07-16C1E0D1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13A13-3B7A-400A-A5E8-6EB6F088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6195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4D8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19D01-2626-4180-88B7-02A327FB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1｜需要 IDE / Coding Agent，还是只需要 API？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1FD70-D447-480A-9A55-A591FF7B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4D8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6757D-A5E1-4B15-AE19-0C303714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336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D8CFF"/>
                </a:solidFill>
              </a:defRPr>
            </a:pPr>
            <a:r>
              <a:rPr sz="1050" b="1">
                <a:solidFill>
                  <a:srgbClr val="4D8CFF"/>
                </a:solidFill>
              </a:rPr>
              <a:t>IDE /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E9862-83F9-49FE-BACA-2A35CDDD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6D9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E8D25-A15C-42BE-A457-83305DE1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D9D0"/>
                </a:solidFill>
              </a:defRPr>
            </a:pPr>
            <a:r>
              <a:rPr sz="1050" b="1">
                <a:solidFill>
                  <a:srgbClr val="26D9D0"/>
                </a:solidFill>
              </a:rPr>
              <a:t>API /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29380-78E0-4D7F-9422-DC4F6BA9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3238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F1DAF-161F-41D2-AB28-6C9428DA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05125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2｜必须国内直接访问和支付？</a:t>
            </a:r>
          </a:p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3｜需要海外顶级模型？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A07EE-869F-4F08-9FB0-3A2EA22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238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F1C5D-2080-41DF-8E02-C680E5CC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05125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2｜模型范围与兼容协议？</a:t>
            </a:r>
          </a:p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3｜是否需要生产 API？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0C5C0-38A9-47EB-BDA3-88922142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3238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39927-6091-45A4-A156-8B97AB77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05275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4｜允许代码上传云端？</a:t>
            </a:r>
          </a:p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5｜预算：轻 / 中 / 重？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D859D-BF2F-48EE-9FB5-5AE156E6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238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7F4B2-2470-4391-9631-9E67064D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05275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4｜国内区或海外区？</a:t>
            </a:r>
          </a:p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5｜预算与并发上限？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0AAD2-4E2D-44E2-976E-E5104592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4000500" cy="8001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53252"/>
          </a:solidFill>
          <a:ln xmlns:a="http://schemas.openxmlformats.org/drawingml/2006/main" w="9525">
            <a:solidFill>
              <a:srgbClr val="4D8C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1A05B-4BB2-4AA8-8C5D-EBD4C358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05425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云端 Coding Agent 路线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Codex / Claude / Cursor / Kiro / 国内 Coding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AD852-FB3E-41AE-8FA1-4CCA8B0E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4000500" cy="8001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444A"/>
          </a:solidFill>
          <a:ln xmlns:a="http://schemas.openxmlformats.org/drawingml/2006/main" w="9525">
            <a:solidFill>
              <a:srgbClr val="26D9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2CB653-92E8-42F2-B90E-E4F3E4FC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05425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API / Token 路线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阿里 Token / MiniMax / 标准按量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F15B3-C062-4FBB-814F-968CC85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981700"/>
            <a:ext cx="371475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174638"/>
          </a:solidFill>
          <a:ln xmlns:a="http://schemas.openxmlformats.org/drawingml/2006/main" w="9525">
            <a:solidFill>
              <a:srgbClr val="4DD6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41CD84-7303-4CB4-8178-F6659912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057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</a:rPr>
              <a:t>若不允许上传：转本地 Ollama / 私有部署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E6750-587E-4FC4-B884-2FD78023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32BF20-7482-4097-A801-C9B5B100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2026-07-27｜决策逻辑基于产品形态；预算需结合真实使用频率验证</a:t>
            </a:r>
          </a:p>
        </p:txBody>
      </p:sp>
      <p:sp>
        <p:nvSpPr>
          <p:cNvPr id="3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096979-CA7F-4473-90C5-DC1E7BA3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780727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2FF51-7869-472B-8C62-1EE9B996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42710-6647-4D8A-9DFB-F02195D4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14D7F-659F-4470-9679-6DE8E931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CONCLUSION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C51286-9338-4D28-9184-DBC46C29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最终选择：优先试用、按场景深化、对不透明项目保持观察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51CE1-71FE-4598-BFCD-3AD5CD74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02AA9-6722-48B6-B0FE-4A7E2E05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A9E8C-D2CA-4B8D-9B60-57492ED0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第一层｜优先试用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C9265-FB0E-4589-912C-752E532E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OpenCode Go：最低成本验证多模型 Agent；ChatGPT Plus / Claude Pro：已有通用会员即可验证 Coding；阿里 Token Lite：验证国内统一额度。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F3A33-100D-4E1D-89C3-CB0DA08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5F9F6-EF43-476D-9C2C-1C3E8E1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43177-CAE2-4955-B9A2-1B260FFA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第二层｜特定场景更合适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DB70C-5D08-4031-A815-E4A0A030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Cursor：IDE 体验；Kiro：Spec 驱动；Ollama：本地隐私；MiniMax：全模态；GLM/火山：国产模型与国内链路；Kimi：知识工作＋编码。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FBBFD-3C4D-4D8F-81FA-EF41BF70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668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61F75-1D65-4D7F-9B95-3563C003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226B2-4F82-45E9-97E7-B5498670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第三层｜需要继续观察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E41DB-ED71-420F-8D99-2F9480F4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CD"/>
                </a:solidFill>
              </a:defRPr>
            </a:pPr>
            <a:r>
              <a:rPr sz="1200" b="0">
                <a:solidFill>
                  <a:srgbClr val="A8B8CD"/>
                </a:solidFill>
              </a:rPr>
              <a:t>阿里旧 Coding Plan 的迁移节奏、火山额度细项、Cursor 双池规则、SuperGrok Build 成熟度，以及所有动态模型列表与促销价格。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CCAC9-8ADA-4514-9BCA-91AB500B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最稳妥的方法：选 2 个候选，用同一仓库、同一任务、同一周做 A/B 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A2A3E-EEF0-4955-B41E-39143367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60BB7-46E1-40FB-9037-976E7617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2026-07-27｜结论为基于官方资料的场景化建议；不构成绝对排名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6F1535-F3D7-42B9-AE5A-A4C0F8C6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6815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0AFE37-57BD-4C85-A3C4-BA7CDA9D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1B74E-74CF-4B30-BF73-2E433A7C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E1568-4346-45A0-AF10-411A34DA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D0"/>
                </a:solidFill>
              </a:defRPr>
            </a:pPr>
            <a:r>
              <a:rPr sz="975" b="1">
                <a:solidFill>
                  <a:srgbClr val="26D9D0"/>
                </a:solidFill>
              </a:rPr>
              <a:t>SOURCES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87AA36-66FC-4F3F-B1FA-01D60D8D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官方资料与查询日期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1498A-3167-48BA-A608-76C72723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D"/>
                </a:solidFill>
              </a:defRPr>
            </a:pPr>
            <a:r>
              <a:rPr sz="1275" b="0">
                <a:solidFill>
                  <a:srgbClr val="A8B8CD"/>
                </a:solidFill>
              </a:rPr>
              <a:t>所有价格、额度、模型与功能结论优先采用官方定价页、帮助文档与产品文档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097FD-8197-454B-81CA-3B23A8E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阿里 Coding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B7612-570C-4B5F-8C67-C4C27D4E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04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help.aliyun.com/zh/model-studio/coding-plan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5C303-9833-4408-A8EE-9A3D9F69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69DEC-BB3B-4F76-9B51-0336D90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C073E-A241-45FC-8489-B635E104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阿里 Token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49597-68F8-4598-9358-A78EAFEE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33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help.aliyun.com/zh/model-studio/token-plan-overview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4E2B9-D657-4310-8447-7B48B9A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852B3-EFED-4937-9BB0-07886B2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02805-B430-4113-9EF1-94FB20B9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火山方舟 Coding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A06F6-E660-4EB2-809D-D134F527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volcengine.com/docs/82379/1925114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3039B-ECB1-4839-B98C-9E47404D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934B1-059C-4431-8D24-6BB5D3B9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05D95-6012-4ECE-910B-52A66AFF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MiniMax Token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8142F-A301-4FAC-AED4-8FE58654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90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platform.minimaxi.com/docs/guides/pricing-token-plan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38B12-D900-4C50-BFC9-4990E2BE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64E18-9EBA-48C8-BB77-A75B8A8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42504-F2CE-4811-BD37-D87809D9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Kimi 会员 / Kimi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A2956-99F0-45B8-A40A-EB40C951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19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kimi.com/zh-cn/resources/kimi-k3-pricing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06246-2589-4840-A529-26021CB2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C3DBE-06A4-4457-8DA1-9EDE9A0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014B0-128E-4773-A976-23240F34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GLM Coding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253CA-535B-427A-8156-DFFCA8E5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docs.bigmodel.cn/cn/coding-plan/overview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E40D91-6F26-42C1-8230-AC066E0D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5BAE88-95DA-4F42-854B-952B9C11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4DBCDC-58C1-461E-969E-69F698C4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Codex / ChatGPT 套餐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0037A-29F2-410E-BFB7-7D49003E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76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learn.chatgpt.com/docs/pricing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28F76-4949-4562-A607-FDE4C07D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81E9A5-E0B4-4115-A0D6-25C84F45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10CBE8-5E61-4215-A6A8-2D55FC99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0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Claude 会员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E6A06-19CB-4813-B545-70D249F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04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support.anthropic.com/.../choosing-a-claude-ai-plan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367E62-5490-4165-9C12-BFA61C99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90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A45CCA-A67D-4D47-8BAF-01022BC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193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1452BF-D40A-4792-ABF4-5BFF44B4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3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Ollama Pro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AE51EF-9480-4147-AC96-DAED0A8C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33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ollama.com/pricing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F323EC-8970-4761-9357-7A007F9D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19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49BF68-E355-40ED-BF81-40BDEC4A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479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27C626-39A3-4550-9E59-05823C26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62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Kiro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4BCEC9-297C-49BA-9ED0-C2FD5E9E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kiro.dev/pricing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76D01D-D0C0-4A1B-B674-747BF80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48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870A4F-746B-45B7-A242-A66FE231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766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7AE2C9-53BA-4A2B-8147-22F77A49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90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OpenCode Go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209DF8-31EB-4D46-BEC0-B2453B9E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90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opencode.ai/docs/go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627AF3-787C-4FD1-9F36-3BC35FB5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676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11BA7D-C534-4535-8492-0E3F5152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905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AB5979-CF90-4C56-A951-A216490D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9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Cursor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13A27C-6A98-4005-A4FF-C9A2F854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19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cursor.com/pricing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8FAF15-A937-47F6-87F6-2A0101B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3053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040818-42D6-4DDE-AEBE-DE55791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339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BAD0F-C610-4E42-93E3-E42E578E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648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SuperGrok / Grok Build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487362-C853-4BA9-B87B-09485D7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48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x.ai/pricing；x.ai/news/grok-build-cli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1BE4D6-552C-4229-BA6C-0403D344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933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609762-B479-4A2A-B7F9-F0DA8579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1625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C105CA-4943-4472-A8EC-AFAF14CF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276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汇率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E0B965-4889-48CB-9735-3813B26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76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D9D0"/>
                </a:solidFill>
              </a:defRPr>
            </a:pPr>
            <a:r>
              <a:rPr sz="1050" b="0">
                <a:solidFill>
                  <a:srgbClr val="26D9D0"/>
                </a:solidFill>
              </a:rPr>
              <a:t>boc.cn/sourcedb/whpj/index.html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A4F134-F25C-48D7-A947-85605F89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562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49D"/>
                </a:solidFill>
              </a:defRPr>
            </a:pPr>
            <a:r>
              <a:rPr sz="825" b="0">
                <a:solidFill>
                  <a:srgbClr val="71849D"/>
                </a:solidFill>
              </a:rPr>
              <a:t>查询 2026-07-27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EFF29F-EFA7-47EA-957D-6BDD5409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7912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7A23E5-575F-4609-B039-E5F2CE21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132640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45F546-3C28-4B7F-A7C0-5530BE4F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21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</a:rPr>
              <a:t>冲突处理：以最新官方文档为准；动态订购页未公开的内容标注“未公开 / 实时展示”，不作推测。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D48DC9-D3A5-4B30-84E9-C588EDBF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036A0D-69D5-4800-A5E4-AA46FF43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49D"/>
                </a:solidFill>
              </a:defRPr>
            </a:pPr>
            <a:r>
              <a:rPr sz="750" b="0">
                <a:solidFill>
                  <a:srgbClr val="71849D"/>
                </a:solidFill>
              </a:rPr>
              <a:t>数据截止 2026-07-27｜完整 URL 同步写入每页演讲备注的 [Sources] 区块</a:t>
            </a:r>
          </a:p>
        </p:txBody>
      </p:sp>
      <p:sp>
        <p:nvSpPr>
          <p:cNvPr id="6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409609-C40B-4AF0-AD10-9EC969A6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8CD"/>
                </a:solidFill>
              </a:defRPr>
            </a:pPr>
            <a:r>
              <a:rPr sz="900" b="1">
                <a:solidFill>
                  <a:srgbClr val="A8B8CD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9256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2026-07-27T14:17:15.5430000Z</dcterms:created>
  <dcterms:modified xsi:type="dcterms:W3CDTF">2026-07-27T14:17:15.5430000Z</dcterms:modified>
</coreProperties>
</file>