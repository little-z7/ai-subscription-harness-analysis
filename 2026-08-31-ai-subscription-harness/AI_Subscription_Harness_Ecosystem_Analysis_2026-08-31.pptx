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92000" cy="6858000" type="custom"/>
  <p:notesSz cx="12192000" cy="6858000"/>
  <p:embeddedFontLst>
    <p:embeddedFont>
      <p:font typeface="Liter" charset="-122" pitchFamily="34"/>
      <p:regular r:id="rId27"/>
    </p:embeddedFont>
    <p:embeddedFont>
      <p:font typeface="Oranienbaum" charset="-122" pitchFamily="34"/>
      <p:regular r:id="rId28"/>
    </p:embeddedFont>
    <p:embeddedFont>
      <p:font typeface="MiSans" charset="-122" pitchFamily="34"/>
      <p:regular r:id="rId29"/>
    </p:embeddedFont>
    <p:embeddedFont>
      <p:font typeface="思源宋体" charset="-122" pitchFamily="34"/>
      <p:regular r:id="rId3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forum.cursor.com/t/using-cursor-frontier-models-like-composer-2-5-in-external-harnesses-e-g-codex/164676" TargetMode="External"/><Relationship Id="rId3" Type="http://schemas.openxmlformats.org/officeDocument/2006/relationships/hyperlink" Target="https://docs.bigmodel.cn/cn/coding-plan/overview" TargetMode="External"/><Relationship Id="rId4" Type="http://schemas.openxmlformats.org/officeDocument/2006/relationships/hyperlink" Target="https://tech.chinadaily.com.cn/a/202511/12/WS691441b2a310942cc499118b.html" TargetMode="Externa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poster.ly/guides/cursor-guide" TargetMode="External"/><Relationship Id="rId3" Type="http://schemas.openxmlformats.org/officeDocument/2006/relationships/hyperlink" Target="https://www.digitalapplied.com/blog/cursor-composer-2-5-agent-coding-launch" TargetMode="Externa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opencode.ai/docs/zen/" TargetMode="External"/><Relationship Id="rId3" Type="http://schemas.openxmlformats.org/officeDocument/2006/relationships/hyperlink" Target="https://www.codeagentswarm.com/en/guides/opencode-plans-and-pricing" TargetMode="Externa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aibusinessweekly.net/p/grok-ai-pricing" TargetMode="External"/><Relationship Id="rId3" Type="http://schemas.openxmlformats.org/officeDocument/2006/relationships/hyperlink" Target="https://www.oflight.co.jp/en/columns/grok-build-xai-cli-coding-agent-2026-06" TargetMode="Externa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morphllm.com/codex-pricing" TargetMode="External"/><Relationship Id="rId3" Type="http://schemas.openxmlformats.org/officeDocument/2006/relationships/hyperlink" Target="https://codersera.com/blog/gpt-5-6-sol-terra-luna/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ingplan.org/plans/kimi" TargetMode="External"/><Relationship Id="rId3" Type="http://schemas.openxmlformats.org/officeDocument/2006/relationships/hyperlink" Target="https://www.pingwest.com/a/316812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docs.bigmodel.cn/cn/coding-plan/overview" TargetMode="External"/><Relationship Id="rId3" Type="http://schemas.openxmlformats.org/officeDocument/2006/relationships/hyperlink" Target="https://codingplan.org/plans/zhipu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platform.minimaxi.com/subscribe/token-plan" TargetMode="External"/><Relationship Id="rId3" Type="http://schemas.openxmlformats.org/officeDocument/2006/relationships/hyperlink" Target="https://www.tmtpost.com/8010291.html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news.qiniu.com/archives/1787109274281" TargetMode="External"/><Relationship Id="rId3" Type="http://schemas.openxmlformats.org/officeDocument/2006/relationships/hyperlink" Target="https://devtk.ai/zh/models/deepseek-v4-flash/" TargetMode="Externa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alibabacloud.com/help/zh/lingma/account-and-subscription" TargetMode="External"/><Relationship Id="rId3" Type="http://schemas.openxmlformats.org/officeDocument/2006/relationships/hyperlink" Target="https://help.aliyun.com/zh/model-studio/model-pricing" TargetMode="Externa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volcengine.com/docs/82379/2366394" TargetMode="External"/><Relationship Id="rId3" Type="http://schemas.openxmlformats.org/officeDocument/2006/relationships/hyperlink" Target="https://tech.chinadaily.com.cn/a/202511/12/WS691441b2a310942cc499118b.html" TargetMode="Externa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yotradellc.com/blog/google-ai-pro-ultra-overseas-subscription-2026-guide" TargetMode="External"/><Relationship Id="rId3" Type="http://schemas.openxmlformats.org/officeDocument/2006/relationships/hyperlink" Target="https://www.sohu.com/a/1024911847_122014422" TargetMode="Externa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techstackups.com/comparisons/coding-agent-harness-comparison-2026/" TargetMode="External"/><Relationship Id="rId3" Type="http://schemas.openxmlformats.org/officeDocument/2006/relationships/hyperlink" Target="https://omnitools.ai/tool/tool_mpcdk5iod0e8b856abe14b18" TargetMode="Externa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sensenova.cn/token-plan" TargetMode="External"/><Relationship Id="rId3" Type="http://schemas.openxmlformats.org/officeDocument/2006/relationships/hyperlink" Target="https://finance.sina.com.cn/tech/roll/2026-03-23/doc-inhrxzzu1205015.shtml" TargetMode="Externa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mimo.mi.com/docs/zh-CN/updates/model" TargetMode="External"/><Relationship Id="rId3" Type="http://schemas.openxmlformats.org/officeDocument/2006/relationships/hyperlink" Target="https://www.36kr.com/p/3826299800015748" TargetMode="External"/><Relationship Id="rId4" Type="http://schemas.openxmlformats.org/officeDocument/2006/relationships/hyperlink" Target="https://ollama.com/pricing" TargetMode="Externa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finance.eastmoney.com/a/202607273821983624.html" TargetMode="External"/><Relationship Id="rId3" Type="http://schemas.openxmlformats.org/officeDocument/2006/relationships/hyperlink" Target="https://www.feishu.cn/service/ai" TargetMode="External"/><Relationship Id="rId4" Type="http://schemas.openxmlformats.org/officeDocument/2006/relationships/hyperlink" Target="https://www.ebrun.com/20260727/690459.shtml" TargetMode="External"/><Relationship Id="rId5" Type="http://schemas.openxmlformats.org/officeDocument/2006/relationships/hyperlink" Target="https://ai-wz.com/wpsai" TargetMode="Externa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accent-bar"/>
          <p:cNvSpPr/>
          <p:nvPr/>
        </p:nvSpPr>
        <p:spPr>
          <a:xfrm>
            <a:off x="609600" y="1498600"/>
            <a:ext cx="812800" cy="508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3" name="cover-kicker"/>
          <p:cNvSpPr txBox="1"/>
          <p:nvPr/>
        </p:nvSpPr>
        <p:spPr>
          <a:xfrm>
            <a:off x="609600" y="17272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AI SUBSCRIPTION × HARNESS ECOSYSTEM · 2026.08</a:t>
            </a:r>
            <a:endParaRPr lang="en-US" sz="1000" noProof="1"/>
          </a:p>
        </p:txBody>
      </p:sp>
      <p:sp>
        <p:nvSpPr>
          <p:cNvPr id="4" name="cover-title"/>
          <p:cNvSpPr txBox="1"/>
          <p:nvPr/>
        </p:nvSpPr>
        <p:spPr>
          <a:xfrm>
            <a:off x="609600" y="2133600"/>
            <a:ext cx="83820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4000" noProof="1" b="1">
                <a:solidFill>
                  <a:srgbClr val="1F2933"/>
                </a:solidFill>
                <a:latin typeface="Oranienbaum"/>
                <a:ea typeface="思源宋体"/>
              </a:rPr>
              <a:t>AI 订阅与 Harness 工具</a:t>
            </a:r>
            <a:endParaRPr lang="en-US" sz="4000" noProof="1"/>
          </a:p>
          <a:p>
            <a:pPr algn="l">
              <a:lnSpc>
                <a:spcPct val="130000"/>
              </a:lnSpc>
            </a:pPr>
            <a:r>
              <a:rPr lang="en-US" sz="4000" noProof="1" b="1">
                <a:solidFill>
                  <a:srgbClr val="1F2933"/>
                </a:solidFill>
                <a:latin typeface="Oranienbaum"/>
                <a:ea typeface="思源宋体"/>
              </a:rPr>
              <a:t>生态对比分析</a:t>
            </a:r>
            <a:endParaRPr lang="en-US" sz="4000" noProof="1"/>
          </a:p>
        </p:txBody>
      </p:sp>
      <p:sp>
        <p:nvSpPr>
          <p:cNvPr id="5" name="cover-slogan"/>
          <p:cNvSpPr txBox="1"/>
          <p:nvPr/>
        </p:nvSpPr>
        <p:spPr>
          <a:xfrm>
            <a:off x="609600" y="37592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500" noProof="1" b="1">
                <a:solidFill>
                  <a:srgbClr val="B07D3A"/>
                </a:solidFill>
                <a:latin typeface="Liter"/>
                <a:ea typeface="MiSans"/>
              </a:rPr>
              <a:t>订阅只是入场券，Harness 工具才是主战场</a:t>
            </a:r>
            <a:endParaRPr lang="en-US" sz="1500" noProof="1"/>
          </a:p>
        </p:txBody>
      </p:sp>
      <p:sp>
        <p:nvSpPr>
          <p:cNvPr id="6" name="cover-sub"/>
          <p:cNvSpPr txBox="1"/>
          <p:nvPr/>
        </p:nvSpPr>
        <p:spPr>
          <a:xfrm>
            <a:off x="609600" y="4191000"/>
            <a:ext cx="787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5C6B7A"/>
                </a:solidFill>
                <a:latin typeface="Liter"/>
                <a:ea typeface="MiSans"/>
              </a:rPr>
              <a:t>三大梯队 · 18+ 款产品 ·「订阅 × 自家工具」绑定式横向评测</a:t>
            </a:r>
            <a:endParaRPr lang="en-US" sz="1100" noProof="1"/>
          </a:p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5C6B7A"/>
                </a:solidFill>
                <a:latin typeface="Liter"/>
                <a:ea typeface="MiSans"/>
              </a:rPr>
              <a:t>价格档位 / 模型能力 / Harness 成熟度 / 生态闭环 / 适合场景</a:t>
            </a:r>
            <a:endParaRPr lang="en-US" sz="1100" noProof="1"/>
          </a:p>
        </p:txBody>
      </p:sp>
      <p:sp>
        <p:nvSpPr>
          <p:cNvPr id="7" name="cover-deco-x"/>
          <p:cNvSpPr txBox="1"/>
          <p:nvPr/>
        </p:nvSpPr>
        <p:spPr>
          <a:xfrm>
            <a:off x="8128000" y="1219200"/>
            <a:ext cx="3683000" cy="381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0" noProof="1" b="1">
                <a:solidFill>
                  <a:srgbClr val="EDF2F7"/>
                </a:solidFill>
                <a:latin typeface="Oranienbaum"/>
                <a:ea typeface="思源宋体"/>
              </a:rPr>
              <a:t>×</a:t>
            </a:r>
            <a:endParaRPr lang="en-US" sz="24000" noProof="1"/>
          </a:p>
        </p:txBody>
      </p:sp>
      <p:sp>
        <p:nvSpPr>
          <p:cNvPr id="8" name="cover-deco-label1"/>
          <p:cNvSpPr txBox="1"/>
          <p:nvPr/>
        </p:nvSpPr>
        <p:spPr>
          <a:xfrm>
            <a:off x="8585200" y="24892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 spc="200" kern="0">
                <a:solidFill>
                  <a:srgbClr val="1C3D5A"/>
                </a:solidFill>
                <a:latin typeface="Liter"/>
                <a:ea typeface="MiSans"/>
              </a:rPr>
              <a:t>SUBSCRIPTION</a:t>
            </a:r>
            <a:endParaRPr lang="en-US" sz="1100" noProof="1"/>
          </a:p>
        </p:txBody>
      </p:sp>
      <p:sp>
        <p:nvSpPr>
          <p:cNvPr id="9" name="cover-deco-label2"/>
          <p:cNvSpPr txBox="1"/>
          <p:nvPr/>
        </p:nvSpPr>
        <p:spPr>
          <a:xfrm>
            <a:off x="8585200" y="37592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100" noProof="1" b="1" spc="200" kern="0">
                <a:solidFill>
                  <a:srgbClr val="B07D3A"/>
                </a:solidFill>
                <a:latin typeface="Liter"/>
                <a:ea typeface="MiSans"/>
              </a:rPr>
              <a:t>HARNESS</a:t>
            </a:r>
            <a:endParaRPr lang="en-US" sz="1100" noProof="1"/>
          </a:p>
        </p:txBody>
      </p:sp>
      <p:sp>
        <p:nvSpPr>
          <p:cNvPr id="10" name="cover-footline"/>
          <p:cNvSpPr/>
          <p:nvPr/>
        </p:nvSpPr>
        <p:spPr>
          <a:xfrm>
            <a:off x="609600" y="58674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1" name="cover-footer"/>
          <p:cNvSpPr txBox="1"/>
          <p:nvPr/>
        </p:nvSpPr>
        <p:spPr>
          <a:xfrm>
            <a:off x="609600" y="6045200"/>
            <a:ext cx="10972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5000"/>
              </a:lnSpc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2026 年 8 月 · 专业分析版 · 数据截至各厂商官网最新公示价格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kicker"/>
          <p:cNvSpPr txBox="1"/>
          <p:nvPr/>
        </p:nvSpPr>
        <p:spPr>
          <a:xfrm>
            <a:off x="609600" y="5080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CONTENTS</a:t>
            </a:r>
            <a:endParaRPr lang="en-US" sz="1000" noProof="1"/>
          </a:p>
        </p:txBody>
      </p:sp>
      <p:sp>
        <p:nvSpPr>
          <p:cNvPr id="3" name="toc-title"/>
          <p:cNvSpPr txBox="1"/>
          <p:nvPr/>
        </p:nvSpPr>
        <p:spPr>
          <a:xfrm>
            <a:off x="609600" y="787400"/>
            <a:ext cx="508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000" noProof="1" b="1">
                <a:solidFill>
                  <a:srgbClr val="1F2933"/>
                </a:solidFill>
                <a:latin typeface="Oranienbaum"/>
                <a:ea typeface="思源宋体"/>
              </a:rPr>
              <a:t>目录</a:t>
            </a:r>
            <a:endParaRPr lang="en-US" sz="3000" noProof="1"/>
          </a:p>
        </p:txBody>
      </p:sp>
      <p:sp>
        <p:nvSpPr>
          <p:cNvPr id="4" name="toc-bar"/>
          <p:cNvSpPr/>
          <p:nvPr/>
        </p:nvSpPr>
        <p:spPr>
          <a:xfrm>
            <a:off x="609600" y="1473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5" name="toc-line"/>
          <p:cNvSpPr/>
          <p:nvPr/>
        </p:nvSpPr>
        <p:spPr>
          <a:xfrm>
            <a:off x="609600" y="1536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6" name="toc-items"/>
          <p:cNvSpPr txBox="1"/>
          <p:nvPr/>
        </p:nvSpPr>
        <p:spPr>
          <a:xfrm>
            <a:off x="609600" y="1879600"/>
            <a:ext cx="7874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300" noProof="1" b="1">
                <a:solidFill>
                  <a:srgbClr val="3E6486"/>
                </a:solidFill>
                <a:latin typeface="Liter"/>
                <a:ea typeface="MiSans"/>
              </a:rPr>
              <a:t>01</a:t>
            </a:r>
            <a:r>
              <a:rPr lang="en-US" sz="1400" noProof="1" b="1">
                <a:solidFill>
                  <a:srgbClr val="1F2933"/>
                </a:solidFill>
                <a:latin typeface="Liter"/>
                <a:ea typeface="MiSans"/>
              </a:rPr>
              <a:t>　核心观点与分析框架</a:t>
            </a:r>
            <a:r>
              <a:rPr lang="en-US" sz="1000" noProof="1">
                <a:solidFill>
                  <a:srgbClr val="97A5B2"/>
                </a:solidFill>
                <a:latin typeface="Liter"/>
                <a:ea typeface="MiSans"/>
              </a:rPr>
              <a:t>　　P03–04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订阅 × Harness 公式与三梯队全景地图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lang="en-US" sz="1300" noProof="1" b="1">
                <a:solidFill>
                  <a:srgbClr val="3E6486"/>
                </a:solidFill>
                <a:latin typeface="Liter"/>
                <a:ea typeface="MiSans"/>
              </a:rPr>
              <a:t>02</a:t>
            </a:r>
            <a:r>
              <a:rPr lang="en-US" sz="1400" noProof="1" b="1">
                <a:solidFill>
                  <a:srgbClr val="1F2933"/>
                </a:solidFill>
                <a:latin typeface="Liter"/>
                <a:ea typeface="MiSans"/>
              </a:rPr>
              <a:t>　第一梯队 · 顶级国际与头部产品</a:t>
            </a:r>
            <a:r>
              <a:rPr lang="en-US" sz="1000" noProof="1">
                <a:solidFill>
                  <a:srgbClr val="97A5B2"/>
                </a:solidFill>
                <a:latin typeface="Liter"/>
                <a:ea typeface="MiSans"/>
              </a:rPr>
              <a:t>　　P05–09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Cloud Cursor / OpenCode Go / SuperGrok / Codex × ChatGPT 会员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lang="en-US" sz="1300" noProof="1" b="1">
                <a:solidFill>
                  <a:srgbClr val="3E6486"/>
                </a:solidFill>
                <a:latin typeface="Liter"/>
                <a:ea typeface="MiSans"/>
              </a:rPr>
              <a:t>03</a:t>
            </a:r>
            <a:r>
              <a:rPr lang="en-US" sz="1400" noProof="1" b="1">
                <a:solidFill>
                  <a:srgbClr val="1F2933"/>
                </a:solidFill>
                <a:latin typeface="Liter"/>
                <a:ea typeface="MiSans"/>
              </a:rPr>
              <a:t>　第二梯队 · 国产主力与部分国际</a:t>
            </a:r>
            <a:r>
              <a:rPr lang="en-US" sz="1000" noProof="1">
                <a:solidFill>
                  <a:srgbClr val="97A5B2"/>
                </a:solidFill>
                <a:latin typeface="Liter"/>
                <a:ea typeface="MiSans"/>
              </a:rPr>
              <a:t>　　P10–17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Kimi×Kimi Code / 智谱×Z Code / MiniMax / DeepSeek API / 千问 Token Plan / 火山引擎 / Gemini AI Pro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lang="en-US" sz="1300" noProof="1" b="1">
                <a:solidFill>
                  <a:srgbClr val="3E6486"/>
                </a:solidFill>
                <a:latin typeface="Liter"/>
                <a:ea typeface="MiSans"/>
              </a:rPr>
              <a:t>04</a:t>
            </a:r>
            <a:r>
              <a:rPr lang="en-US" sz="1400" noProof="1" b="1">
                <a:solidFill>
                  <a:srgbClr val="1F2933"/>
                </a:solidFill>
                <a:latin typeface="Liter"/>
                <a:ea typeface="MiSans"/>
              </a:rPr>
              <a:t>　第三梯队 · 新兴、垂直与轻量</a:t>
            </a:r>
            <a:r>
              <a:rPr lang="en-US" sz="1000" noProof="1">
                <a:solidFill>
                  <a:srgbClr val="97A5B2"/>
                </a:solidFill>
                <a:latin typeface="Liter"/>
                <a:ea typeface="MiSans"/>
              </a:rPr>
              <a:t>　　P18–21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Command Code / 商汤 / 阶跃星辰 / 小米 MiMo / Ollama Pro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lang="en-US" sz="1300" noProof="1" b="1">
                <a:solidFill>
                  <a:srgbClr val="3E6486"/>
                </a:solidFill>
                <a:latin typeface="Liter"/>
                <a:ea typeface="MiSans"/>
              </a:rPr>
              <a:t>05</a:t>
            </a:r>
            <a:r>
              <a:rPr lang="en-US" sz="1400" noProof="1" b="1">
                <a:solidFill>
                  <a:srgbClr val="1F2933"/>
                </a:solidFill>
                <a:latin typeface="Liter"/>
                <a:ea typeface="MiSans"/>
              </a:rPr>
              <a:t>　独立赛道 · 国内办公类 Agent 工具</a:t>
            </a:r>
            <a:r>
              <a:rPr lang="en-US" sz="1000" noProof="1">
                <a:solidFill>
                  <a:srgbClr val="97A5B2"/>
                </a:solidFill>
                <a:latin typeface="Liter"/>
                <a:ea typeface="MiSans"/>
              </a:rPr>
              <a:t>　　P22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腾讯 WorkBuddy / 豆包办公 Agent / 阿里千问办公 / 钉钉 · 飞书 · 企微 · WPS AI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1800"/>
              </a:spcBef>
            </a:pPr>
            <a:r>
              <a:rPr lang="en-US" sz="1300" noProof="1" b="1">
                <a:solidFill>
                  <a:srgbClr val="3E6486"/>
                </a:solidFill>
                <a:latin typeface="Liter"/>
                <a:ea typeface="MiSans"/>
              </a:rPr>
              <a:t>06</a:t>
            </a:r>
            <a:r>
              <a:rPr lang="en-US" sz="1400" noProof="1" b="1">
                <a:solidFill>
                  <a:srgbClr val="1F2933"/>
                </a:solidFill>
                <a:latin typeface="Liter"/>
                <a:ea typeface="MiSans"/>
              </a:rPr>
              <a:t>　总结对比与选型建议</a:t>
            </a:r>
            <a:r>
              <a:rPr lang="en-US" sz="1000" noProof="1">
                <a:solidFill>
                  <a:srgbClr val="97A5B2"/>
                </a:solidFill>
                <a:latin typeface="Liter"/>
                <a:ea typeface="MiSans"/>
              </a:rPr>
              <a:t>　　P23–24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五维横向对比大表 · 按人群的选购路线</a:t>
            </a:r>
            <a:endParaRPr lang="en-US" sz="1600" noProof="1"/>
          </a:p>
        </p:txBody>
      </p:sp>
      <p:sp>
        <p:nvSpPr>
          <p:cNvPr id="7" name="toc-side-deco"/>
          <p:cNvSpPr/>
          <p:nvPr/>
        </p:nvSpPr>
        <p:spPr>
          <a:xfrm>
            <a:off x="10414000" y="1879600"/>
            <a:ext cx="50800" cy="41910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8" name="toc-side-text"/>
          <p:cNvSpPr txBox="1"/>
          <p:nvPr/>
        </p:nvSpPr>
        <p:spPr>
          <a:xfrm>
            <a:off x="8636000" y="1879600"/>
            <a:ext cx="1524000" cy="419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80000"/>
              </a:lnSpc>
            </a:pP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阅读提示</a:t>
            </a:r>
            <a:endParaRPr lang="en-US" sz="1000" noProof="1"/>
          </a:p>
          <a:p>
            <a:pPr algn="l">
              <a:lnSpc>
                <a:spcPct val="180000"/>
              </a:lnSpc>
              <a:spcBef>
                <a:spcPts val="800"/>
              </a:spcBef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每个产品页都按同一框架拆解：价格 → 模型 → 自家工具 → 闭环程度。</a:t>
            </a:r>
            <a:endParaRPr lang="en-US" sz="1000" noProof="1"/>
          </a:p>
          <a:p>
            <a:pPr algn="l">
              <a:lnSpc>
                <a:spcPct val="180000"/>
              </a:lnSpc>
              <a:spcBef>
                <a:spcPts val="800"/>
              </a:spcBef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页底铜色点评条是「订阅×工具」绑定逻辑的一句话总结。</a:t>
            </a:r>
            <a:endParaRPr lang="en-US" sz="1000" noProof="1"/>
          </a:p>
        </p:txBody>
      </p:sp>
      <p:sp>
        <p:nvSpPr>
          <p:cNvPr id="9" name="toc-footer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02 / 24</a:t>
            </a:r>
            <a:endParaRPr lang="en-US" sz="8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CORE THESIS · 核心观点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核心框架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第一梯队 · 第二梯队 · 第三梯队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F2933"/>
                </a:solidFill>
                <a:latin typeface="Oranienbaum"/>
                <a:ea typeface="思源宋体"/>
              </a:rPr>
              <a:t>2026 年买 AI 订阅的本质：买「模型 × 自家工具」的联合优化额度</a:t>
            </a:r>
            <a:endParaRPr lang="en-US" sz="22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单独评价订阅好坏没有意义——同一模型换一套 Harness，战力可以差出 6 倍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formula-left"/>
          <p:cNvSpPr txBox="1"/>
          <p:nvPr/>
        </p:nvSpPr>
        <p:spPr>
          <a:xfrm>
            <a:off x="1016000" y="1727200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 b="1">
                <a:solidFill>
                  <a:srgbClr val="1C3D5A"/>
                </a:solidFill>
                <a:latin typeface="Oranienbaum"/>
                <a:ea typeface="思源宋体"/>
              </a:rPr>
              <a:t>订阅 Subscription</a:t>
            </a:r>
            <a:endParaRPr lang="en-US" sz="2100" noProof="1"/>
          </a:p>
        </p:txBody>
      </p:sp>
      <p:sp>
        <p:nvSpPr>
          <p:cNvPr id="9" name="formula-times"/>
          <p:cNvSpPr txBox="1"/>
          <p:nvPr/>
        </p:nvSpPr>
        <p:spPr>
          <a:xfrm>
            <a:off x="4216400" y="1727200"/>
            <a:ext cx="762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3000" noProof="1" b="1">
                <a:solidFill>
                  <a:srgbClr val="B07D3A"/>
                </a:solidFill>
                <a:latin typeface="MiSans"/>
                <a:ea typeface="MiSans"/>
              </a:rPr>
              <a:t>×</a:t>
            </a:r>
            <a:endParaRPr lang="en-US" sz="3000" noProof="1"/>
          </a:p>
        </p:txBody>
      </p:sp>
      <p:sp>
        <p:nvSpPr>
          <p:cNvPr id="10" name="formula-mid"/>
          <p:cNvSpPr txBox="1"/>
          <p:nvPr/>
        </p:nvSpPr>
        <p:spPr>
          <a:xfrm>
            <a:off x="5130800" y="1727200"/>
            <a:ext cx="3048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 b="1">
                <a:solidFill>
                  <a:srgbClr val="1C3D5A"/>
                </a:solidFill>
                <a:latin typeface="Oranienbaum"/>
                <a:ea typeface="思源宋体"/>
              </a:rPr>
              <a:t>自家 Harness 工具</a:t>
            </a:r>
            <a:endParaRPr lang="en-US" sz="2100" noProof="1"/>
          </a:p>
        </p:txBody>
      </p:sp>
      <p:sp>
        <p:nvSpPr>
          <p:cNvPr id="11" name="formula-eq"/>
          <p:cNvSpPr txBox="1"/>
          <p:nvPr/>
        </p:nvSpPr>
        <p:spPr>
          <a:xfrm>
            <a:off x="8331200" y="1727200"/>
            <a:ext cx="635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3000" noProof="1" b="1">
                <a:solidFill>
                  <a:srgbClr val="B07D3A"/>
                </a:solidFill>
                <a:latin typeface="MiSans"/>
                <a:ea typeface="MiSans"/>
              </a:rPr>
              <a:t>=</a:t>
            </a:r>
            <a:endParaRPr lang="en-US" sz="3000" noProof="1"/>
          </a:p>
        </p:txBody>
      </p:sp>
      <p:sp>
        <p:nvSpPr>
          <p:cNvPr id="12" name="formula-right"/>
          <p:cNvSpPr txBox="1"/>
          <p:nvPr/>
        </p:nvSpPr>
        <p:spPr>
          <a:xfrm>
            <a:off x="9118600" y="1727200"/>
            <a:ext cx="24130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100" noProof="1" b="1">
                <a:solidFill>
                  <a:srgbClr val="B07D3A"/>
                </a:solidFill>
                <a:latin typeface="Oranienbaum"/>
                <a:ea typeface="思源宋体"/>
              </a:rPr>
              <a:t>真实战力</a:t>
            </a:r>
            <a:endParaRPr lang="en-US" sz="2100" noProof="1"/>
          </a:p>
        </p:txBody>
      </p:sp>
      <p:sp>
        <p:nvSpPr>
          <p:cNvPr id="13" name="formula-cap1"/>
          <p:cNvSpPr txBox="1"/>
          <p:nvPr/>
        </p:nvSpPr>
        <p:spPr>
          <a:xfrm>
            <a:off x="1016000" y="2438400"/>
            <a:ext cx="304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MiSans"/>
                <a:ea typeface="MiSans"/>
              </a:rPr>
              <a:t>额度 · 模型池 · 优先通道</a:t>
            </a:r>
            <a:endParaRPr lang="en-US" sz="900" noProof="1"/>
          </a:p>
        </p:txBody>
      </p:sp>
      <p:sp>
        <p:nvSpPr>
          <p:cNvPr id="14" name="formula-cap2"/>
          <p:cNvSpPr txBox="1"/>
          <p:nvPr/>
        </p:nvSpPr>
        <p:spPr>
          <a:xfrm>
            <a:off x="5130800" y="2438400"/>
            <a:ext cx="3048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MiSans"/>
                <a:ea typeface="MiSans"/>
              </a:rPr>
              <a:t>IDE · CLI · 云端 Agent</a:t>
            </a:r>
            <a:endParaRPr lang="en-US" sz="900" noProof="1"/>
          </a:p>
        </p:txBody>
      </p:sp>
      <p:sp>
        <p:nvSpPr>
          <p:cNvPr id="15" name="formula-cap3"/>
          <p:cNvSpPr txBox="1"/>
          <p:nvPr/>
        </p:nvSpPr>
        <p:spPr>
          <a:xfrm>
            <a:off x="9118600" y="2438400"/>
            <a:ext cx="2413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MiSans"/>
                <a:ea typeface="MiSans"/>
              </a:rPr>
              <a:t>跑分 · 交付 · 效率</a:t>
            </a:r>
            <a:endParaRPr lang="en-US" sz="900" noProof="1"/>
          </a:p>
        </p:txBody>
      </p:sp>
      <p:sp>
        <p:nvSpPr>
          <p:cNvPr id="16" name="evid-line"/>
          <p:cNvSpPr/>
          <p:nvPr/>
        </p:nvSpPr>
        <p:spPr>
          <a:xfrm>
            <a:off x="609600" y="28194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7" name="evid-h1"/>
          <p:cNvSpPr txBox="1"/>
          <p:nvPr/>
        </p:nvSpPr>
        <p:spPr>
          <a:xfrm>
            <a:off x="609600" y="3048000"/>
            <a:ext cx="3454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① 工具锁定模型</a:t>
            </a:r>
            <a:endParaRPr lang="en-US" sz="1250" noProof="1"/>
          </a:p>
        </p:txBody>
      </p:sp>
      <p:sp>
        <p:nvSpPr>
          <p:cNvPr id="18" name="evid-b1"/>
          <p:cNvSpPr txBox="1"/>
          <p:nvPr/>
        </p:nvSpPr>
        <p:spPr>
          <a:xfrm>
            <a:off x="609600" y="3327400"/>
            <a:ext cx="34544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Cursor 的自家模型 </a:t>
            </a: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Composer 2.5 没有公开 API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，仅在 Cursor IDE/CLI 内可用，代理调用即违反条款封号。</a:t>
            </a:r>
            <a:endParaRPr lang="en-US" sz="100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xAI 的 </a:t>
            </a: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Grok Build 只跑自家 Grok 模型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，且最初仅向 SuperGrok Heavy（$300/月）开放。</a:t>
            </a:r>
            <a:endParaRPr lang="en-US" sz="1000" noProof="1"/>
          </a:p>
        </p:txBody>
      </p:sp>
      <p:sp>
        <p:nvSpPr>
          <p:cNvPr id="19" name="evid-h2"/>
          <p:cNvSpPr txBox="1"/>
          <p:nvPr/>
        </p:nvSpPr>
        <p:spPr>
          <a:xfrm>
            <a:off x="4368800" y="3048000"/>
            <a:ext cx="3454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② 订阅锁定工具</a:t>
            </a:r>
            <a:endParaRPr lang="en-US" sz="1250" noProof="1"/>
          </a:p>
        </p:txBody>
      </p:sp>
      <p:sp>
        <p:nvSpPr>
          <p:cNvPr id="20" name="evid-b2"/>
          <p:cNvSpPr txBox="1"/>
          <p:nvPr/>
        </p:nvSpPr>
        <p:spPr>
          <a:xfrm>
            <a:off x="4368800" y="3327400"/>
            <a:ext cx="34544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Codex </a:t>
            </a: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没有独立订阅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，焊死在每一档 ChatGPT 会员里；智谱 Coding Plan </a:t>
            </a: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仅限官方支持的工具内使用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，违规触发风控。</a:t>
            </a:r>
            <a:endParaRPr lang="en-US" sz="100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2026 年 1 月 Anthropic 封杀第三方工具复用 Claude 订阅——闭环从趋势变成行业事实。</a:t>
            </a:r>
            <a:endParaRPr lang="en-US" sz="1000" noProof="1"/>
          </a:p>
        </p:txBody>
      </p:sp>
      <p:sp>
        <p:nvSpPr>
          <p:cNvPr id="21" name="evid-h3"/>
          <p:cNvSpPr txBox="1"/>
          <p:nvPr/>
        </p:nvSpPr>
        <p:spPr>
          <a:xfrm>
            <a:off x="8128000" y="3048000"/>
            <a:ext cx="34544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③ 联合优化出性能</a:t>
            </a:r>
            <a:endParaRPr lang="en-US" sz="1250" noProof="1"/>
          </a:p>
        </p:txBody>
      </p:sp>
      <p:sp>
        <p:nvSpPr>
          <p:cNvPr id="22" name="evid-b3"/>
          <p:cNvSpPr txBox="1"/>
          <p:nvPr/>
        </p:nvSpPr>
        <p:spPr>
          <a:xfrm>
            <a:off x="8128000" y="3327400"/>
            <a:ext cx="3454400" cy="149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Doubao-Seed-Code 与 TRAE </a:t>
            </a: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深度联调后 SWE-Bench 78.8% 登顶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；Kimi K3 + Kimi Code 长任务成功率 </a:t>
            </a: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45.8%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，同工具换旧模型 K2.7 仅 </a:t>
            </a: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7.2%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。</a:t>
            </a:r>
            <a:endParaRPr lang="en-US" sz="1000" noProof="1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厂商已把「模型+工具协同」当作官方卖点宣传。</a:t>
            </a:r>
            <a:endParaRPr lang="en-US" sz="1000" noProof="1"/>
          </a:p>
        </p:txBody>
      </p:sp>
      <p:sp>
        <p:nvSpPr>
          <p:cNvPr id="23" name="evid-num1"/>
          <p:cNvSpPr txBox="1"/>
          <p:nvPr/>
        </p:nvSpPr>
        <p:spPr>
          <a:xfrm>
            <a:off x="609600" y="4953000"/>
            <a:ext cx="3454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C3D5A"/>
                </a:solidFill>
                <a:latin typeface="Oranienbaum"/>
                <a:ea typeface="Oranienbaum"/>
              </a:rPr>
              <a:t>0</a:t>
            </a:r>
            <a:r>
              <a:rPr lang="en-US" sz="1000" noProof="1">
                <a:solidFill>
                  <a:srgbClr val="5C6B7A"/>
                </a:solidFill>
                <a:latin typeface="MiSans"/>
                <a:ea typeface="MiSans"/>
              </a:rPr>
              <a:t> 个 Composer API 端点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00" noProof="1">
                <a:solidFill>
                  <a:srgbClr val="97A5B2"/>
                </a:solidFill>
                <a:latin typeface="MiSans"/>
                <a:ea typeface="MiSans"/>
              </a:rPr>
              <a:t>模型再强，离开自家 IDE 就调用不到</a:t>
            </a:r>
            <a:endParaRPr lang="en-US" sz="1600" noProof="1"/>
          </a:p>
        </p:txBody>
      </p:sp>
      <p:sp>
        <p:nvSpPr>
          <p:cNvPr id="24" name="evid-num2"/>
          <p:cNvSpPr txBox="1"/>
          <p:nvPr/>
        </p:nvSpPr>
        <p:spPr>
          <a:xfrm>
            <a:off x="4368800" y="4953000"/>
            <a:ext cx="3454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1C3D5A"/>
                </a:solidFill>
                <a:latin typeface="Oranienbaum"/>
                <a:ea typeface="Oranienbaum"/>
              </a:rPr>
              <a:t>20+</a:t>
            </a:r>
            <a:r>
              <a:rPr lang="en-US" sz="1000" noProof="1">
                <a:solidFill>
                  <a:srgbClr val="5C6B7A"/>
                </a:solidFill>
                <a:latin typeface="MiSans"/>
                <a:ea typeface="MiSans"/>
              </a:rPr>
              <a:t> 款工具纳入智谱套餐白名单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00" noProof="1">
                <a:solidFill>
                  <a:srgbClr val="97A5B2"/>
                </a:solidFill>
                <a:latin typeface="MiSans"/>
                <a:ea typeface="MiSans"/>
              </a:rPr>
              <a:t>订阅额度只能走官方指定的 Harness 通道</a:t>
            </a:r>
            <a:endParaRPr lang="en-US" sz="1600" noProof="1"/>
          </a:p>
        </p:txBody>
      </p:sp>
      <p:sp>
        <p:nvSpPr>
          <p:cNvPr id="25" name="evid-num3"/>
          <p:cNvSpPr txBox="1"/>
          <p:nvPr/>
        </p:nvSpPr>
        <p:spPr>
          <a:xfrm>
            <a:off x="8128000" y="4953000"/>
            <a:ext cx="3454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600" noProof="1" b="1">
                <a:solidFill>
                  <a:srgbClr val="B07D3A"/>
                </a:solidFill>
                <a:latin typeface="Oranienbaum"/>
                <a:ea typeface="Oranienbaum"/>
              </a:rPr>
              <a:t>6.4×</a:t>
            </a:r>
            <a:r>
              <a:rPr lang="en-US" sz="1000" noProof="1">
                <a:solidFill>
                  <a:srgbClr val="5C6B7A"/>
                </a:solidFill>
                <a:latin typeface="MiSans"/>
                <a:ea typeface="MiSans"/>
              </a:rPr>
              <a:t> 同工具换模型的战力差距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00" noProof="1">
                <a:solidFill>
                  <a:srgbClr val="97A5B2"/>
                </a:solidFill>
                <a:latin typeface="MiSans"/>
                <a:ea typeface="MiSans"/>
              </a:rPr>
              <a:t>K3+Kimi Code 45.8% vs K2.7+Kimi Code 7.2%</a:t>
            </a:r>
            <a:endParaRPr lang="en-US" sz="1600" noProof="1"/>
          </a:p>
        </p:txBody>
      </p:sp>
      <p:sp>
        <p:nvSpPr>
          <p:cNvPr id="26" name="note-bar"/>
          <p:cNvSpPr/>
          <p:nvPr/>
        </p:nvSpPr>
        <p:spPr>
          <a:xfrm>
            <a:off x="609600" y="5740400"/>
            <a:ext cx="50800" cy="4318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7" name="note-text"/>
          <p:cNvSpPr txBox="1"/>
          <p:nvPr/>
        </p:nvSpPr>
        <p:spPr>
          <a:xfrm>
            <a:off x="812800" y="5740400"/>
            <a:ext cx="1076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阅读本报告的正确姿势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：以下 18+ 款产品均按「订阅档位 → 模型能力 → 自家 Harness → 生态闭环」同一框架拆解，页底铜色条为绑定逻辑一句话点评。</a:t>
            </a:r>
            <a:endParaRPr lang="en-US" sz="1000" noProof="1"/>
          </a:p>
        </p:txBody>
      </p:sp>
      <p:sp>
        <p:nvSpPr>
          <p:cNvPr id="28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Cursor 官方论坛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智谱 Coding Plan 文档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4"/>
              </a:rPr>
              <a:t>中国日报（TRAE×Doubao 联调）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，2026-08</a:t>
            </a:r>
            <a:endParaRPr lang="en-US" sz="800" noProof="1"/>
          </a:p>
        </p:txBody>
      </p:sp>
      <p:sp>
        <p:nvSpPr>
          <p:cNvPr id="29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03 / 24</a:t>
            </a:r>
            <a:endParaRPr lang="en-US" sz="8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LANDSCAPE · 梯队全景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核心框架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第一梯队 · 第二梯队 · 第三梯队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F2933"/>
                </a:solidFill>
                <a:latin typeface="Oranienbaum"/>
                <a:ea typeface="思源宋体"/>
              </a:rPr>
              <a:t>一张地图看清全局：三个编程梯队 + 一条办公独立赛道</a:t>
            </a:r>
            <a:endParaRPr lang="en-US" sz="22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梯队按「模型能力 × Harness 成熟度 × 生态闭环」综合划分，与价格高低并不完全对应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t1-bar"/>
          <p:cNvSpPr/>
          <p:nvPr/>
        </p:nvSpPr>
        <p:spPr>
          <a:xfrm>
            <a:off x="609600" y="1727200"/>
            <a:ext cx="10972800" cy="10922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9" name="t1-label"/>
          <p:cNvSpPr txBox="1"/>
          <p:nvPr/>
        </p:nvSpPr>
        <p:spPr>
          <a:xfrm>
            <a:off x="863600" y="1879600"/>
            <a:ext cx="1905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TIER 1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顶级国际 · 头部产品</a:t>
            </a:r>
            <a:endParaRPr lang="en-US" sz="1600" noProof="1"/>
          </a:p>
        </p:txBody>
      </p:sp>
      <p:sp>
        <p:nvSpPr>
          <p:cNvPr id="10" name="t1-items"/>
          <p:cNvSpPr txBox="1"/>
          <p:nvPr/>
        </p:nvSpPr>
        <p:spPr>
          <a:xfrm>
            <a:off x="2997200" y="1879600"/>
            <a:ext cx="8331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150" noProof="1" b="1">
                <a:solidFill>
                  <a:srgbClr val="FFFFFF"/>
                </a:solidFill>
                <a:latin typeface="MiSans"/>
                <a:ea typeface="MiSans"/>
              </a:rPr>
              <a:t>Cloud Cursor　·　OpenCode Go　·　SuperGrok　·　Codex × ChatGPT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模型与工具均为全球头部；闭环最深——Composer 无 API、Codex 无独立 SKU、Grok Build 仅限订阅用户</a:t>
            </a:r>
            <a:endParaRPr lang="en-US" sz="1600" noProof="1"/>
          </a:p>
        </p:txBody>
      </p:sp>
      <p:sp>
        <p:nvSpPr>
          <p:cNvPr id="11" name="t2-bar"/>
          <p:cNvSpPr/>
          <p:nvPr/>
        </p:nvSpPr>
        <p:spPr>
          <a:xfrm>
            <a:off x="609600" y="2971800"/>
            <a:ext cx="8382000" cy="1092200"/>
          </a:xfrm>
          <a:prstGeom prst="rect">
            <a:avLst/>
          </a:prstGeom>
          <a:solidFill>
            <a:srgbClr val="3E6486"/>
          </a:solidFill>
          <a:ln>
            <a:noFill/>
          </a:ln>
        </p:spPr>
      </p:sp>
      <p:sp>
        <p:nvSpPr>
          <p:cNvPr id="12" name="t2-label"/>
          <p:cNvSpPr txBox="1"/>
          <p:nvPr/>
        </p:nvSpPr>
        <p:spPr>
          <a:xfrm>
            <a:off x="863600" y="3124200"/>
            <a:ext cx="1778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TIER 2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国产主力 + 部分国际</a:t>
            </a:r>
            <a:endParaRPr lang="en-US" sz="1600" noProof="1"/>
          </a:p>
        </p:txBody>
      </p:sp>
      <p:sp>
        <p:nvSpPr>
          <p:cNvPr id="13" name="t2-items"/>
          <p:cNvSpPr txBox="1"/>
          <p:nvPr/>
        </p:nvSpPr>
        <p:spPr>
          <a:xfrm>
            <a:off x="2743200" y="3098800"/>
            <a:ext cx="6045200" cy="863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Kimi × Kimi Code　·　智谱 × Z Code　·　MiniMax　·　DeepSeek API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千问 Token Plan　·　火山引擎 Agent+Coding Plan　·　Gemini AI Pro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模型追平国际、价格为 1/3–1/2；普遍「开放兼容」但额度通道绑定官方工具</a:t>
            </a:r>
            <a:endParaRPr lang="en-US" sz="1600" noProof="1"/>
          </a:p>
        </p:txBody>
      </p:sp>
      <p:sp>
        <p:nvSpPr>
          <p:cNvPr id="14" name="t3-bar"/>
          <p:cNvSpPr/>
          <p:nvPr/>
        </p:nvSpPr>
        <p:spPr>
          <a:xfrm>
            <a:off x="609600" y="4216400"/>
            <a:ext cx="6604000" cy="1092200"/>
          </a:xfrm>
          <a:prstGeom prst="rect">
            <a:avLst/>
          </a:prstGeom>
          <a:solidFill>
            <a:srgbClr val="7A99B5"/>
          </a:solidFill>
          <a:ln>
            <a:noFill/>
          </a:ln>
        </p:spPr>
      </p:sp>
      <p:sp>
        <p:nvSpPr>
          <p:cNvPr id="15" name="t3-label"/>
          <p:cNvSpPr txBox="1"/>
          <p:nvPr/>
        </p:nvSpPr>
        <p:spPr>
          <a:xfrm>
            <a:off x="863600" y="4368800"/>
            <a:ext cx="1651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FFFFFF">
                    <a:alpha val="60000"/>
                  </a:srgbClr>
                </a:solidFill>
                <a:latin typeface="MiSans"/>
                <a:ea typeface="MiSans"/>
              </a:rPr>
              <a:t>TIER 3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500" noProof="1" b="1">
                <a:solidFill>
                  <a:srgbClr val="FFFFFF"/>
                </a:solidFill>
                <a:latin typeface="MiSans"/>
                <a:ea typeface="MiSans"/>
              </a:rPr>
              <a:t>新兴 · 垂直 · 轻量</a:t>
            </a:r>
            <a:endParaRPr lang="en-US" sz="1600" noProof="1"/>
          </a:p>
        </p:txBody>
      </p:sp>
      <p:sp>
        <p:nvSpPr>
          <p:cNvPr id="16" name="t3-items"/>
          <p:cNvSpPr txBox="1"/>
          <p:nvPr/>
        </p:nvSpPr>
        <p:spPr>
          <a:xfrm>
            <a:off x="2616200" y="4368800"/>
            <a:ext cx="43942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Command Code · 商汤 · 阶跃星辰</a:t>
            </a:r>
            <a:endParaRPr lang="en-US" sz="1600" noProof="1"/>
          </a:p>
          <a:p>
            <a:pPr algn="l">
              <a:lnSpc>
                <a:spcPct val="15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小米 MiMo · Ollama Pro</a:t>
            </a:r>
            <a:endParaRPr lang="en-US" sz="1600" noProof="1"/>
          </a:p>
          <a:p>
            <a:pPr algn="l">
              <a:lnSpc>
                <a:spcPct val="15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FFFFFF">
                    <a:alpha val="70196"/>
                  </a:srgbClr>
                </a:solidFill>
                <a:latin typeface="MiSans"/>
                <a:ea typeface="MiSans"/>
              </a:rPr>
              <a:t>单点突破：极致价格 / 开源生态 / 本地隐私</a:t>
            </a:r>
            <a:endParaRPr lang="en-US" sz="1600" noProof="1"/>
          </a:p>
        </p:txBody>
      </p:sp>
      <p:sp>
        <p:nvSpPr>
          <p:cNvPr id="17" name="office-block"/>
          <p:cNvSpPr/>
          <p:nvPr/>
        </p:nvSpPr>
        <p:spPr>
          <a:xfrm>
            <a:off x="7569200" y="4216400"/>
            <a:ext cx="4013200" cy="1092200"/>
          </a:xfrm>
          <a:prstGeom prst="rect">
            <a:avLst/>
          </a:prstGeom>
          <a:solidFill>
            <a:srgbClr val="F0E6D6"/>
          </a:solidFill>
          <a:ln>
            <a:noFill/>
          </a:ln>
        </p:spPr>
      </p:sp>
      <p:sp>
        <p:nvSpPr>
          <p:cNvPr id="18" name="office-accent"/>
          <p:cNvSpPr/>
          <p:nvPr/>
        </p:nvSpPr>
        <p:spPr>
          <a:xfrm>
            <a:off x="7569200" y="4216400"/>
            <a:ext cx="50800" cy="10922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19" name="office-label"/>
          <p:cNvSpPr txBox="1"/>
          <p:nvPr/>
        </p:nvSpPr>
        <p:spPr>
          <a:xfrm>
            <a:off x="7823200" y="4343400"/>
            <a:ext cx="36068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000" noProof="1" b="1">
                <a:solidFill>
                  <a:srgbClr val="B07D3A"/>
                </a:solidFill>
                <a:latin typeface="MiSans"/>
                <a:ea typeface="MiSans"/>
              </a:rPr>
              <a:t>独立赛道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200"/>
              </a:spcBef>
            </a:pPr>
            <a:r>
              <a:rPr lang="en-US" sz="1250" noProof="1" b="1">
                <a:solidFill>
                  <a:srgbClr val="1F2933"/>
                </a:solidFill>
                <a:latin typeface="MiSans"/>
                <a:ea typeface="MiSans"/>
              </a:rPr>
              <a:t>国内办公类 Agent</a:t>
            </a:r>
            <a:endParaRPr lang="en-US" sz="1600" noProof="1"/>
          </a:p>
          <a:p>
            <a:pPr algn="l">
              <a:lnSpc>
                <a:spcPct val="145000"/>
              </a:lnSpc>
              <a:spcBef>
                <a:spcPts val="200"/>
              </a:spcBef>
            </a:pPr>
            <a:r>
              <a:rPr lang="en-US" sz="900" noProof="1">
                <a:solidFill>
                  <a:srgbClr val="5C6B7A"/>
                </a:solidFill>
                <a:latin typeface="MiSans"/>
                <a:ea typeface="MiSans"/>
              </a:rPr>
              <a:t>腾讯 WorkBuddy · 豆包工作 · 千问办公 · 钉钉/飞书/企微/WPS AI</a:t>
            </a:r>
            <a:endParaRPr lang="en-US" sz="1600" noProof="1"/>
          </a:p>
        </p:txBody>
      </p:sp>
      <p:sp>
        <p:nvSpPr>
          <p:cNvPr id="20" name="axis-note"/>
          <p:cNvSpPr txBox="1"/>
          <p:nvPr/>
        </p:nvSpPr>
        <p:spPr>
          <a:xfrm>
            <a:off x="609600" y="5537200"/>
            <a:ext cx="109728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梯队划分逻辑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：第一梯队拼「模型×工具联合优化深度」，第二梯队拼「性价比 + 官方工具白名单」，第三梯队拼「单点长板」（最低价、开源、本地部署）。</a:t>
            </a:r>
            <a:endParaRPr lang="en-US" sz="100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办公类 Agent 面向知识工作者（产出 PPT/表格/纪要），与编程 Harness（产出代码与 PR）是两条计费与生态逻辑完全不同的赛道，故单独成章。</a:t>
            </a:r>
            <a:endParaRPr lang="en-US" sz="1000" noProof="1"/>
          </a:p>
        </p:txBody>
      </p:sp>
      <p:sp>
        <p:nvSpPr>
          <p:cNvPr id="21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04 / 24</a:t>
            </a:r>
            <a:endParaRPr lang="en-US" sz="8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第一梯队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第二梯队 · 第三梯队 · 办公Agent · 总结</a:t>
            </a:r>
            <a:endParaRPr lang="en-US" sz="900" noProof="1"/>
          </a:p>
        </p:txBody>
      </p:sp>
      <p:sp>
        <p:nvSpPr>
          <p:cNvPr id="3" name="chap-bignum"/>
          <p:cNvSpPr txBox="1"/>
          <p:nvPr/>
        </p:nvSpPr>
        <p:spPr>
          <a:xfrm>
            <a:off x="609600" y="1371600"/>
            <a:ext cx="3810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800" noProof="1" b="1">
                <a:solidFill>
                  <a:srgbClr val="EDF2F7"/>
                </a:solidFill>
                <a:latin typeface="Oranienbaum"/>
                <a:ea typeface="思源宋体"/>
              </a:rPr>
              <a:t>02</a:t>
            </a:r>
            <a:endParaRPr lang="en-US" sz="10800" noProof="1"/>
          </a:p>
        </p:txBody>
      </p:sp>
      <p:sp>
        <p:nvSpPr>
          <p:cNvPr id="4" name="chap-kicker"/>
          <p:cNvSpPr txBox="1"/>
          <p:nvPr/>
        </p:nvSpPr>
        <p:spPr>
          <a:xfrm>
            <a:off x="660400" y="31242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1 · 顶级国际与头部产品</a:t>
            </a:r>
            <a:endParaRPr lang="en-US" sz="1000" noProof="1"/>
          </a:p>
        </p:txBody>
      </p:sp>
      <p:sp>
        <p:nvSpPr>
          <p:cNvPr id="5" name="chap-title"/>
          <p:cNvSpPr txBox="1"/>
          <p:nvPr/>
        </p:nvSpPr>
        <p:spPr>
          <a:xfrm>
            <a:off x="609600" y="34036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noProof="1" b="1">
                <a:solidFill>
                  <a:srgbClr val="1F2933"/>
                </a:solidFill>
                <a:latin typeface="Oranienbaum"/>
                <a:ea typeface="思源宋体"/>
              </a:rPr>
              <a:t>第一梯队</a:t>
            </a:r>
            <a:endParaRPr lang="en-US" sz="3400" noProof="1"/>
          </a:p>
        </p:txBody>
      </p:sp>
      <p:sp>
        <p:nvSpPr>
          <p:cNvPr id="6" name="chap-sub"/>
          <p:cNvSpPr txBox="1"/>
          <p:nvPr/>
        </p:nvSpPr>
        <p:spPr>
          <a:xfrm>
            <a:off x="609600" y="4114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300" noProof="1">
                <a:solidFill>
                  <a:srgbClr val="5C6B7A"/>
                </a:solidFill>
                <a:latin typeface="Liter"/>
                <a:ea typeface="MiSans"/>
              </a:rPr>
              <a:t>模型与工具双双全球头部，生态闭环最深——订阅与自家 Harness 焊得最死的一组</a:t>
            </a:r>
            <a:endParaRPr lang="en-US" sz="1300" noProof="1"/>
          </a:p>
        </p:txBody>
      </p:sp>
      <p:sp>
        <p:nvSpPr>
          <p:cNvPr id="7" name="chap-bar"/>
          <p:cNvSpPr/>
          <p:nvPr/>
        </p:nvSpPr>
        <p:spPr>
          <a:xfrm>
            <a:off x="609600" y="45974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8" name="chap-list"/>
          <p:cNvSpPr txBox="1"/>
          <p:nvPr/>
        </p:nvSpPr>
        <p:spPr>
          <a:xfrm>
            <a:off x="609600" y="4953000"/>
            <a:ext cx="10414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C3D5A"/>
                </a:solidFill>
                <a:latin typeface="Liter"/>
                <a:ea typeface="MiSans"/>
              </a:rPr>
              <a:t>06</a:t>
            </a:r>
            <a:r>
              <a:rPr lang="en-US" sz="1200" noProof="1" b="1">
                <a:solidFill>
                  <a:srgbClr val="1F2933"/>
                </a:solidFill>
                <a:latin typeface="Liter"/>
                <a:ea typeface="MiSans"/>
              </a:rPr>
              <a:t>　Cloud Cursor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　云端 Agent 触发面最广的 AI IDE，自家 Composer 模型无 API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lang="en-US" sz="1200" noProof="1" b="1">
                <a:solidFill>
                  <a:srgbClr val="1C3D5A"/>
                </a:solidFill>
                <a:latin typeface="Liter"/>
                <a:ea typeface="MiSans"/>
              </a:rPr>
              <a:t>07</a:t>
            </a:r>
            <a:r>
              <a:rPr lang="en-US" sz="1200" noProof="1" b="1">
                <a:solidFill>
                  <a:srgbClr val="1F2933"/>
                </a:solidFill>
                <a:latin typeface="Liter"/>
                <a:ea typeface="MiSans"/>
              </a:rPr>
              <a:t>　OpenCode Go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　开源终端 Agent 的平价订阅通道，梯队中唯一的「反闭环」玩家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lang="en-US" sz="1200" noProof="1" b="1">
                <a:solidFill>
                  <a:srgbClr val="1C3D5A"/>
                </a:solidFill>
                <a:latin typeface="Liter"/>
                <a:ea typeface="MiSans"/>
              </a:rPr>
              <a:t>08</a:t>
            </a:r>
            <a:r>
              <a:rPr lang="en-US" sz="1200" noProof="1" b="1">
                <a:solidFill>
                  <a:srgbClr val="1F2933"/>
                </a:solidFill>
                <a:latin typeface="Liter"/>
                <a:ea typeface="MiSans"/>
              </a:rPr>
              <a:t>　SuperGrok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　xAI 的高价订阅，Grok Build 仅限订阅用户，附赠 Cursor Ultra 的联盟式闭环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lang="en-US" sz="1200" noProof="1" b="1">
                <a:solidFill>
                  <a:srgbClr val="1C3D5A"/>
                </a:solidFill>
                <a:latin typeface="Liter"/>
                <a:ea typeface="MiSans"/>
              </a:rPr>
              <a:t>09</a:t>
            </a:r>
            <a:r>
              <a:rPr lang="en-US" sz="1200" noProof="1" b="1">
                <a:solidFill>
                  <a:srgbClr val="1F2933"/>
                </a:solidFill>
                <a:latin typeface="Liter"/>
                <a:ea typeface="MiSans"/>
              </a:rPr>
              <a:t>　Codex × ChatGPT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　没有独立 SKU 的编程工具，焊死在每一档 ChatGPT 会员里</a:t>
            </a:r>
            <a:endParaRPr lang="en-US" sz="1600" noProof="1"/>
          </a:p>
        </p:txBody>
      </p:sp>
      <p:sp>
        <p:nvSpPr>
          <p:cNvPr id="9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05 / 24</a:t>
            </a:r>
            <a:endParaRPr lang="en-US" sz="8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1 · 第一梯队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第一梯队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第二梯队 · 第三梯队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F2933"/>
                </a:solidFill>
                <a:latin typeface="Oranienbaum"/>
                <a:ea typeface="思源宋体"/>
              </a:rPr>
              <a:t>Composer 2.5 无公开 API：订阅是唯一入口</a:t>
            </a:r>
            <a:endParaRPr lang="en-US" sz="22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Pro $20 解锁 Composer 2.5 与触发面业界最广的 Cloud Agents；第三方模型按 API 价计费，烧钱最快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prod-name"/>
          <p:cNvSpPr txBox="1"/>
          <p:nvPr/>
        </p:nvSpPr>
        <p:spPr>
          <a:xfrm>
            <a:off x="609600" y="15748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C3D5A"/>
                </a:solidFill>
                <a:latin typeface="Liter"/>
                <a:ea typeface="Liter"/>
              </a:rPr>
              <a:t>Cloud Cursor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5C6B7A"/>
                </a:solidFill>
                <a:latin typeface="MiSans"/>
                <a:ea typeface="MiSans"/>
              </a:rPr>
              <a:t>Anysphere · AI 原生 IDE 与云端 Agent 平台</a:t>
            </a:r>
            <a:endParaRPr lang="en-US" sz="1600" noProof="1"/>
          </a:p>
        </p:txBody>
      </p:sp>
      <p:sp>
        <p:nvSpPr>
          <p:cNvPr id="9" name="left-h1"/>
          <p:cNvSpPr txBox="1"/>
          <p:nvPr/>
        </p:nvSpPr>
        <p:spPr>
          <a:xfrm>
            <a:off x="609600" y="233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订阅档位与价格</a:t>
            </a:r>
            <a:endParaRPr lang="en-US" sz="1350" noProof="1"/>
          </a:p>
        </p:txBody>
      </p:sp>
      <p:graphicFrame>
        <p:nvGraphicFramePr>
          <p:cNvPr id="10" name="price-table"/>
          <p:cNvGraphicFramePr>
            <a:graphicFrameLocks noGrp="1"/>
          </p:cNvGraphicFramePr>
          <p:nvPr/>
        </p:nvGraphicFramePr>
        <p:xfrm>
          <a:off x="609600" y="2590800"/>
          <a:ext cx="3810000" cy="1828800"/>
        </p:xfrm>
        <a:graphic>
          <a:graphicData uri="http://schemas.openxmlformats.org/drawingml/2006/table">
            <a:tbl>
              <a:tblPr/>
              <a:tblGrid>
                <a:gridCol w="800100"/>
                <a:gridCol w="1219200"/>
                <a:gridCol w="1790700"/>
              </a:tblGrid>
              <a:tr h="43891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档位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价格/月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要点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43891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Hobby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免费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体验额度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3891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$20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自家池＋$20 第三方用量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3891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Pro+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$60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年付$48·用量加量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3891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Ultra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$200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自家池＋$400 第三方用量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3891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Teams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$40–120/席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团队管理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left-h2"/>
          <p:cNvSpPr txBox="1"/>
          <p:nvPr/>
        </p:nvSpPr>
        <p:spPr>
          <a:xfrm>
            <a:off x="609600" y="4572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独特卖点与短板</a:t>
            </a:r>
            <a:endParaRPr lang="en-US" sz="1350" noProof="1"/>
          </a:p>
        </p:txBody>
      </p:sp>
      <p:sp>
        <p:nvSpPr>
          <p:cNvPr id="12" name="left-usp"/>
          <p:cNvSpPr txBox="1"/>
          <p:nvPr/>
        </p:nvSpPr>
        <p:spPr>
          <a:xfrm>
            <a:off x="609600" y="4826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卖点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：全模型一站接入，云端 Agent 触发面最广；年付约 8 折（Pro $16 / Ultra $160）。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短板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：年内三改计费、超额账单易失控；Composer 无 API 进不了 CI。</a:t>
            </a:r>
            <a:endParaRPr lang="en-US" sz="950" noProof="1"/>
          </a:p>
        </p:txBody>
      </p:sp>
      <p:sp>
        <p:nvSpPr>
          <p:cNvPr id="13" name="r1-h"/>
          <p:cNvSpPr txBox="1"/>
          <p:nvPr/>
        </p:nvSpPr>
        <p:spPr>
          <a:xfrm>
            <a:off x="4775200" y="15748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模型能力</a:t>
            </a:r>
            <a:endParaRPr lang="en-US" sz="1350" noProof="1"/>
          </a:p>
        </p:txBody>
      </p:sp>
      <p:sp>
        <p:nvSpPr>
          <p:cNvPr id="14" name="r1-b"/>
          <p:cNvSpPr txBox="1"/>
          <p:nvPr/>
        </p:nvSpPr>
        <p:spPr>
          <a:xfrm>
            <a:off x="4775200" y="1828800"/>
            <a:ext cx="6807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自家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Composer 2.5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（基于 Kimi K2.5 基座＋自有 RL 后训练）SWE-Bench Multilingual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79.8%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，价格约为 Opus 的 1/10；Grok 4.5/4.6 同步入池。第三方 Claude / GPT-5.x / Gemini 按 API 价计费，额度烧得飞快。</a:t>
            </a:r>
            <a:endParaRPr lang="en-US" sz="1100" noProof="1"/>
          </a:p>
        </p:txBody>
      </p:sp>
      <p:sp>
        <p:nvSpPr>
          <p:cNvPr id="15" name="r1-line"/>
          <p:cNvSpPr/>
          <p:nvPr/>
        </p:nvSpPr>
        <p:spPr>
          <a:xfrm>
            <a:off x="4775200" y="274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6" name="r2-h"/>
          <p:cNvSpPr txBox="1"/>
          <p:nvPr/>
        </p:nvSpPr>
        <p:spPr>
          <a:xfrm>
            <a:off x="4775200" y="289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配套 Harness 工具　</a:t>
            </a:r>
            <a:r>
              <a:rPr lang="en-US" sz="1350" noProof="1" b="1">
                <a:solidFill>
                  <a:srgbClr val="B07D3A"/>
                </a:solidFill>
                <a:latin typeface="Liter"/>
                <a:ea typeface="MiSans"/>
              </a:rPr>
              <a:t>●●●●●</a:t>
            </a:r>
            <a:endParaRPr lang="en-US" sz="1350" noProof="1"/>
          </a:p>
        </p:txBody>
      </p:sp>
      <p:sp>
        <p:nvSpPr>
          <p:cNvPr id="17" name="r2-b"/>
          <p:cNvSpPr txBox="1"/>
          <p:nvPr/>
        </p:nvSpPr>
        <p:spPr>
          <a:xfrm>
            <a:off x="4775200" y="3149600"/>
            <a:ext cx="6807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桌面 IDE（Agents Window 多 Agent 并行）＋ Cursor CLI ＋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Cloud Agents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（Slack / GitHub PR / Linear / 手机 / API 触发，触发面业界最广）＋ Bugbot 自动 PR 审查（$1–1.5/次）。</a:t>
            </a:r>
            <a:endParaRPr lang="en-US" sz="1100" noProof="1"/>
          </a:p>
        </p:txBody>
      </p:sp>
      <p:sp>
        <p:nvSpPr>
          <p:cNvPr id="18" name="r2-line"/>
          <p:cNvSpPr/>
          <p:nvPr/>
        </p:nvSpPr>
        <p:spPr>
          <a:xfrm>
            <a:off x="4775200" y="401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9" name="r3-h"/>
          <p:cNvSpPr txBox="1"/>
          <p:nvPr/>
        </p:nvSpPr>
        <p:spPr>
          <a:xfrm>
            <a:off x="4775200" y="416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生态闭环与适合场景</a:t>
            </a:r>
            <a:endParaRPr lang="en-US" sz="1350" noProof="1"/>
          </a:p>
        </p:txBody>
      </p:sp>
      <p:sp>
        <p:nvSpPr>
          <p:cNvPr id="20" name="r3-b"/>
          <p:cNvSpPr txBox="1"/>
          <p:nvPr/>
        </p:nvSpPr>
        <p:spPr>
          <a:xfrm>
            <a:off x="4775200" y="4419600"/>
            <a:ext cx="6807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闭环 </a:t>
            </a:r>
            <a:r>
              <a:rPr lang="en-US" sz="1100" noProof="1" b="1">
                <a:solidFill>
                  <a:srgbClr val="B07D3A"/>
                </a:solidFill>
                <a:latin typeface="Liter"/>
                <a:ea typeface="MiSans"/>
              </a:rPr>
              <a:t>★★★★★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：Composer 2.5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仅在 Cursor 内可用、无公共 API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，代理调用违反 ToS 即封号。适合需要多 Agent 并行与云端委派的全栈团队——订阅即接入整套模型池与 Agent 网络。</a:t>
            </a:r>
            <a:endParaRPr lang="en-US" sz="1100" noProof="1"/>
          </a:p>
        </p:txBody>
      </p:sp>
      <p:sp>
        <p:nvSpPr>
          <p:cNvPr id="21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2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MiSans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3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$20 买的不是模型额度，而是「Composer 模型池＋云端 Agent 网络」的入场券；若拿订阅去烧第三方 API 价模型，等于把 Cursor 用成了转售商。</a:t>
            </a:r>
            <a:endParaRPr lang="en-US" sz="1100" noProof="1"/>
          </a:p>
        </p:txBody>
      </p:sp>
      <p:sp>
        <p:nvSpPr>
          <p:cNvPr id="24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poster.ly Cursor 指南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Digital Applied（Composer 2.5 发布）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（2026-08）</a:t>
            </a:r>
            <a:endParaRPr lang="en-US" sz="800" noProof="1"/>
          </a:p>
        </p:txBody>
      </p:sp>
      <p:sp>
        <p:nvSpPr>
          <p:cNvPr id="25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06 / 24</a:t>
            </a:r>
            <a:endParaRPr lang="en-US" sz="8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1 · 第一梯队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第一梯队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第二梯队 · 第三梯队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F2933"/>
                </a:solidFill>
                <a:latin typeface="Oranienbaum"/>
                <a:ea typeface="思源宋体"/>
              </a:rPr>
              <a:t>唯一的无锁定逃生舱：免费开源，代价是失去订阅补贴价</a:t>
            </a:r>
            <a:endParaRPr lang="en-US" sz="22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工具 MIT 开源永久免费，OpenCode Go $10 只是「模型补给包」——2026.1 后 Claude 订阅在这里已无法使用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prod-name"/>
          <p:cNvSpPr txBox="1"/>
          <p:nvPr/>
        </p:nvSpPr>
        <p:spPr>
          <a:xfrm>
            <a:off x="609600" y="15748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C3D5A"/>
                </a:solidFill>
                <a:latin typeface="Liter"/>
                <a:ea typeface="Liter"/>
              </a:rPr>
              <a:t>OpenCode Go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5C6B7A"/>
                </a:solidFill>
                <a:latin typeface="MiSans"/>
                <a:ea typeface="MiSans"/>
              </a:rPr>
              <a:t>sst / anomalyco · 开源终端 Agent 的订阅通道</a:t>
            </a:r>
            <a:endParaRPr lang="en-US" sz="1600" noProof="1"/>
          </a:p>
        </p:txBody>
      </p:sp>
      <p:sp>
        <p:nvSpPr>
          <p:cNvPr id="9" name="left-h1"/>
          <p:cNvSpPr txBox="1"/>
          <p:nvPr/>
        </p:nvSpPr>
        <p:spPr>
          <a:xfrm>
            <a:off x="609600" y="233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订阅档位与价格</a:t>
            </a:r>
            <a:endParaRPr lang="en-US" sz="1350" noProof="1"/>
          </a:p>
        </p:txBody>
      </p:sp>
      <p:graphicFrame>
        <p:nvGraphicFramePr>
          <p:cNvPr id="10" name="price-table"/>
          <p:cNvGraphicFramePr>
            <a:graphicFrameLocks noGrp="1"/>
          </p:cNvGraphicFramePr>
          <p:nvPr/>
        </p:nvGraphicFramePr>
        <p:xfrm>
          <a:off x="609600" y="2590800"/>
          <a:ext cx="3810000" cy="1651000"/>
        </p:xfrm>
        <a:graphic>
          <a:graphicData uri="http://schemas.openxmlformats.org/drawingml/2006/table">
            <a:tbl>
              <a:tblPr/>
              <a:tblGrid>
                <a:gridCol w="1219200"/>
                <a:gridCol w="1104900"/>
                <a:gridCol w="1485900"/>
              </a:tblGrid>
              <a:tr h="42926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档位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价格/月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要点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42926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工具本体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免费（MIT）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GitHub ~178K stars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2926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OpenCode Go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$10（首月$5）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限额 $12/5h·$30/周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2926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OpenCode Zen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按量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50+ 模型网关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2926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OpenCode Black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$200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首发即售罄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left-h2"/>
          <p:cNvSpPr txBox="1"/>
          <p:nvPr/>
        </p:nvSpPr>
        <p:spPr>
          <a:xfrm>
            <a:off x="609600" y="4572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独特卖点与短板</a:t>
            </a:r>
            <a:endParaRPr lang="en-US" sz="1350" noProof="1"/>
          </a:p>
        </p:txBody>
      </p:sp>
      <p:sp>
        <p:nvSpPr>
          <p:cNvPr id="12" name="left-usp"/>
          <p:cNvSpPr txBox="1"/>
          <p:nvPr/>
        </p:nvSpPr>
        <p:spPr>
          <a:xfrm>
            <a:off x="609600" y="4826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卖点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：$0 可长期运行（Zen 免费模型＋本地 Ollama）、无锁定。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短板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：7000+ open issues，实测同任务比 Claude Code 慢 78%。</a:t>
            </a:r>
            <a:endParaRPr lang="en-US" sz="950" noProof="1"/>
          </a:p>
        </p:txBody>
      </p:sp>
      <p:sp>
        <p:nvSpPr>
          <p:cNvPr id="13" name="r1-h"/>
          <p:cNvSpPr txBox="1"/>
          <p:nvPr/>
        </p:nvSpPr>
        <p:spPr>
          <a:xfrm>
            <a:off x="4775200" y="15748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模型能力</a:t>
            </a:r>
            <a:endParaRPr lang="en-US" sz="1350" noProof="1"/>
          </a:p>
        </p:txBody>
      </p:sp>
      <p:sp>
        <p:nvSpPr>
          <p:cNvPr id="14" name="r1-b"/>
          <p:cNvSpPr txBox="1"/>
          <p:nvPr/>
        </p:nvSpPr>
        <p:spPr>
          <a:xfrm>
            <a:off x="4775200" y="1828800"/>
            <a:ext cx="6807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模型中立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：75+ 提供商全接入，per-agent 模型路由——便宜模型跑探索、强模型跑构建，本地 Ollama 零成本。Go 档含 Kimi K3 / GLM-5.2 / Grok 4.5 / DeepSeek V4 / GPT-5.6 Luna，月限额 $60。</a:t>
            </a:r>
            <a:endParaRPr lang="en-US" sz="1100" noProof="1"/>
          </a:p>
        </p:txBody>
      </p:sp>
      <p:sp>
        <p:nvSpPr>
          <p:cNvPr id="15" name="r1-line"/>
          <p:cNvSpPr/>
          <p:nvPr/>
        </p:nvSpPr>
        <p:spPr>
          <a:xfrm>
            <a:off x="4775200" y="274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6" name="r2-h"/>
          <p:cNvSpPr txBox="1"/>
          <p:nvPr/>
        </p:nvSpPr>
        <p:spPr>
          <a:xfrm>
            <a:off x="4775200" y="289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配套 Harness 工具　</a:t>
            </a:r>
            <a:r>
              <a:rPr lang="en-US" sz="1350" noProof="1" b="1">
                <a:solidFill>
                  <a:srgbClr val="B07D3A"/>
                </a:solidFill>
                <a:latin typeface="Liter"/>
                <a:ea typeface="MiSans"/>
              </a:rPr>
              <a:t>●●●○○</a:t>
            </a:r>
            <a:endParaRPr lang="en-US" sz="1350" noProof="1"/>
          </a:p>
        </p:txBody>
      </p:sp>
      <p:sp>
        <p:nvSpPr>
          <p:cNvPr id="17" name="r2-b"/>
          <p:cNvSpPr txBox="1"/>
          <p:nvPr/>
        </p:nvSpPr>
        <p:spPr>
          <a:xfrm>
            <a:off x="4775200" y="3149600"/>
            <a:ext cx="6807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终端 TUI ＋ VS Code 插件 ＋ headless / GitHub Actions，可进 CI。打磨度不及 Claude Code——7000+ open issues 悬顶，成熟度只能给中评。</a:t>
            </a:r>
            <a:endParaRPr lang="en-US" sz="1100" noProof="1"/>
          </a:p>
        </p:txBody>
      </p:sp>
      <p:sp>
        <p:nvSpPr>
          <p:cNvPr id="18" name="r2-line"/>
          <p:cNvSpPr/>
          <p:nvPr/>
        </p:nvSpPr>
        <p:spPr>
          <a:xfrm>
            <a:off x="4775200" y="401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9" name="r3-h"/>
          <p:cNvSpPr txBox="1"/>
          <p:nvPr/>
        </p:nvSpPr>
        <p:spPr>
          <a:xfrm>
            <a:off x="4775200" y="416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生态闭环与适合场景</a:t>
            </a:r>
            <a:endParaRPr lang="en-US" sz="1350" noProof="1"/>
          </a:p>
        </p:txBody>
      </p:sp>
      <p:sp>
        <p:nvSpPr>
          <p:cNvPr id="20" name="r3-b"/>
          <p:cNvSpPr txBox="1"/>
          <p:nvPr/>
        </p:nvSpPr>
        <p:spPr>
          <a:xfrm>
            <a:off x="4775200" y="4419600"/>
            <a:ext cx="6807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闭环 </a:t>
            </a:r>
            <a:r>
              <a:rPr lang="en-US" sz="1100" noProof="1" b="1">
                <a:solidFill>
                  <a:srgbClr val="B07D3A"/>
                </a:solidFill>
                <a:latin typeface="Liter"/>
                <a:ea typeface="MiSans"/>
              </a:rPr>
              <a:t>★☆☆☆☆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：四家中唯一无自家模型的玩家，也是闭环趋势的受害者——2026.1 Anthropic 封杀第三方 OAuth 后，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Claude Pro/Max 订阅无法在 opencode 内使用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。适合拒绝锁定、愿意自己折腾模型组合的用户。</a:t>
            </a:r>
            <a:endParaRPr lang="en-US" sz="1100" noProof="1"/>
          </a:p>
        </p:txBody>
      </p:sp>
      <p:sp>
        <p:nvSpPr>
          <p:cNvPr id="21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2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MiSans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3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OpenCode 是本组的反例：当你不想被任何「订阅 × 工具」绑定时，它是唯一的逃生舱——代价是再也买不到订阅补贴出来的便宜模型。</a:t>
            </a:r>
            <a:endParaRPr lang="en-US" sz="1100" noProof="1"/>
          </a:p>
        </p:txBody>
      </p:sp>
      <p:sp>
        <p:nvSpPr>
          <p:cNvPr id="24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OpenCode Zen 官方文档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CodeAgentSwarm 定价指南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（2026-08）</a:t>
            </a:r>
            <a:endParaRPr lang="en-US" sz="800" noProof="1"/>
          </a:p>
        </p:txBody>
      </p:sp>
      <p:sp>
        <p:nvSpPr>
          <p:cNvPr id="25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07 / 24</a:t>
            </a:r>
            <a:endParaRPr lang="en-US" sz="8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1 · 第一梯队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第一梯队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第二梯队 · 第三梯队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F2933"/>
                </a:solidFill>
                <a:latin typeface="Oranienbaum"/>
                <a:ea typeface="思源宋体"/>
              </a:rPr>
              <a:t>Grok Build 绑死订阅：模型低价铺路，订阅收网</a:t>
            </a:r>
            <a:endParaRPr lang="en-US" sz="22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SuperGrok $30 起步才解锁 Grok Build，Heavy $300（前 3 月促销 $99）再送 Cursor Ultra——低价 API 铺路、订阅收网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prod-name"/>
          <p:cNvSpPr txBox="1"/>
          <p:nvPr/>
        </p:nvSpPr>
        <p:spPr>
          <a:xfrm>
            <a:off x="609600" y="15748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C3D5A"/>
                </a:solidFill>
                <a:latin typeface="Liter"/>
                <a:ea typeface="Liter"/>
              </a:rPr>
              <a:t>SuperGrok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5C6B7A"/>
                </a:solidFill>
                <a:latin typeface="MiSans"/>
                <a:ea typeface="MiSans"/>
              </a:rPr>
              <a:t>xAI · 订阅用户专享 Grok Build 编程入口</a:t>
            </a:r>
            <a:endParaRPr lang="en-US" sz="1600" noProof="1"/>
          </a:p>
        </p:txBody>
      </p:sp>
      <p:sp>
        <p:nvSpPr>
          <p:cNvPr id="9" name="left-h1"/>
          <p:cNvSpPr txBox="1"/>
          <p:nvPr/>
        </p:nvSpPr>
        <p:spPr>
          <a:xfrm>
            <a:off x="609600" y="233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订阅档位与价格</a:t>
            </a:r>
            <a:endParaRPr lang="en-US" sz="1350" noProof="1"/>
          </a:p>
        </p:txBody>
      </p:sp>
      <p:graphicFrame>
        <p:nvGraphicFramePr>
          <p:cNvPr id="10" name="price-table"/>
          <p:cNvGraphicFramePr>
            <a:graphicFrameLocks noGrp="1"/>
          </p:cNvGraphicFramePr>
          <p:nvPr/>
        </p:nvGraphicFramePr>
        <p:xfrm>
          <a:off x="609600" y="2590800"/>
          <a:ext cx="3810000" cy="1651000"/>
        </p:xfrm>
        <a:graphic>
          <a:graphicData uri="http://schemas.openxmlformats.org/drawingml/2006/table">
            <a:tbl>
              <a:tblPr/>
              <a:tblGrid>
                <a:gridCol w="1257300"/>
                <a:gridCol w="1219200"/>
                <a:gridCol w="1333500"/>
              </a:tblGrid>
              <a:tr h="42926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档位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价格/月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要点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42926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SuperGrok Lite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$10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轻量体验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2926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SuperGrok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$30（$300/年）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含 Grok Build Beta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2926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Heavy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$300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送 Cursor Ultra 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2926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X Premium+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$40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社交平台会员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left-h2"/>
          <p:cNvSpPr txBox="1"/>
          <p:nvPr/>
        </p:nvSpPr>
        <p:spPr>
          <a:xfrm>
            <a:off x="609600" y="4572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独特卖点与短板</a:t>
            </a:r>
            <a:endParaRPr lang="en-US" sz="1350" noProof="1"/>
          </a:p>
        </p:txBody>
      </p:sp>
      <p:sp>
        <p:nvSpPr>
          <p:cNvPr id="12" name="left-usp"/>
          <p:cNvSpPr txBox="1"/>
          <p:nvPr/>
        </p:nvSpPr>
        <p:spPr>
          <a:xfrm>
            <a:off x="609600" y="4826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卖点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：API 价格极低（$0.20/$1.50 每百万）；worktree 并行架构独特。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短板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：编程能力落后 Claude/GPT 半个身位；完整编程入口最贵（$300/月起）。</a:t>
            </a:r>
            <a:endParaRPr lang="en-US" sz="950" noProof="1"/>
          </a:p>
        </p:txBody>
      </p:sp>
      <p:sp>
        <p:nvSpPr>
          <p:cNvPr id="13" name="r1-h"/>
          <p:cNvSpPr txBox="1"/>
          <p:nvPr/>
        </p:nvSpPr>
        <p:spPr>
          <a:xfrm>
            <a:off x="4775200" y="15748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模型能力</a:t>
            </a:r>
            <a:endParaRPr lang="en-US" sz="1350" noProof="1"/>
          </a:p>
        </p:txBody>
      </p:sp>
      <p:sp>
        <p:nvSpPr>
          <p:cNvPr id="14" name="r1-b"/>
          <p:cNvSpPr txBox="1"/>
          <p:nvPr/>
        </p:nvSpPr>
        <p:spPr>
          <a:xfrm>
            <a:off x="4775200" y="1828800"/>
            <a:ext cx="6807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grok-code-fast-1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：SWE-Bench Verified 70.8%，API 仅 $0.20/$1.50 每百万；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Grok 4.5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 Terminal-Bench 83.3%，定位接近 Opus 但价格是零头；Grok 4 Heavy 多 Agent、AIME 近满分。订阅不含 API 额度。</a:t>
            </a:r>
            <a:endParaRPr lang="en-US" sz="1100" noProof="1"/>
          </a:p>
        </p:txBody>
      </p:sp>
      <p:sp>
        <p:nvSpPr>
          <p:cNvPr id="15" name="r1-line"/>
          <p:cNvSpPr/>
          <p:nvPr/>
        </p:nvSpPr>
        <p:spPr>
          <a:xfrm>
            <a:off x="4775200" y="274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6" name="r2-h"/>
          <p:cNvSpPr txBox="1"/>
          <p:nvPr/>
        </p:nvSpPr>
        <p:spPr>
          <a:xfrm>
            <a:off x="4775200" y="289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配套 Harness 工具　</a:t>
            </a:r>
            <a:r>
              <a:rPr lang="en-US" sz="1350" noProof="1" b="1">
                <a:solidFill>
                  <a:srgbClr val="B07D3A"/>
                </a:solidFill>
                <a:latin typeface="Liter"/>
                <a:ea typeface="MiSans"/>
              </a:rPr>
              <a:t>●●●○○</a:t>
            </a:r>
            <a:endParaRPr lang="en-US" sz="1350" noProof="1"/>
          </a:p>
        </p:txBody>
      </p:sp>
      <p:sp>
        <p:nvSpPr>
          <p:cNvPr id="17" name="r2-b"/>
          <p:cNvSpPr txBox="1"/>
          <p:nvPr/>
        </p:nvSpPr>
        <p:spPr>
          <a:xfrm>
            <a:off x="4775200" y="3149600"/>
            <a:ext cx="6807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Grok Build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（终端 CLI，2026.5 beta）：plan mode、8 个并行子 Agent 各占独立 git worktree、Arena 多模型对比、2M 上下文。仅终端无 IDE（VS Code 插件规划中）；最初仅 Heavy 可用，后下放 SuperGrok。</a:t>
            </a:r>
            <a:endParaRPr lang="en-US" sz="1100" noProof="1"/>
          </a:p>
        </p:txBody>
      </p:sp>
      <p:sp>
        <p:nvSpPr>
          <p:cNvPr id="18" name="r2-line"/>
          <p:cNvSpPr/>
          <p:nvPr/>
        </p:nvSpPr>
        <p:spPr>
          <a:xfrm>
            <a:off x="4775200" y="401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9" name="r3-h"/>
          <p:cNvSpPr txBox="1"/>
          <p:nvPr/>
        </p:nvSpPr>
        <p:spPr>
          <a:xfrm>
            <a:off x="4775200" y="416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生态闭环与适合场景</a:t>
            </a:r>
            <a:endParaRPr lang="en-US" sz="1350" noProof="1"/>
          </a:p>
        </p:txBody>
      </p:sp>
      <p:sp>
        <p:nvSpPr>
          <p:cNvPr id="20" name="r3-b"/>
          <p:cNvSpPr txBox="1"/>
          <p:nvPr/>
        </p:nvSpPr>
        <p:spPr>
          <a:xfrm>
            <a:off x="4775200" y="4419600"/>
            <a:ext cx="6807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闭环 </a:t>
            </a:r>
            <a:r>
              <a:rPr lang="en-US" sz="1100" noProof="1" b="1">
                <a:solidFill>
                  <a:srgbClr val="B07D3A"/>
                </a:solidFill>
                <a:latin typeface="Liter"/>
                <a:ea typeface="MiSans"/>
              </a:rPr>
              <a:t>★★★★☆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：Grok Build 只跑自家模型且必须订阅；但呈「联盟式闭环」——Heavy 送 Cursor Ultra，grok-code-fast-1 反向铺进 Copilot / Cursor / opencode 抢份额。适合追求极致性价比的终端流重度用户。</a:t>
            </a:r>
            <a:endParaRPr lang="en-US" sz="1100" noProof="1"/>
          </a:p>
        </p:txBody>
      </p:sp>
      <p:sp>
        <p:nvSpPr>
          <p:cNvPr id="21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2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MiSans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3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xAI 的打法是「模型低价铺路、订阅收网」：想要 Grok Build 的 8 路并行 Agent 体验，必须先跨过 SuperGrok 门槛——模型可以贱卖，入口绝不免费。</a:t>
            </a:r>
            <a:endParaRPr lang="en-US" sz="1100" noProof="1"/>
          </a:p>
        </p:txBody>
      </p:sp>
      <p:sp>
        <p:nvSpPr>
          <p:cNvPr id="24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AI Business Weekly（Grok 定价）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Oflight（Grok Build 评测）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（2026-08）</a:t>
            </a:r>
            <a:endParaRPr lang="en-US" sz="800" noProof="1"/>
          </a:p>
        </p:txBody>
      </p:sp>
      <p:sp>
        <p:nvSpPr>
          <p:cNvPr id="25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08 / 24</a:t>
            </a:r>
            <a:endParaRPr lang="en-US" sz="8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1 · 第一梯队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第一梯队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第二梯队 · 第三梯队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F2933"/>
                </a:solidFill>
                <a:latin typeface="Oranienbaum"/>
                <a:ea typeface="思源宋体"/>
              </a:rPr>
              <a:t>Codex 没有独立售价：ChatGPT 会员本身就是门票</a:t>
            </a:r>
            <a:endParaRPr lang="en-US" sz="22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四家中最彻底的「订阅即入口」——从免费档到 Pro，每一档 ChatGPT 会员都内置 Codex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prod-name"/>
          <p:cNvSpPr txBox="1"/>
          <p:nvPr/>
        </p:nvSpPr>
        <p:spPr>
          <a:xfrm>
            <a:off x="609600" y="15748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C3D5A"/>
                </a:solidFill>
                <a:latin typeface="Liter"/>
                <a:ea typeface="Liter"/>
              </a:rPr>
              <a:t>Codex × ChatGPT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5C6B7A"/>
                </a:solidFill>
                <a:latin typeface="MiSans"/>
                <a:ea typeface="MiSans"/>
              </a:rPr>
              <a:t>OpenAI · 无独立 SKU，捆绑在每一档会员里</a:t>
            </a:r>
            <a:endParaRPr lang="en-US" sz="1600" noProof="1"/>
          </a:p>
        </p:txBody>
      </p:sp>
      <p:sp>
        <p:nvSpPr>
          <p:cNvPr id="9" name="left-h1"/>
          <p:cNvSpPr txBox="1"/>
          <p:nvPr/>
        </p:nvSpPr>
        <p:spPr>
          <a:xfrm>
            <a:off x="609600" y="233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订阅档位与价格</a:t>
            </a:r>
            <a:endParaRPr lang="en-US" sz="1350" noProof="1"/>
          </a:p>
        </p:txBody>
      </p:sp>
      <p:graphicFrame>
        <p:nvGraphicFramePr>
          <p:cNvPr id="10" name="price-table"/>
          <p:cNvGraphicFramePr>
            <a:graphicFrameLocks noGrp="1"/>
          </p:cNvGraphicFramePr>
          <p:nvPr/>
        </p:nvGraphicFramePr>
        <p:xfrm>
          <a:off x="609600" y="2590800"/>
          <a:ext cx="3810000" cy="1828800"/>
        </p:xfrm>
        <a:graphic>
          <a:graphicData uri="http://schemas.openxmlformats.org/drawingml/2006/table">
            <a:tbl>
              <a:tblPr/>
              <a:tblGrid>
                <a:gridCol w="876300"/>
                <a:gridCol w="952500"/>
                <a:gridCol w="1981200"/>
              </a:tblGrid>
              <a:tr h="43891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档位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价格/月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要点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43891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Free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可体验 Codex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3891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Go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$8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轻量额度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3891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Plus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$20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全端＋GPT-5.6 全家桶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3891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$100–200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高额度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38912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Business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$25/席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团队协作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left-h2"/>
          <p:cNvSpPr txBox="1"/>
          <p:nvPr/>
        </p:nvSpPr>
        <p:spPr>
          <a:xfrm>
            <a:off x="609600" y="4572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独特卖点与短板</a:t>
            </a:r>
            <a:endParaRPr lang="en-US" sz="1350" noProof="1"/>
          </a:p>
        </p:txBody>
      </p:sp>
      <p:sp>
        <p:nvSpPr>
          <p:cNvPr id="12" name="left-usp"/>
          <p:cNvSpPr txBox="1"/>
          <p:nvPr/>
        </p:nvSpPr>
        <p:spPr>
          <a:xfrm>
            <a:off x="609600" y="4826000"/>
            <a:ext cx="381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卖点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：全球最强编程模型＋全端覆盖＋免费档可体验。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短板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：双轨限额（5 小时窗＋周上限）不透明；中国大陆支付摩擦大。</a:t>
            </a:r>
            <a:endParaRPr lang="en-US" sz="950" noProof="1"/>
          </a:p>
        </p:txBody>
      </p:sp>
      <p:sp>
        <p:nvSpPr>
          <p:cNvPr id="13" name="r1-h"/>
          <p:cNvSpPr txBox="1"/>
          <p:nvPr/>
        </p:nvSpPr>
        <p:spPr>
          <a:xfrm>
            <a:off x="4775200" y="15748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模型能力</a:t>
            </a:r>
            <a:endParaRPr lang="en-US" sz="1350" noProof="1"/>
          </a:p>
        </p:txBody>
      </p:sp>
      <p:sp>
        <p:nvSpPr>
          <p:cNvPr id="14" name="r1-b"/>
          <p:cNvSpPr txBox="1"/>
          <p:nvPr/>
        </p:nvSpPr>
        <p:spPr>
          <a:xfrm>
            <a:off x="4775200" y="1828800"/>
            <a:ext cx="6807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GPT-5.6 Sol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：Coding Agent Index 80 分全球第一（在 Codex harness 中测得）；Terra $2/$12、Luna $0.20/$1.20 每百万，全系 1.05M 上下文。跑分即在自家工具内取得——模型与 harness 联合优化的样板。</a:t>
            </a:r>
            <a:endParaRPr lang="en-US" sz="1100" noProof="1"/>
          </a:p>
        </p:txBody>
      </p:sp>
      <p:sp>
        <p:nvSpPr>
          <p:cNvPr id="15" name="r1-line"/>
          <p:cNvSpPr/>
          <p:nvPr/>
        </p:nvSpPr>
        <p:spPr>
          <a:xfrm>
            <a:off x="4775200" y="274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6" name="r2-h"/>
          <p:cNvSpPr txBox="1"/>
          <p:nvPr/>
        </p:nvSpPr>
        <p:spPr>
          <a:xfrm>
            <a:off x="4775200" y="289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配套 Harness 工具　</a:t>
            </a:r>
            <a:r>
              <a:rPr lang="en-US" sz="1350" noProof="1" b="1">
                <a:solidFill>
                  <a:srgbClr val="B07D3A"/>
                </a:solidFill>
                <a:latin typeface="Liter"/>
                <a:ea typeface="MiSans"/>
              </a:rPr>
              <a:t>●●●●●</a:t>
            </a:r>
            <a:endParaRPr lang="en-US" sz="1350" noProof="1"/>
          </a:p>
        </p:txBody>
      </p:sp>
      <p:sp>
        <p:nvSpPr>
          <p:cNvPr id="17" name="r2-b"/>
          <p:cNvSpPr txBox="1"/>
          <p:nvPr/>
        </p:nvSpPr>
        <p:spPr>
          <a:xfrm>
            <a:off x="4775200" y="3149600"/>
            <a:ext cx="6807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覆盖面业界最广：Web 云任务＋开源 Codex CLI＋IDE 插件（JetBrains / Xcode 官方嵌入）＋iOS＋GitHub @Codex PR 委派与自动 review＋Slack。本地与云端共享同一额度池。</a:t>
            </a:r>
            <a:endParaRPr lang="en-US" sz="1100" noProof="1"/>
          </a:p>
        </p:txBody>
      </p:sp>
      <p:sp>
        <p:nvSpPr>
          <p:cNvPr id="18" name="r2-line"/>
          <p:cNvSpPr/>
          <p:nvPr/>
        </p:nvSpPr>
        <p:spPr>
          <a:xfrm>
            <a:off x="4775200" y="401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9" name="r3-h"/>
          <p:cNvSpPr txBox="1"/>
          <p:nvPr/>
        </p:nvSpPr>
        <p:spPr>
          <a:xfrm>
            <a:off x="4775200" y="416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生态闭环与适合场景</a:t>
            </a:r>
            <a:endParaRPr lang="en-US" sz="1350" noProof="1"/>
          </a:p>
        </p:txBody>
      </p:sp>
      <p:sp>
        <p:nvSpPr>
          <p:cNvPr id="20" name="r3-b"/>
          <p:cNvSpPr txBox="1"/>
          <p:nvPr/>
        </p:nvSpPr>
        <p:spPr>
          <a:xfrm>
            <a:off x="4775200" y="4419600"/>
            <a:ext cx="6807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闭环 </a:t>
            </a:r>
            <a:r>
              <a:rPr lang="en-US" sz="1100" noProof="1" b="1">
                <a:solidFill>
                  <a:srgbClr val="B07D3A"/>
                </a:solidFill>
                <a:latin typeface="Liter"/>
                <a:ea typeface="MiSans"/>
              </a:rPr>
              <a:t>★★★★★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：订阅与工具焊死，「Sign in with ChatGPT」OAuth 仅授权自家客户端与官方合作伙伴；但对第三方 harness 公开欢迎——软闭环，与 Anthropic 的封堵策略分化。适合要最强交付能力、全端随行的团队。</a:t>
            </a:r>
            <a:endParaRPr lang="en-US" sz="1100" noProof="1"/>
          </a:p>
        </p:txBody>
      </p:sp>
      <p:sp>
        <p:nvSpPr>
          <p:cNvPr id="21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2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MiSans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3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OpenAI 把「订阅即工具入口」做到极致：你甚至无法单独购买 Codex——这份会员费本质上就是 Codex 的门票，模型与工具打包一次卖给你。</a:t>
            </a:r>
            <a:endParaRPr lang="en-US" sz="1100" noProof="1"/>
          </a:p>
        </p:txBody>
      </p:sp>
      <p:sp>
        <p:nvSpPr>
          <p:cNvPr id="24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Morph（Codex 定价）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Codersera（GPT-5.6 系列）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（2026-08）</a:t>
            </a:r>
            <a:endParaRPr lang="en-US" sz="800" noProof="1"/>
          </a:p>
        </p:txBody>
      </p:sp>
      <p:sp>
        <p:nvSpPr>
          <p:cNvPr id="25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09 / 24</a:t>
            </a:r>
            <a:endParaRPr lang="en-US" sz="8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第二梯队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第三梯队 · 办公Agent · 总结</a:t>
            </a:r>
            <a:endParaRPr lang="en-US" sz="900" noProof="1"/>
          </a:p>
        </p:txBody>
      </p:sp>
      <p:sp>
        <p:nvSpPr>
          <p:cNvPr id="3" name="chap-bignum"/>
          <p:cNvSpPr txBox="1"/>
          <p:nvPr/>
        </p:nvSpPr>
        <p:spPr>
          <a:xfrm>
            <a:off x="609600" y="1371600"/>
            <a:ext cx="3810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800" noProof="1" b="1">
                <a:solidFill>
                  <a:srgbClr val="EDF2F7"/>
                </a:solidFill>
                <a:latin typeface="Oranienbaum"/>
                <a:ea typeface="思源宋体"/>
              </a:rPr>
              <a:t>03</a:t>
            </a:r>
            <a:endParaRPr lang="en-US" sz="10800" noProof="1"/>
          </a:p>
        </p:txBody>
      </p:sp>
      <p:sp>
        <p:nvSpPr>
          <p:cNvPr id="4" name="chap-kicker"/>
          <p:cNvSpPr txBox="1"/>
          <p:nvPr/>
        </p:nvSpPr>
        <p:spPr>
          <a:xfrm>
            <a:off x="660400" y="31242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2 · 国产主力与部分国际</a:t>
            </a:r>
            <a:endParaRPr lang="en-US" sz="1000" noProof="1"/>
          </a:p>
        </p:txBody>
      </p:sp>
      <p:sp>
        <p:nvSpPr>
          <p:cNvPr id="5" name="chap-title"/>
          <p:cNvSpPr txBox="1"/>
          <p:nvPr/>
        </p:nvSpPr>
        <p:spPr>
          <a:xfrm>
            <a:off x="609600" y="34036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noProof="1" b="1">
                <a:solidFill>
                  <a:srgbClr val="1F2933"/>
                </a:solidFill>
                <a:latin typeface="Oranienbaum"/>
                <a:ea typeface="思源宋体"/>
              </a:rPr>
              <a:t>第二梯队</a:t>
            </a:r>
            <a:endParaRPr lang="en-US" sz="3400" noProof="1"/>
          </a:p>
        </p:txBody>
      </p:sp>
      <p:sp>
        <p:nvSpPr>
          <p:cNvPr id="6" name="chap-sub"/>
          <p:cNvSpPr txBox="1"/>
          <p:nvPr/>
        </p:nvSpPr>
        <p:spPr>
          <a:xfrm>
            <a:off x="609600" y="4114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300" noProof="1">
                <a:solidFill>
                  <a:srgbClr val="5C6B7A"/>
                </a:solidFill>
                <a:latin typeface="Liter"/>
                <a:ea typeface="MiSans"/>
              </a:rPr>
              <a:t>模型追平国际、价格仅 1/3–1/2，代价是额度与通道绑定官方工具白名单</a:t>
            </a:r>
            <a:endParaRPr lang="en-US" sz="1300" noProof="1"/>
          </a:p>
        </p:txBody>
      </p:sp>
      <p:sp>
        <p:nvSpPr>
          <p:cNvPr id="7" name="chap-bar"/>
          <p:cNvSpPr/>
          <p:nvPr/>
        </p:nvSpPr>
        <p:spPr>
          <a:xfrm>
            <a:off x="609600" y="45974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8" name="chap-list"/>
          <p:cNvSpPr txBox="1"/>
          <p:nvPr/>
        </p:nvSpPr>
        <p:spPr>
          <a:xfrm>
            <a:off x="609600" y="4775200"/>
            <a:ext cx="10414000" cy="160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1C3D5A"/>
                </a:solidFill>
                <a:latin typeface="Liter"/>
                <a:ea typeface="MiSans"/>
              </a:rPr>
              <a:t>11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　Kimi × Kimi Code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　国产 CLI 成熟度居首，¥49–699 阶梯解锁 Agent 并行与 1M 上下文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lang="en-US" sz="1100" noProof="1" b="1">
                <a:solidFill>
                  <a:srgbClr val="1C3D5A"/>
                </a:solidFill>
                <a:latin typeface="Liter"/>
                <a:ea typeface="MiSans"/>
              </a:rPr>
              <a:t>12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　智谱 GLM Coding Plan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　把「订阅锁工具」写成明文条款的 Claude 平替通道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lang="en-US" sz="1100" noProof="1" b="1">
                <a:solidFill>
                  <a:srgbClr val="1C3D5A"/>
                </a:solidFill>
                <a:latin typeface="Liter"/>
                <a:ea typeface="MiSans"/>
              </a:rPr>
              <a:t>13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　MiniMax Token Plan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　唯一全模态统一订阅，自家工具免配 Key 即插即用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lang="en-US" sz="1100" noProof="1" b="1">
                <a:solidFill>
                  <a:srgbClr val="1C3D5A"/>
                </a:solidFill>
                <a:latin typeface="Liter"/>
                <a:ea typeface="MiSans"/>
              </a:rPr>
              <a:t>14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　DeepSeek API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　全场唯一没有订阅可买的玩家，纯粹的模型燃料供应商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lang="en-US" sz="1100" noProof="1" b="1">
                <a:solidFill>
                  <a:srgbClr val="1C3D5A"/>
                </a:solidFill>
                <a:latin typeface="Liter"/>
                <a:ea typeface="MiSans"/>
              </a:rPr>
              <a:t>15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　千问 Token Plan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　锁的不是单一工具，而是整个阿里云控制台生态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lang="en-US" sz="1100" noProof="1" b="1">
                <a:solidFill>
                  <a:srgbClr val="1C3D5A"/>
                </a:solidFill>
                <a:latin typeface="Liter"/>
                <a:ea typeface="MiSans"/>
              </a:rPr>
              <a:t>16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　火山引擎 Agent / Coding Plan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　Doubao × TRAE 联调 78.8% 登顶 SOTA 的官方样板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lang="en-US" sz="1100" noProof="1" b="1">
                <a:solidFill>
                  <a:srgbClr val="1C3D5A"/>
                </a:solidFill>
                <a:latin typeface="Liter"/>
                <a:ea typeface="MiSans"/>
              </a:rPr>
              <a:t>17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　Gemini AI Pro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　免费 CLI 引流、Ultra 档收网的 Google 生态全家桶</a:t>
            </a:r>
            <a:endParaRPr lang="en-US" sz="1600" noProof="1"/>
          </a:p>
        </p:txBody>
      </p:sp>
      <p:sp>
        <p:nvSpPr>
          <p:cNvPr id="9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10 / 24</a:t>
            </a:r>
            <a:endParaRPr lang="en-US" sz="8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2 · 第二梯队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第二梯队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第三梯队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933"/>
                </a:solidFill>
                <a:latin typeface="Oranienbaum"/>
                <a:ea typeface="思源宋体"/>
              </a:rPr>
              <a:t>Kimi 会员的每一档，都是 Kimi Code 的算力钥匙</a:t>
            </a:r>
            <a:endParaRPr lang="en-US" sz="24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¥49–699 五级阶梯——额度、Agent 并行数与 1M 上下文逐档解锁，国产 CLI 成熟度居首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prod-name"/>
          <p:cNvSpPr txBox="1"/>
          <p:nvPr/>
        </p:nvSpPr>
        <p:spPr>
          <a:xfrm>
            <a:off x="609600" y="15748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C3D5A"/>
                </a:solidFill>
                <a:latin typeface="Liter"/>
                <a:ea typeface="MiSans"/>
              </a:rPr>
              <a:t>Kimi 会员 × Kimi Code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97A5B2"/>
                </a:solidFill>
                <a:latin typeface="MiSans"/>
                <a:ea typeface="MiSans"/>
              </a:rPr>
              <a:t>月之暗面 Moonshot AI · 会员订阅 + 官方编程工具</a:t>
            </a:r>
            <a:endParaRPr lang="en-US" sz="1600" noProof="1"/>
          </a:p>
        </p:txBody>
      </p:sp>
      <p:sp>
        <p:nvSpPr>
          <p:cNvPr id="9" name="plan-h2"/>
          <p:cNvSpPr txBox="1"/>
          <p:nvPr/>
        </p:nvSpPr>
        <p:spPr>
          <a:xfrm>
            <a:off x="609600" y="233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订阅档位与价格</a:t>
            </a:r>
            <a:endParaRPr lang="en-US" sz="1350" noProof="1"/>
          </a:p>
        </p:txBody>
      </p:sp>
      <p:graphicFrame>
        <p:nvGraphicFramePr>
          <p:cNvPr id="10" name="plan-table"/>
          <p:cNvGraphicFramePr>
            <a:graphicFrameLocks noGrp="1"/>
          </p:cNvGraphicFramePr>
          <p:nvPr/>
        </p:nvGraphicFramePr>
        <p:xfrm>
          <a:off x="609600" y="2590800"/>
          <a:ext cx="3810000" cy="1778000"/>
        </p:xfrm>
        <a:graphic>
          <a:graphicData uri="http://schemas.openxmlformats.org/drawingml/2006/table">
            <a:tbl>
              <a:tblPr/>
              <a:tblGrid>
                <a:gridCol w="1028700"/>
                <a:gridCol w="876300"/>
                <a:gridCol w="1905000"/>
              </a:tblGrid>
              <a:tr h="2844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档位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价格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要点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2987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Adagio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免费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入门体验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987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Andante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¥49/月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5h 配额·7 天刷新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987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Moderato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¥99/月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配额进阶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987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Allegretto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¥199/月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Kimi Claw·集群 40 次/月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987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Allegro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¥699/月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K3 完整 1M·4 Agent 并行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pros-h2"/>
          <p:cNvSpPr txBox="1"/>
          <p:nvPr/>
        </p:nvSpPr>
        <p:spPr>
          <a:xfrm>
            <a:off x="609600" y="4572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独特卖点与短板</a:t>
            </a:r>
            <a:endParaRPr lang="en-US" sz="1350" noProof="1"/>
          </a:p>
        </p:txBody>
      </p:sp>
      <p:sp>
        <p:nvSpPr>
          <p:cNvPr id="12" name="pros-body"/>
          <p:cNvSpPr txBox="1"/>
          <p:nvPr/>
        </p:nvSpPr>
        <p:spPr>
          <a:xfrm>
            <a:off x="609600" y="4826000"/>
            <a:ext cx="381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卖点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：1M 上下文大仓库 + 长任务 Agent，国产 CLI 成熟度第一。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短板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：算力紧张限购（2026-07 起新订阅一度转 Waitlist），Skills 生态不及 Claude Code。</a:t>
            </a:r>
            <a:endParaRPr lang="en-US" sz="950" noProof="1"/>
          </a:p>
        </p:txBody>
      </p:sp>
      <p:sp>
        <p:nvSpPr>
          <p:cNvPr id="13" name="model-h2"/>
          <p:cNvSpPr txBox="1"/>
          <p:nvPr/>
        </p:nvSpPr>
        <p:spPr>
          <a:xfrm>
            <a:off x="4775200" y="15748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模型能力</a:t>
            </a:r>
            <a:endParaRPr lang="en-US" sz="1350" noProof="1"/>
          </a:p>
        </p:txBody>
      </p:sp>
      <p:sp>
        <p:nvSpPr>
          <p:cNvPr id="14" name="model-body"/>
          <p:cNvSpPr txBox="1"/>
          <p:nvPr/>
        </p:nvSpPr>
        <p:spPr>
          <a:xfrm>
            <a:off x="4775200" y="1828800"/>
            <a:ext cx="6807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Kimi K3：2.8T MoE、1M 上下文、已开源；Program Bench 77.8 与 GPT-5.6 Sol 持平，SWE Marathon 42.0 排名第一。Kimi Code 默认模型为 K2.7-Code——同一 CLI 下，K3 长任务成功率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45.8%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，K2.7 仅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7.2%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，差距被工具放大 6.4 倍。</a:t>
            </a:r>
            <a:endParaRPr lang="en-US" sz="1100" noProof="1"/>
          </a:p>
        </p:txBody>
      </p:sp>
      <p:sp>
        <p:nvSpPr>
          <p:cNvPr id="15" name="sep1"/>
          <p:cNvSpPr/>
          <p:nvPr/>
        </p:nvSpPr>
        <p:spPr>
          <a:xfrm>
            <a:off x="4775200" y="274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6" name="harness-h2"/>
          <p:cNvSpPr txBox="1"/>
          <p:nvPr/>
        </p:nvSpPr>
        <p:spPr>
          <a:xfrm>
            <a:off x="4775200" y="28956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配套 Harness 工具</a:t>
            </a:r>
            <a:endParaRPr lang="en-US" sz="1350" noProof="1"/>
          </a:p>
        </p:txBody>
      </p:sp>
      <p:sp>
        <p:nvSpPr>
          <p:cNvPr id="17" name="harness-rate"/>
          <p:cNvSpPr txBox="1"/>
          <p:nvPr/>
        </p:nvSpPr>
        <p:spPr>
          <a:xfrm>
            <a:off x="7112000" y="2895600"/>
            <a:ext cx="447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b="1">
                <a:solidFill>
                  <a:srgbClr val="B07D3A"/>
                </a:solidFill>
                <a:latin typeface="MiSans"/>
                <a:ea typeface="MiSans"/>
              </a:rPr>
              <a:t>成熟度 ●●●●○</a:t>
            </a:r>
            <a:endParaRPr lang="en-US" sz="1100" noProof="1"/>
          </a:p>
        </p:txBody>
      </p:sp>
      <p:sp>
        <p:nvSpPr>
          <p:cNvPr id="18" name="harness-body"/>
          <p:cNvSpPr txBox="1"/>
          <p:nvPr/>
        </p:nvSpPr>
        <p:spPr>
          <a:xfrm>
            <a:off x="4775200" y="3149600"/>
            <a:ext cx="6807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Liter"/>
                <a:ea typeface="MiSans"/>
              </a:rPr>
              <a:t>Kimi Code CLI（MIT 开源）+ VS Code 插件 + Web 三端；Plan/Goal 模式、Sub-agents、Agent Swarm，Skills/Hooks/MCP/Plugins 四层扩展。国产 CLI 成熟度居首，生态厚度仍不及 Claude Code。</a:t>
            </a:r>
            <a:endParaRPr lang="en-US" sz="1050" noProof="1"/>
          </a:p>
        </p:txBody>
      </p:sp>
      <p:sp>
        <p:nvSpPr>
          <p:cNvPr id="19" name="sep2"/>
          <p:cNvSpPr/>
          <p:nvPr/>
        </p:nvSpPr>
        <p:spPr>
          <a:xfrm>
            <a:off x="4775200" y="401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20" name="loop-h2"/>
          <p:cNvSpPr txBox="1"/>
          <p:nvPr/>
        </p:nvSpPr>
        <p:spPr>
          <a:xfrm>
            <a:off x="4775200" y="416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生态闭环与适合场景</a:t>
            </a:r>
            <a:endParaRPr lang="en-US" sz="1350" noProof="1"/>
          </a:p>
        </p:txBody>
      </p:sp>
      <p:sp>
        <p:nvSpPr>
          <p:cNvPr id="21" name="loop-body"/>
          <p:cNvSpPr txBox="1"/>
          <p:nvPr/>
        </p:nvSpPr>
        <p:spPr>
          <a:xfrm>
            <a:off x="4775200" y="4419600"/>
            <a:ext cx="6807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CLI 开箱默认 Kimi 模型，订阅额度与官方工具通道绑定。适合：超长上下文大仓库改造、长任务自动化 Agent 团队；想用上 K3 完整 1M 上下文与 4 Agent 并行，必须上 ¥699 Allegro 档。</a:t>
            </a:r>
            <a:endParaRPr lang="en-US" sz="1100" noProof="1"/>
          </a:p>
        </p:txBody>
      </p:sp>
      <p:sp>
        <p:nvSpPr>
          <p:cNvPr id="22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3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MiSans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4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¥49 到 ¥699 的阶梯，本质是 Kimi Code 里「Agent 并行数 × 上下文长度」的解锁钥匙——不买高档，K3 的 1M 上下文只是宣传页上的数字。</a:t>
            </a:r>
            <a:endParaRPr lang="en-US" sz="1100" noProof="1"/>
          </a:p>
        </p:txBody>
      </p:sp>
      <p:sp>
        <p:nvSpPr>
          <p:cNvPr id="25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CodingPlan 观测站（Kimi）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品玩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，2026-08</a:t>
            </a:r>
            <a:endParaRPr lang="en-US" sz="800" noProof="1"/>
          </a:p>
        </p:txBody>
      </p:sp>
      <p:sp>
        <p:nvSpPr>
          <p:cNvPr id="26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11 / 24</a:t>
            </a:r>
            <a:endParaRPr lang="en-US" sz="8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2 · 第二梯队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第二梯队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第三梯队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933"/>
                </a:solidFill>
                <a:latin typeface="Oranienbaum"/>
                <a:ea typeface="思源宋体"/>
              </a:rPr>
              <a:t>智谱把「订阅锁工具」写成了明文条款</a:t>
            </a:r>
            <a:endParaRPr lang="en-US" sz="24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积分制改版后涨价 130%–261%，仍是国内直连 Claude Code 工作流的主流平替通道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prod-name"/>
          <p:cNvSpPr txBox="1"/>
          <p:nvPr/>
        </p:nvSpPr>
        <p:spPr>
          <a:xfrm>
            <a:off x="609600" y="15748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C3D5A"/>
                </a:solidFill>
                <a:latin typeface="Liter"/>
                <a:ea typeface="MiSans"/>
              </a:rPr>
              <a:t>GLM Coding Plan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97A5B2"/>
                </a:solidFill>
                <a:latin typeface="MiSans"/>
                <a:ea typeface="MiSans"/>
              </a:rPr>
              <a:t>智谱 AI · 编程套餐 + 自研 Z Code</a:t>
            </a:r>
            <a:endParaRPr lang="en-US" sz="1600" noProof="1"/>
          </a:p>
        </p:txBody>
      </p:sp>
      <p:sp>
        <p:nvSpPr>
          <p:cNvPr id="9" name="plan-h2"/>
          <p:cNvSpPr txBox="1"/>
          <p:nvPr/>
        </p:nvSpPr>
        <p:spPr>
          <a:xfrm>
            <a:off x="609600" y="233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订阅档位与价格</a:t>
            </a:r>
            <a:endParaRPr lang="en-US" sz="1350" noProof="1"/>
          </a:p>
        </p:txBody>
      </p:sp>
      <p:graphicFrame>
        <p:nvGraphicFramePr>
          <p:cNvPr id="10" name="plan-table"/>
          <p:cNvGraphicFramePr>
            <a:graphicFrameLocks noGrp="1"/>
          </p:cNvGraphicFramePr>
          <p:nvPr/>
        </p:nvGraphicFramePr>
        <p:xfrm>
          <a:off x="609600" y="2590800"/>
          <a:ext cx="3810000" cy="1778000"/>
        </p:xfrm>
        <a:graphic>
          <a:graphicData uri="http://schemas.openxmlformats.org/drawingml/2006/table">
            <a:tbl>
              <a:tblPr/>
              <a:tblGrid>
                <a:gridCol w="685800"/>
                <a:gridCol w="1600200"/>
                <a:gridCol w="1524000"/>
              </a:tblGrid>
              <a:tr h="39116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档位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价格（现售价）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5h 积分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462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Lite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¥118/月（¥94.4）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2,000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62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¥538/月（¥430.4）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12,000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62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Max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¥1,078/月（¥862.4）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28,000·新模型首发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pros-h2"/>
          <p:cNvSpPr txBox="1"/>
          <p:nvPr/>
        </p:nvSpPr>
        <p:spPr>
          <a:xfrm>
            <a:off x="609600" y="4572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独特卖点与短板</a:t>
            </a:r>
            <a:endParaRPr lang="en-US" sz="1350" noProof="1"/>
          </a:p>
        </p:txBody>
      </p:sp>
      <p:sp>
        <p:nvSpPr>
          <p:cNvPr id="12" name="pros-body"/>
          <p:cNvSpPr txBox="1"/>
          <p:nvPr/>
        </p:nvSpPr>
        <p:spPr>
          <a:xfrm>
            <a:off x="609600" y="4826000"/>
            <a:ext cx="381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卖点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：国内直连使用 Claude Code 工作流，「1/3 成本 3 倍用量」的 Claude 平替；非高峰 50% 抵扣。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短板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：涨价后性价比争议大，GLM-5.3 权重未开源。</a:t>
            </a:r>
            <a:endParaRPr lang="en-US" sz="950" noProof="1"/>
          </a:p>
        </p:txBody>
      </p:sp>
      <p:sp>
        <p:nvSpPr>
          <p:cNvPr id="13" name="model-h2"/>
          <p:cNvSpPr txBox="1"/>
          <p:nvPr/>
        </p:nvSpPr>
        <p:spPr>
          <a:xfrm>
            <a:off x="4775200" y="15748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模型能力</a:t>
            </a:r>
            <a:endParaRPr lang="en-US" sz="1350" noProof="1"/>
          </a:p>
        </p:txBody>
      </p:sp>
      <p:sp>
        <p:nvSpPr>
          <p:cNvPr id="14" name="model-body"/>
          <p:cNvSpPr txBox="1"/>
          <p:nvPr/>
        </p:nvSpPr>
        <p:spPr>
          <a:xfrm>
            <a:off x="4775200" y="1828800"/>
            <a:ext cx="6807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GLM-5.3（2026-08 全量）：Terminal-Bench 3.0 开源第一、DeepSWE 66.9，编程较 5.2 提升 50%；GLM-5.2 支持 1M 上下文，居 LMArena 代码榜开源第一。新模型按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Max→Pro→Lite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 顺序放量——档位决定尝鲜速度。</a:t>
            </a:r>
            <a:endParaRPr lang="en-US" sz="1100" noProof="1"/>
          </a:p>
        </p:txBody>
      </p:sp>
      <p:sp>
        <p:nvSpPr>
          <p:cNvPr id="15" name="sep1"/>
          <p:cNvSpPr/>
          <p:nvPr/>
        </p:nvSpPr>
        <p:spPr>
          <a:xfrm>
            <a:off x="4775200" y="274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6" name="harness-h2"/>
          <p:cNvSpPr txBox="1"/>
          <p:nvPr/>
        </p:nvSpPr>
        <p:spPr>
          <a:xfrm>
            <a:off x="4775200" y="28956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配套 Harness 工具</a:t>
            </a:r>
            <a:endParaRPr lang="en-US" sz="1350" noProof="1"/>
          </a:p>
        </p:txBody>
      </p:sp>
      <p:sp>
        <p:nvSpPr>
          <p:cNvPr id="17" name="harness-rate"/>
          <p:cNvSpPr txBox="1"/>
          <p:nvPr/>
        </p:nvSpPr>
        <p:spPr>
          <a:xfrm>
            <a:off x="7112000" y="2895600"/>
            <a:ext cx="447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b="1">
                <a:solidFill>
                  <a:srgbClr val="B07D3A"/>
                </a:solidFill>
                <a:latin typeface="MiSans"/>
                <a:ea typeface="MiSans"/>
              </a:rPr>
              <a:t>成熟度 ●●●○○</a:t>
            </a:r>
            <a:endParaRPr lang="en-US" sz="1100" noProof="1"/>
          </a:p>
        </p:txBody>
      </p:sp>
      <p:sp>
        <p:nvSpPr>
          <p:cNvPr id="18" name="harness-body"/>
          <p:cNvSpPr txBox="1"/>
          <p:nvPr/>
        </p:nvSpPr>
        <p:spPr>
          <a:xfrm>
            <a:off x="4775200" y="3149600"/>
            <a:ext cx="6807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Liter"/>
                <a:ea typeface="MiSans"/>
              </a:rPr>
              <a:t>Z Code：自研桌面 ADE，与 GLM-5.2/5-turbo 深度联调，桌面 + 手机 Remote + 飞书/微信 Bot 多端协同；套餐同时官方支持 Claude Code、Cursor、Cline、Roo Code、OpenCode 等 20+ 工具。</a:t>
            </a:r>
            <a:endParaRPr lang="en-US" sz="1050" noProof="1"/>
          </a:p>
        </p:txBody>
      </p:sp>
      <p:sp>
        <p:nvSpPr>
          <p:cNvPr id="19" name="sep2"/>
          <p:cNvSpPr/>
          <p:nvPr/>
        </p:nvSpPr>
        <p:spPr>
          <a:xfrm>
            <a:off x="4775200" y="401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20" name="loop-h2"/>
          <p:cNvSpPr txBox="1"/>
          <p:nvPr/>
        </p:nvSpPr>
        <p:spPr>
          <a:xfrm>
            <a:off x="4775200" y="416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生态闭环与适合场景</a:t>
            </a:r>
            <a:endParaRPr lang="en-US" sz="1350" noProof="1"/>
          </a:p>
        </p:txBody>
      </p:sp>
      <p:sp>
        <p:nvSpPr>
          <p:cNvPr id="21" name="loop-body"/>
          <p:cNvSpPr txBox="1"/>
          <p:nvPr/>
        </p:nvSpPr>
        <p:spPr>
          <a:xfrm>
            <a:off x="4775200" y="4419600"/>
            <a:ext cx="6807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全场最典型的「订阅锁工具」：额度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仅限白名单工具内使用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，违规触发风控。适合：想要 Claude Code 工作流、又需要国内直连并把成本压到 1/3 的团队与个人开发者。</a:t>
            </a:r>
            <a:endParaRPr lang="en-US" sz="1100" noProof="1"/>
          </a:p>
        </p:txBody>
      </p:sp>
      <p:sp>
        <p:nvSpPr>
          <p:cNvPr id="22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3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MiSans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4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白名单制是国产套餐里最诚实的闭环：你买的不是 GLM 模型本身，而是 20+ 款官方指定工具里的 GLM 通道——条款写死了，也就不必猜。</a:t>
            </a:r>
            <a:endParaRPr lang="en-US" sz="1100" noProof="1"/>
          </a:p>
        </p:txBody>
      </p:sp>
      <p:sp>
        <p:nvSpPr>
          <p:cNvPr id="25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智谱 Coding Plan 官方文档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CodingPlan 观测站（智谱）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，2026-08</a:t>
            </a:r>
            <a:endParaRPr lang="en-US" sz="800" noProof="1"/>
          </a:p>
        </p:txBody>
      </p:sp>
      <p:sp>
        <p:nvSpPr>
          <p:cNvPr id="26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12 / 24</a:t>
            </a:r>
            <a:endParaRPr lang="en-US" sz="8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2 · 第二梯队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第二梯队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第三梯队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933"/>
                </a:solidFill>
                <a:latin typeface="Oranienbaum"/>
                <a:ea typeface="思源宋体"/>
              </a:rPr>
              <a:t>在自家工具里，MiniMax 订阅是免配 Key 的默认电源</a:t>
            </a:r>
            <a:endParaRPr lang="en-US" sz="24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Coding Plan 升级 Token Plan——唯一覆盖文本/图像/语音/音乐/视频全模态的统一订阅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prod-name"/>
          <p:cNvSpPr txBox="1"/>
          <p:nvPr/>
        </p:nvSpPr>
        <p:spPr>
          <a:xfrm>
            <a:off x="609600" y="15748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C3D5A"/>
                </a:solidFill>
                <a:latin typeface="Liter"/>
                <a:ea typeface="MiSans"/>
              </a:rPr>
              <a:t>MiniMax Token Plan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97A5B2"/>
                </a:solidFill>
                <a:latin typeface="MiSans"/>
                <a:ea typeface="MiSans"/>
              </a:rPr>
              <a:t>MiniMax · 全模态订阅 + MiniMax Code / CLI</a:t>
            </a:r>
            <a:endParaRPr lang="en-US" sz="1600" noProof="1"/>
          </a:p>
        </p:txBody>
      </p:sp>
      <p:sp>
        <p:nvSpPr>
          <p:cNvPr id="9" name="plan-h2"/>
          <p:cNvSpPr txBox="1"/>
          <p:nvPr/>
        </p:nvSpPr>
        <p:spPr>
          <a:xfrm>
            <a:off x="609600" y="233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订阅档位与价格</a:t>
            </a:r>
            <a:endParaRPr lang="en-US" sz="1350" noProof="1"/>
          </a:p>
        </p:txBody>
      </p:sp>
      <p:graphicFrame>
        <p:nvGraphicFramePr>
          <p:cNvPr id="10" name="plan-table"/>
          <p:cNvGraphicFramePr>
            <a:graphicFrameLocks noGrp="1"/>
          </p:cNvGraphicFramePr>
          <p:nvPr/>
        </p:nvGraphicFramePr>
        <p:xfrm>
          <a:off x="609600" y="2590800"/>
          <a:ext cx="3810000" cy="1778000"/>
        </p:xfrm>
        <a:graphic>
          <a:graphicData uri="http://schemas.openxmlformats.org/drawingml/2006/table">
            <a:tbl>
              <a:tblPr/>
              <a:tblGrid>
                <a:gridCol w="838200"/>
                <a:gridCol w="1066800"/>
                <a:gridCol w="1905000"/>
              </a:tblGrid>
              <a:tr h="39116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档位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价格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要点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462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Plus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¥49/月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入门额度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62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Max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¥119/月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主力开发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62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Ultra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¥469/月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重度全模态·包年 ×10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pros-h2"/>
          <p:cNvSpPr txBox="1"/>
          <p:nvPr/>
        </p:nvSpPr>
        <p:spPr>
          <a:xfrm>
            <a:off x="609600" y="4572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独特卖点与短板</a:t>
            </a:r>
            <a:endParaRPr lang="en-US" sz="1350" noProof="1"/>
          </a:p>
        </p:txBody>
      </p:sp>
      <p:sp>
        <p:nvSpPr>
          <p:cNvPr id="12" name="pros-body"/>
          <p:cNvSpPr txBox="1"/>
          <p:nvPr/>
        </p:nvSpPr>
        <p:spPr>
          <a:xfrm>
            <a:off x="609600" y="4826000"/>
            <a:ext cx="381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卖点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：唯一全模态统一订阅 + M3 极致性价比。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短板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：高峰动态限流（工作日 15:00–17:30），编程工具生态深度不及 Claude Code / Kimi Code。</a:t>
            </a:r>
            <a:endParaRPr lang="en-US" sz="950" noProof="1"/>
          </a:p>
        </p:txBody>
      </p:sp>
      <p:sp>
        <p:nvSpPr>
          <p:cNvPr id="13" name="model-h2"/>
          <p:cNvSpPr txBox="1"/>
          <p:nvPr/>
        </p:nvSpPr>
        <p:spPr>
          <a:xfrm>
            <a:off x="4775200" y="15748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模型能力</a:t>
            </a:r>
            <a:endParaRPr lang="en-US" sz="1350" noProof="1"/>
          </a:p>
        </p:txBody>
      </p:sp>
      <p:sp>
        <p:nvSpPr>
          <p:cNvPr id="14" name="model-body"/>
          <p:cNvSpPr txBox="1"/>
          <p:nvPr/>
        </p:nvSpPr>
        <p:spPr>
          <a:xfrm>
            <a:off x="4775200" y="1828800"/>
            <a:ext cx="6807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MiniMax M3（2026-06 开源）：1M 上下文，SWE-Bench Pro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59.0%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 超 GPT-5.5、BrowseComp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83.5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 超 Opus 4.7；API 仅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$0.60 / $2.40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 每百万 token，国际同档极低价。</a:t>
            </a:r>
            <a:endParaRPr lang="en-US" sz="1100" noProof="1"/>
          </a:p>
        </p:txBody>
      </p:sp>
      <p:sp>
        <p:nvSpPr>
          <p:cNvPr id="15" name="sep1"/>
          <p:cNvSpPr/>
          <p:nvPr/>
        </p:nvSpPr>
        <p:spPr>
          <a:xfrm>
            <a:off x="4775200" y="274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6" name="harness-h2"/>
          <p:cNvSpPr txBox="1"/>
          <p:nvPr/>
        </p:nvSpPr>
        <p:spPr>
          <a:xfrm>
            <a:off x="4775200" y="28956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配套 Harness 工具</a:t>
            </a:r>
            <a:endParaRPr lang="en-US" sz="1350" noProof="1"/>
          </a:p>
        </p:txBody>
      </p:sp>
      <p:sp>
        <p:nvSpPr>
          <p:cNvPr id="17" name="harness-rate"/>
          <p:cNvSpPr txBox="1"/>
          <p:nvPr/>
        </p:nvSpPr>
        <p:spPr>
          <a:xfrm>
            <a:off x="7112000" y="2895600"/>
            <a:ext cx="447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b="1">
                <a:solidFill>
                  <a:srgbClr val="B07D3A"/>
                </a:solidFill>
                <a:latin typeface="MiSans"/>
                <a:ea typeface="MiSans"/>
              </a:rPr>
              <a:t>成熟度 ●●●○○</a:t>
            </a:r>
            <a:endParaRPr lang="en-US" sz="1100" noProof="1"/>
          </a:p>
        </p:txBody>
      </p:sp>
      <p:sp>
        <p:nvSpPr>
          <p:cNvPr id="18" name="harness-body"/>
          <p:cNvSpPr txBox="1"/>
          <p:nvPr/>
        </p:nvSpPr>
        <p:spPr>
          <a:xfrm>
            <a:off x="4775200" y="3149600"/>
            <a:ext cx="6807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Liter"/>
                <a:ea typeface="MiSans"/>
              </a:rPr>
              <a:t>MiniMax Code（桌面 + 网页）与 M3 联合训练，Agent Team 多阶段并发 Workflow；另有 MiniMax CLI。桌面/网页版</a:t>
            </a:r>
            <a:r>
              <a:rPr lang="en-US" sz="1050" noProof="1" b="1">
                <a:solidFill>
                  <a:srgbClr val="1F2933"/>
                </a:solidFill>
                <a:latin typeface="Liter"/>
                <a:ea typeface="MiSans"/>
              </a:rPr>
              <a:t>直接扣 Token Plan 额度、免配 API Key</a:t>
            </a:r>
            <a:r>
              <a:rPr lang="en-US" sz="1050" noProof="1">
                <a:solidFill>
                  <a:srgbClr val="1F2933"/>
                </a:solidFill>
                <a:latin typeface="Liter"/>
                <a:ea typeface="MiSans"/>
              </a:rPr>
              <a:t>；兼容 Claude Code、Codex CLI、Cursor、TRAE 等 10+ 工具。</a:t>
            </a:r>
            <a:endParaRPr lang="en-US" sz="1050" noProof="1"/>
          </a:p>
        </p:txBody>
      </p:sp>
      <p:sp>
        <p:nvSpPr>
          <p:cNvPr id="19" name="sep2"/>
          <p:cNvSpPr/>
          <p:nvPr/>
        </p:nvSpPr>
        <p:spPr>
          <a:xfrm>
            <a:off x="4775200" y="401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20" name="loop-h2"/>
          <p:cNvSpPr txBox="1"/>
          <p:nvPr/>
        </p:nvSpPr>
        <p:spPr>
          <a:xfrm>
            <a:off x="4775200" y="416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生态闭环与适合场景</a:t>
            </a:r>
            <a:endParaRPr lang="en-US" sz="1350" noProof="1"/>
          </a:p>
        </p:txBody>
      </p:sp>
      <p:sp>
        <p:nvSpPr>
          <p:cNvPr id="21" name="loop-body"/>
          <p:cNvSpPr txBox="1"/>
          <p:nvPr/>
        </p:nvSpPr>
        <p:spPr>
          <a:xfrm>
            <a:off x="4775200" y="4419600"/>
            <a:ext cx="6807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零配置闭环：自家工具内订阅即插即用，出了自家工具就得手动接 API。适合：全模态应用开发者、追求极致性价比的编程团队；在意高峰稳定性的重度用户需避开限流时段。</a:t>
            </a:r>
            <a:endParaRPr lang="en-US" sz="1100" noProof="1"/>
          </a:p>
        </p:txBody>
      </p:sp>
      <p:sp>
        <p:nvSpPr>
          <p:cNvPr id="22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3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MiSans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4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免配 Key 的零配置闭环——在自家工具里订阅即插即用，出了自家工具就得手动接 API：这份便利性本身，就是它圈住你的围墙。</a:t>
            </a:r>
            <a:endParaRPr lang="en-US" sz="1100" noProof="1"/>
          </a:p>
        </p:txBody>
      </p:sp>
      <p:sp>
        <p:nvSpPr>
          <p:cNvPr id="25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MiniMax Token Plan 官方页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钛媒体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，2026-08</a:t>
            </a:r>
            <a:endParaRPr lang="en-US" sz="800" noProof="1"/>
          </a:p>
        </p:txBody>
      </p:sp>
      <p:sp>
        <p:nvSpPr>
          <p:cNvPr id="26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13 / 24</a:t>
            </a:r>
            <a:endParaRPr lang="en-US" sz="8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2 · 第二梯队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第二梯队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第三梯队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933"/>
                </a:solidFill>
                <a:latin typeface="Oranienbaum"/>
                <a:ea typeface="思源宋体"/>
              </a:rPr>
              <a:t>DeepSeek 是全场唯一没有订阅可卖的玩家</a:t>
            </a:r>
            <a:endParaRPr lang="en-US" sz="24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C 端免费 + B 端 API 峰谷计价——它不卖订阅，卖的是所有 Harness 都能加的燃料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prod-name"/>
          <p:cNvSpPr txBox="1"/>
          <p:nvPr/>
        </p:nvSpPr>
        <p:spPr>
          <a:xfrm>
            <a:off x="609600" y="15748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C3D5A"/>
                </a:solidFill>
                <a:latin typeface="Liter"/>
                <a:ea typeface="MiSans"/>
              </a:rPr>
              <a:t>DeepSeek API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97A5B2"/>
                </a:solidFill>
                <a:latin typeface="MiSans"/>
                <a:ea typeface="MiSans"/>
              </a:rPr>
              <a:t>深度求索 · 无 C 端订阅，仅 B 端 API 按量</a:t>
            </a:r>
            <a:endParaRPr lang="en-US" sz="1600" noProof="1"/>
          </a:p>
        </p:txBody>
      </p:sp>
      <p:sp>
        <p:nvSpPr>
          <p:cNvPr id="9" name="plan-h2"/>
          <p:cNvSpPr txBox="1"/>
          <p:nvPr/>
        </p:nvSpPr>
        <p:spPr>
          <a:xfrm>
            <a:off x="609600" y="233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计费档位与价格</a:t>
            </a:r>
            <a:endParaRPr lang="en-US" sz="1350" noProof="1"/>
          </a:p>
        </p:txBody>
      </p:sp>
      <p:graphicFrame>
        <p:nvGraphicFramePr>
          <p:cNvPr id="10" name="plan-table"/>
          <p:cNvGraphicFramePr>
            <a:graphicFrameLocks noGrp="1"/>
          </p:cNvGraphicFramePr>
          <p:nvPr/>
        </p:nvGraphicFramePr>
        <p:xfrm>
          <a:off x="609600" y="2590800"/>
          <a:ext cx="3810000" cy="1778000"/>
        </p:xfrm>
        <a:graphic>
          <a:graphicData uri="http://schemas.openxmlformats.org/drawingml/2006/table">
            <a:tbl>
              <a:tblPr/>
              <a:tblGrid>
                <a:gridCol w="838200"/>
                <a:gridCol w="1828800"/>
                <a:gridCol w="1143000"/>
              </a:tblGrid>
              <a:tr h="32004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产品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价格（$/百万 token）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要点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36449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网页/App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免费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C 端不收钱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36449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V4-Flash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谷 0.22/0.66 · 峰 0.44/1.32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峰时 9–12、14–18 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36449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V4-Pro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谷 0.66/1.98 · 峰 1.32/3.96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同上峰谷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36449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缓存命中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输入低至 0.0028–0.007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缓存折扣最深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pros-h2"/>
          <p:cNvSpPr txBox="1"/>
          <p:nvPr/>
        </p:nvSpPr>
        <p:spPr>
          <a:xfrm>
            <a:off x="609600" y="4572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独特卖点与短板</a:t>
            </a:r>
            <a:endParaRPr lang="en-US" sz="1350" noProof="1"/>
          </a:p>
        </p:txBody>
      </p:sp>
      <p:sp>
        <p:nvSpPr>
          <p:cNvPr id="12" name="pros-body"/>
          <p:cNvSpPr txBox="1"/>
          <p:nvPr/>
        </p:nvSpPr>
        <p:spPr>
          <a:xfrm>
            <a:off x="609600" y="4826000"/>
            <a:ext cx="381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卖点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：成本敏感的批量推理、Agent 后端、自托管部署。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短板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：无订阅、无官方工具、限流，峰时涨价需按时段调度。</a:t>
            </a:r>
            <a:endParaRPr lang="en-US" sz="950" noProof="1"/>
          </a:p>
        </p:txBody>
      </p:sp>
      <p:sp>
        <p:nvSpPr>
          <p:cNvPr id="13" name="model-h2"/>
          <p:cNvSpPr txBox="1"/>
          <p:nvPr/>
        </p:nvSpPr>
        <p:spPr>
          <a:xfrm>
            <a:off x="4775200" y="15748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模型能力</a:t>
            </a:r>
            <a:endParaRPr lang="en-US" sz="1350" noProof="1"/>
          </a:p>
        </p:txBody>
      </p:sp>
      <p:sp>
        <p:nvSpPr>
          <p:cNvPr id="14" name="model-body"/>
          <p:cNvSpPr txBox="1"/>
          <p:nvPr/>
        </p:nvSpPr>
        <p:spPr>
          <a:xfrm>
            <a:off x="4775200" y="1828800"/>
            <a:ext cx="6807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V4 系列：1M 上下文、384K 输出、MIT 开源，兼容 OpenAI / Anthropic 双协议；2026-08 起峰谷计价（峰时=北京时间 9–12、14–18 点），缓存命中输入低至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$0.0028–0.007/M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，各家缓存折扣最深。</a:t>
            </a:r>
            <a:endParaRPr lang="en-US" sz="1100" noProof="1"/>
          </a:p>
        </p:txBody>
      </p:sp>
      <p:sp>
        <p:nvSpPr>
          <p:cNvPr id="15" name="sep1"/>
          <p:cNvSpPr/>
          <p:nvPr/>
        </p:nvSpPr>
        <p:spPr>
          <a:xfrm>
            <a:off x="4775200" y="274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6" name="harness-h2"/>
          <p:cNvSpPr txBox="1"/>
          <p:nvPr/>
        </p:nvSpPr>
        <p:spPr>
          <a:xfrm>
            <a:off x="4775200" y="28956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配套 Harness 工具</a:t>
            </a:r>
            <a:endParaRPr lang="en-US" sz="1350" noProof="1"/>
          </a:p>
        </p:txBody>
      </p:sp>
      <p:sp>
        <p:nvSpPr>
          <p:cNvPr id="17" name="harness-rate"/>
          <p:cNvSpPr txBox="1"/>
          <p:nvPr/>
        </p:nvSpPr>
        <p:spPr>
          <a:xfrm>
            <a:off x="7112000" y="2895600"/>
            <a:ext cx="447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b="1">
                <a:solidFill>
                  <a:srgbClr val="B07D3A"/>
                </a:solidFill>
                <a:latin typeface="MiSans"/>
                <a:ea typeface="MiSans"/>
              </a:rPr>
              <a:t>成熟度 ●○○○○</a:t>
            </a:r>
            <a:endParaRPr lang="en-US" sz="1100" noProof="1"/>
          </a:p>
        </p:txBody>
      </p:sp>
      <p:sp>
        <p:nvSpPr>
          <p:cNvPr id="18" name="harness-body"/>
          <p:cNvSpPr txBox="1"/>
          <p:nvPr/>
        </p:nvSpPr>
        <p:spPr>
          <a:xfrm>
            <a:off x="4775200" y="3149600"/>
            <a:ext cx="6807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50" noProof="1" b="1">
                <a:solidFill>
                  <a:srgbClr val="1F2933"/>
                </a:solidFill>
                <a:latin typeface="Liter"/>
                <a:ea typeface="MiSans"/>
              </a:rPr>
              <a:t>无官方 Harness 工具</a:t>
            </a:r>
            <a:r>
              <a:rPr lang="en-US" sz="1050" noProof="1">
                <a:solidFill>
                  <a:srgbClr val="1F2933"/>
                </a:solidFill>
                <a:latin typeface="Liter"/>
                <a:ea typeface="MiSans"/>
              </a:rPr>
              <a:t>——须搭配 Claude Code、Cline 等第三方 harness，也被火山引擎、阿里云百炼等套餐聚合。没有任何工具为它深度联调，也没有任何工具把它排除在外。</a:t>
            </a:r>
            <a:endParaRPr lang="en-US" sz="1050" noProof="1"/>
          </a:p>
        </p:txBody>
      </p:sp>
      <p:sp>
        <p:nvSpPr>
          <p:cNvPr id="19" name="sep2"/>
          <p:cNvSpPr/>
          <p:nvPr/>
        </p:nvSpPr>
        <p:spPr>
          <a:xfrm>
            <a:off x="4775200" y="401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20" name="loop-h2"/>
          <p:cNvSpPr txBox="1"/>
          <p:nvPr/>
        </p:nvSpPr>
        <p:spPr>
          <a:xfrm>
            <a:off x="4775200" y="416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生态闭环与适合场景</a:t>
            </a:r>
            <a:endParaRPr lang="en-US" sz="1350" noProof="1"/>
          </a:p>
        </p:txBody>
      </p:sp>
      <p:sp>
        <p:nvSpPr>
          <p:cNvPr id="21" name="loop-body"/>
          <p:cNvSpPr txBox="1"/>
          <p:nvPr/>
        </p:nvSpPr>
        <p:spPr>
          <a:xfrm>
            <a:off x="4775200" y="4419600"/>
            <a:ext cx="6807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反闭环的极端样本：工具随便挑、自托管随意，「Harness 自由」的代价是没有任何联合优化红利。适合：成本敏感的批量推理、Agent 后端、自建工具链的技术团队。</a:t>
            </a:r>
            <a:endParaRPr lang="en-US" sz="1100" noProof="1"/>
          </a:p>
        </p:txBody>
      </p:sp>
      <p:sp>
        <p:nvSpPr>
          <p:cNvPr id="22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3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MiSans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4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它是「Harness 自由」的燃料供应商——工具随便挑，但没有任何一个工具为它深度联调；你省下订阅费，付出的是自己搭工具链的成本。</a:t>
            </a:r>
            <a:endParaRPr lang="en-US" sz="1100" noProof="1"/>
          </a:p>
        </p:txBody>
      </p:sp>
      <p:sp>
        <p:nvSpPr>
          <p:cNvPr id="25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七牛云资讯（峰谷计价）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DevTK（V4-Flash）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，2026-08</a:t>
            </a:r>
            <a:endParaRPr lang="en-US" sz="800" noProof="1"/>
          </a:p>
        </p:txBody>
      </p:sp>
      <p:sp>
        <p:nvSpPr>
          <p:cNvPr id="26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14 / 24</a:t>
            </a:r>
            <a:endParaRPr lang="en-US" sz="800" noProof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2 · 第二梯队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第二梯队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第三梯队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933"/>
                </a:solidFill>
                <a:latin typeface="Oranienbaum"/>
                <a:ea typeface="思源宋体"/>
              </a:rPr>
              <a:t>阿里锁的不是工具，而是你整个云账号</a:t>
            </a:r>
            <a:endParaRPr lang="en-US" sz="24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百炼 Coding Plan / Token Plan / Qoder 三线并行——多模型自由切换 + 云控制台生态闭环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prod-name"/>
          <p:cNvSpPr txBox="1"/>
          <p:nvPr/>
        </p:nvSpPr>
        <p:spPr>
          <a:xfrm>
            <a:off x="609600" y="15748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C3D5A"/>
                </a:solidFill>
                <a:latin typeface="Liter"/>
                <a:ea typeface="MiSans"/>
              </a:rPr>
              <a:t>千问 Token Plan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97A5B2"/>
                </a:solidFill>
                <a:latin typeface="MiSans"/>
                <a:ea typeface="MiSans"/>
              </a:rPr>
              <a:t>阿里云百炼 + Qoder · 三条产品线</a:t>
            </a:r>
            <a:endParaRPr lang="en-US" sz="1600" noProof="1"/>
          </a:p>
        </p:txBody>
      </p:sp>
      <p:sp>
        <p:nvSpPr>
          <p:cNvPr id="9" name="plan-h2"/>
          <p:cNvSpPr txBox="1"/>
          <p:nvPr/>
        </p:nvSpPr>
        <p:spPr>
          <a:xfrm>
            <a:off x="609600" y="233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订阅档位与价格</a:t>
            </a:r>
            <a:endParaRPr lang="en-US" sz="1350" noProof="1"/>
          </a:p>
        </p:txBody>
      </p:sp>
      <p:graphicFrame>
        <p:nvGraphicFramePr>
          <p:cNvPr id="10" name="plan-table"/>
          <p:cNvGraphicFramePr>
            <a:graphicFrameLocks noGrp="1"/>
          </p:cNvGraphicFramePr>
          <p:nvPr/>
        </p:nvGraphicFramePr>
        <p:xfrm>
          <a:off x="609600" y="2590800"/>
          <a:ext cx="3810000" cy="1778000"/>
        </p:xfrm>
        <a:graphic>
          <a:graphicData uri="http://schemas.openxmlformats.org/drawingml/2006/table">
            <a:tbl>
              <a:tblPr/>
              <a:tblGrid>
                <a:gridCol w="1219200"/>
                <a:gridCol w="1143000"/>
                <a:gridCol w="1447800"/>
              </a:tblGrid>
              <a:tr h="39116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产品线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档位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价格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462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百炼 Coding Plan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¥200/月·首月 ¥39.9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62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百炼 Token Plan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Lite/Std/Pro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¥39/139/499（限时价）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62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Qoder CN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Pro / Pro+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¥59 / ¥169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pros-h2"/>
          <p:cNvSpPr txBox="1"/>
          <p:nvPr/>
        </p:nvSpPr>
        <p:spPr>
          <a:xfrm>
            <a:off x="609600" y="4572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独特卖点与短板</a:t>
            </a:r>
            <a:endParaRPr lang="en-US" sz="1350" noProof="1"/>
          </a:p>
        </p:txBody>
      </p:sp>
      <p:sp>
        <p:nvSpPr>
          <p:cNvPr id="12" name="pros-body"/>
          <p:cNvSpPr txBox="1"/>
          <p:nvPr/>
        </p:nvSpPr>
        <p:spPr>
          <a:xfrm>
            <a:off x="609600" y="4826000"/>
            <a:ext cx="381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卖点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：150+ 直供模型自由切换 + 云生态整合，夜间 Qwen3.8-Max Credits 5 折。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短板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：三条产品线割裂感强，Coding Plan 限量抢购、严禁 API 自动化。</a:t>
            </a:r>
            <a:endParaRPr lang="en-US" sz="950" noProof="1"/>
          </a:p>
        </p:txBody>
      </p:sp>
      <p:sp>
        <p:nvSpPr>
          <p:cNvPr id="13" name="model-h2"/>
          <p:cNvSpPr txBox="1"/>
          <p:nvPr/>
        </p:nvSpPr>
        <p:spPr>
          <a:xfrm>
            <a:off x="4775200" y="15748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模型能力</a:t>
            </a:r>
            <a:endParaRPr lang="en-US" sz="1350" noProof="1"/>
          </a:p>
        </p:txBody>
      </p:sp>
      <p:sp>
        <p:nvSpPr>
          <p:cNvPr id="14" name="model-body"/>
          <p:cNvSpPr txBox="1"/>
          <p:nvPr/>
        </p:nvSpPr>
        <p:spPr>
          <a:xfrm>
            <a:off x="4775200" y="1828800"/>
            <a:ext cx="6807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Qwen3.8-Max 旗舰 + Qwen3-Coder 系列——开源编程模型的全球事实标准之一（qwen3-coder-plus API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$0.50 / $2.00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）；Token Plan 覆盖 150+ 阿里直供模型，Credits 统一计量。</a:t>
            </a:r>
            <a:endParaRPr lang="en-US" sz="1100" noProof="1"/>
          </a:p>
        </p:txBody>
      </p:sp>
      <p:sp>
        <p:nvSpPr>
          <p:cNvPr id="15" name="sep1"/>
          <p:cNvSpPr/>
          <p:nvPr/>
        </p:nvSpPr>
        <p:spPr>
          <a:xfrm>
            <a:off x="4775200" y="274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6" name="harness-h2"/>
          <p:cNvSpPr txBox="1"/>
          <p:nvPr/>
        </p:nvSpPr>
        <p:spPr>
          <a:xfrm>
            <a:off x="4775200" y="28956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配套 Harness 工具</a:t>
            </a:r>
            <a:endParaRPr lang="en-US" sz="1350" noProof="1"/>
          </a:p>
        </p:txBody>
      </p:sp>
      <p:sp>
        <p:nvSpPr>
          <p:cNvPr id="17" name="harness-rate"/>
          <p:cNvSpPr txBox="1"/>
          <p:nvPr/>
        </p:nvSpPr>
        <p:spPr>
          <a:xfrm>
            <a:off x="7112000" y="2895600"/>
            <a:ext cx="447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b="1">
                <a:solidFill>
                  <a:srgbClr val="B07D3A"/>
                </a:solidFill>
                <a:latin typeface="MiSans"/>
                <a:ea typeface="MiSans"/>
              </a:rPr>
              <a:t>成熟度 ●●●○○</a:t>
            </a:r>
            <a:endParaRPr lang="en-US" sz="1100" noProof="1"/>
          </a:p>
        </p:txBody>
      </p:sp>
      <p:sp>
        <p:nvSpPr>
          <p:cNvPr id="18" name="harness-body"/>
          <p:cNvSpPr txBox="1"/>
          <p:nvPr/>
        </p:nvSpPr>
        <p:spPr>
          <a:xfrm>
            <a:off x="4775200" y="3149600"/>
            <a:ext cx="6807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Liter"/>
                <a:ea typeface="MiSans"/>
              </a:rPr>
              <a:t>Qwen Code（开源 CLI，fork 自 Gemini CLI）+ Qoder IDE 全家桶（原通义灵码，Credits 统一计量 + SSO 闭环）。工具本身够用，但真正的引力在「云」而不在单点工具。</a:t>
            </a:r>
            <a:endParaRPr lang="en-US" sz="1050" noProof="1"/>
          </a:p>
        </p:txBody>
      </p:sp>
      <p:sp>
        <p:nvSpPr>
          <p:cNvPr id="19" name="sep2"/>
          <p:cNvSpPr/>
          <p:nvPr/>
        </p:nvSpPr>
        <p:spPr>
          <a:xfrm>
            <a:off x="4775200" y="401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20" name="loop-h2"/>
          <p:cNvSpPr txBox="1"/>
          <p:nvPr/>
        </p:nvSpPr>
        <p:spPr>
          <a:xfrm>
            <a:off x="4775200" y="416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生态闭环与适合场景</a:t>
            </a:r>
            <a:endParaRPr lang="en-US" sz="1350" noProof="1"/>
          </a:p>
        </p:txBody>
      </p:sp>
      <p:sp>
        <p:nvSpPr>
          <p:cNvPr id="21" name="loop-body"/>
          <p:cNvSpPr txBox="1"/>
          <p:nvPr/>
        </p:nvSpPr>
        <p:spPr>
          <a:xfrm>
            <a:off x="4775200" y="4419600"/>
            <a:ext cx="6807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云厂商式闭环：绑定的是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阿里云账号/控制台生态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而非单一工具；Coding Plan 仅限交互式编程、严禁 API 自动化（9 万次请求/月）。适合：已在阿里云生态内、需要多模型自由切换的团队。</a:t>
            </a:r>
            <a:endParaRPr lang="en-US" sz="1100" noProof="1"/>
          </a:p>
        </p:txBody>
      </p:sp>
      <p:sp>
        <p:nvSpPr>
          <p:cNvPr id="22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3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MiSans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4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别的厂商锁工具，阿里锁的是云平台——这份订阅背后是整个百炼控制台的分量：你买的不只是模型额度，是云账号的武装等级。</a:t>
            </a:r>
            <a:endParaRPr lang="en-US" sz="1100" noProof="1"/>
          </a:p>
        </p:txBody>
      </p:sp>
      <p:sp>
        <p:nvSpPr>
          <p:cNvPr id="25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阿里云 Qoder 订阅文档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百炼模型定价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，2026-08（限时价以官网为准）</a:t>
            </a:r>
            <a:endParaRPr lang="en-US" sz="800" noProof="1"/>
          </a:p>
        </p:txBody>
      </p:sp>
      <p:sp>
        <p:nvSpPr>
          <p:cNvPr id="26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15 / 24</a:t>
            </a:r>
            <a:endParaRPr lang="en-US" sz="8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2 · 第二梯队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第二梯队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第三梯队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933"/>
                </a:solidFill>
                <a:latin typeface="Oranienbaum"/>
                <a:ea typeface="思源宋体"/>
              </a:rPr>
              <a:t>Doubao 登顶 SOTA 的 78.8%，只在 TRAE 里生效</a:t>
            </a:r>
            <a:endParaRPr lang="en-US" sz="24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Coding Plan 聚合国产全系模型 + 业界首个 Agent 套餐包，首两月 2.5 折 ¥9.9 起（至 2026-11-08）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prod-name"/>
          <p:cNvSpPr txBox="1"/>
          <p:nvPr/>
        </p:nvSpPr>
        <p:spPr>
          <a:xfrm>
            <a:off x="609600" y="15748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C3D5A"/>
                </a:solidFill>
                <a:latin typeface="Liter"/>
                <a:ea typeface="MiSans"/>
              </a:rPr>
              <a:t>火山引擎 Coding/Agent Plan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97A5B2"/>
                </a:solidFill>
                <a:latin typeface="MiSans"/>
                <a:ea typeface="MiSans"/>
              </a:rPr>
              <a:t>字节跳动 · 套餐 + TRAE（AI IDE）</a:t>
            </a:r>
            <a:endParaRPr lang="en-US" sz="1600" noProof="1"/>
          </a:p>
        </p:txBody>
      </p:sp>
      <p:sp>
        <p:nvSpPr>
          <p:cNvPr id="9" name="plan-h2"/>
          <p:cNvSpPr txBox="1"/>
          <p:nvPr/>
        </p:nvSpPr>
        <p:spPr>
          <a:xfrm>
            <a:off x="609600" y="233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订阅档位与价格</a:t>
            </a:r>
            <a:endParaRPr lang="en-US" sz="1350" noProof="1"/>
          </a:p>
        </p:txBody>
      </p:sp>
      <p:graphicFrame>
        <p:nvGraphicFramePr>
          <p:cNvPr id="10" name="plan-table"/>
          <p:cNvGraphicFramePr>
            <a:graphicFrameLocks noGrp="1"/>
          </p:cNvGraphicFramePr>
          <p:nvPr/>
        </p:nvGraphicFramePr>
        <p:xfrm>
          <a:off x="609600" y="2590800"/>
          <a:ext cx="3810000" cy="1778000"/>
        </p:xfrm>
        <a:graphic>
          <a:graphicData uri="http://schemas.openxmlformats.org/drawingml/2006/table">
            <a:tbl>
              <a:tblPr/>
              <a:tblGrid>
                <a:gridCol w="1143000"/>
                <a:gridCol w="990600"/>
                <a:gridCol w="1676400"/>
              </a:tblGrid>
              <a:tr h="39116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套餐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价格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要点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462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Coding Plan Lite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¥40/月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首两月 ¥9.9（2.5 折）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62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Coding Plan 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¥200/月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首两月 ¥49.9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622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Agent Plan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¥40–1,000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Small–Max·AFP 燃料值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pros-h2"/>
          <p:cNvSpPr txBox="1"/>
          <p:nvPr/>
        </p:nvSpPr>
        <p:spPr>
          <a:xfrm>
            <a:off x="609600" y="4572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独特卖点与短板</a:t>
            </a:r>
            <a:endParaRPr lang="en-US" sz="1350" noProof="1"/>
          </a:p>
        </p:txBody>
      </p:sp>
      <p:sp>
        <p:nvSpPr>
          <p:cNvPr id="12" name="pros-body"/>
          <p:cNvSpPr txBox="1"/>
          <p:nvPr/>
        </p:nvSpPr>
        <p:spPr>
          <a:xfrm>
            <a:off x="609600" y="4826000"/>
            <a:ext cx="381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卖点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：一站聚合国产全系模型 + 多模态 Agent；Agent Plan Medium 实测约 2 亿 token、单百万约 ¥1。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短板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：限量秒杀、四层限额规则复杂，Doubao 模型无独立订阅。</a:t>
            </a:r>
            <a:endParaRPr lang="en-US" sz="950" noProof="1"/>
          </a:p>
        </p:txBody>
      </p:sp>
      <p:sp>
        <p:nvSpPr>
          <p:cNvPr id="13" name="model-h2"/>
          <p:cNvSpPr txBox="1"/>
          <p:nvPr/>
        </p:nvSpPr>
        <p:spPr>
          <a:xfrm>
            <a:off x="4775200" y="15748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模型能力</a:t>
            </a:r>
            <a:endParaRPr lang="en-US" sz="1350" noProof="1"/>
          </a:p>
        </p:txBody>
      </p:sp>
      <p:sp>
        <p:nvSpPr>
          <p:cNvPr id="14" name="model-body"/>
          <p:cNvSpPr txBox="1"/>
          <p:nvPr/>
        </p:nvSpPr>
        <p:spPr>
          <a:xfrm>
            <a:off x="4775200" y="1828800"/>
            <a:ext cx="6807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Doubao-Seed-Code：256K 上下文，国内首个支持视觉理解的编程模型，综合成本降 62.7%；与 TRAE 深度联调后 SWE-Bench Verified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78.80% 登顶 SOTA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——该分数仅在 TRAE 内达成。</a:t>
            </a:r>
            <a:endParaRPr lang="en-US" sz="1100" noProof="1"/>
          </a:p>
        </p:txBody>
      </p:sp>
      <p:sp>
        <p:nvSpPr>
          <p:cNvPr id="15" name="sep1"/>
          <p:cNvSpPr/>
          <p:nvPr/>
        </p:nvSpPr>
        <p:spPr>
          <a:xfrm>
            <a:off x="4775200" y="274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6" name="harness-h2"/>
          <p:cNvSpPr txBox="1"/>
          <p:nvPr/>
        </p:nvSpPr>
        <p:spPr>
          <a:xfrm>
            <a:off x="4775200" y="28956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配套 Harness 工具</a:t>
            </a:r>
            <a:endParaRPr lang="en-US" sz="1350" noProof="1"/>
          </a:p>
        </p:txBody>
      </p:sp>
      <p:sp>
        <p:nvSpPr>
          <p:cNvPr id="17" name="harness-rate"/>
          <p:cNvSpPr txBox="1"/>
          <p:nvPr/>
        </p:nvSpPr>
        <p:spPr>
          <a:xfrm>
            <a:off x="7112000" y="2895600"/>
            <a:ext cx="447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b="1">
                <a:solidFill>
                  <a:srgbClr val="B07D3A"/>
                </a:solidFill>
                <a:latin typeface="MiSans"/>
                <a:ea typeface="MiSans"/>
              </a:rPr>
              <a:t>成熟度 ●●●●○</a:t>
            </a:r>
            <a:endParaRPr lang="en-US" sz="1100" noProof="1"/>
          </a:p>
        </p:txBody>
      </p:sp>
      <p:sp>
        <p:nvSpPr>
          <p:cNvPr id="18" name="harness-body"/>
          <p:cNvSpPr txBox="1"/>
          <p:nvPr/>
        </p:nvSpPr>
        <p:spPr>
          <a:xfrm>
            <a:off x="4775200" y="3149600"/>
            <a:ext cx="6807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Liter"/>
                <a:ea typeface="MiSans"/>
              </a:rPr>
              <a:t>TRAE（字节 AI IDE，VS Code fork）：豆包编程能力</a:t>
            </a:r>
            <a:r>
              <a:rPr lang="en-US" sz="1050" noProof="1" b="1">
                <a:solidFill>
                  <a:srgbClr val="1F2933"/>
                </a:solidFill>
                <a:latin typeface="Liter"/>
                <a:ea typeface="MiSans"/>
              </a:rPr>
              <a:t>不单独售卖</a:t>
            </a:r>
            <a:r>
              <a:rPr lang="en-US" sz="1050" noProof="1">
                <a:solidFill>
                  <a:srgbClr val="1F2933"/>
                </a:solidFill>
                <a:latin typeface="Liter"/>
                <a:ea typeface="MiSans"/>
              </a:rPr>
              <a:t>，只经 Coding Plan 与 TRAE 提供；TRAE 国际版独立订阅 $3–100/月，国内版免费引流。套餐覆盖 Doubao-Seed-Code、GLM-5.3、Kimi-K3、MiniMax-M3、DeepSeek-V4 + Auto 智能调度。</a:t>
            </a:r>
            <a:endParaRPr lang="en-US" sz="1050" noProof="1"/>
          </a:p>
        </p:txBody>
      </p:sp>
      <p:sp>
        <p:nvSpPr>
          <p:cNvPr id="19" name="sep2"/>
          <p:cNvSpPr/>
          <p:nvPr/>
        </p:nvSpPr>
        <p:spPr>
          <a:xfrm>
            <a:off x="4775200" y="401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20" name="loop-h2"/>
          <p:cNvSpPr txBox="1"/>
          <p:nvPr/>
        </p:nvSpPr>
        <p:spPr>
          <a:xfrm>
            <a:off x="4775200" y="416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生态闭环与适合场景</a:t>
            </a:r>
            <a:endParaRPr lang="en-US" sz="1350" noProof="1"/>
          </a:p>
        </p:txBody>
      </p:sp>
      <p:sp>
        <p:nvSpPr>
          <p:cNvPr id="21" name="loop-body"/>
          <p:cNvSpPr txBox="1"/>
          <p:nvPr/>
        </p:nvSpPr>
        <p:spPr>
          <a:xfrm>
            <a:off x="4775200" y="4419600"/>
            <a:ext cx="6807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国内模型覆盖面最广的聚合入口 + 自家 IDE 深度联调，双向锁定。适合：想一站用遍国产全系模型、重度依赖 IDE 内 Agent 的团队；抢不到限量、受不了四层限额规则的需谨慎。</a:t>
            </a:r>
            <a:endParaRPr lang="en-US" sz="1100" noProof="1"/>
          </a:p>
        </p:txBody>
      </p:sp>
      <p:sp>
        <p:nvSpPr>
          <p:cNvPr id="22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3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MiSans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4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「模型+工具联调登顶 SOTA」的官方样板——78.8% 这个分数只存在于 TRAE 里：买 Coding Plan，本质是为这份联调优化付费。</a:t>
            </a:r>
            <a:endParaRPr lang="en-US" sz="1100" noProof="1"/>
          </a:p>
        </p:txBody>
      </p:sp>
      <p:sp>
        <p:nvSpPr>
          <p:cNvPr id="25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火山引擎官方文档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中国日报（TRAE×Doubao）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，2026-08（折扣至 2026-11-08）</a:t>
            </a:r>
            <a:endParaRPr lang="en-US" sz="800" noProof="1"/>
          </a:p>
        </p:txBody>
      </p:sp>
      <p:sp>
        <p:nvSpPr>
          <p:cNvPr id="26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16 / 24</a:t>
            </a:r>
            <a:endParaRPr lang="en-US" sz="8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2 · 第二梯队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第二梯队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第三梯队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400" noProof="1" b="1">
                <a:solidFill>
                  <a:srgbClr val="1F2933"/>
                </a:solidFill>
                <a:latin typeface="Oranienbaum"/>
                <a:ea typeface="思源宋体"/>
              </a:rPr>
              <a:t>Google 用免费 CLI 引流，用 Ultra 档收网</a:t>
            </a:r>
            <a:endParaRPr lang="en-US" sz="24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五档订阅按「计算量」代币池计费——编程额度只是钩子，2TB 存储与 YouTube 才是锁链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prod-name"/>
          <p:cNvSpPr txBox="1"/>
          <p:nvPr/>
        </p:nvSpPr>
        <p:spPr>
          <a:xfrm>
            <a:off x="609600" y="15748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C3D5A"/>
                </a:solidFill>
                <a:latin typeface="Liter"/>
                <a:ea typeface="MiSans"/>
              </a:rPr>
              <a:t>Gemini AI Pro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950" noProof="1">
                <a:solidFill>
                  <a:srgbClr val="97A5B2"/>
                </a:solidFill>
                <a:latin typeface="MiSans"/>
                <a:ea typeface="MiSans"/>
              </a:rPr>
              <a:t>Google · 订阅 + CLI / Antigravity / Jules</a:t>
            </a:r>
            <a:endParaRPr lang="en-US" sz="1600" noProof="1"/>
          </a:p>
        </p:txBody>
      </p:sp>
      <p:sp>
        <p:nvSpPr>
          <p:cNvPr id="9" name="plan-h2"/>
          <p:cNvSpPr txBox="1"/>
          <p:nvPr/>
        </p:nvSpPr>
        <p:spPr>
          <a:xfrm>
            <a:off x="609600" y="233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订阅档位与价格</a:t>
            </a:r>
            <a:endParaRPr lang="en-US" sz="1350" noProof="1"/>
          </a:p>
        </p:txBody>
      </p:sp>
      <p:graphicFrame>
        <p:nvGraphicFramePr>
          <p:cNvPr id="10" name="plan-table"/>
          <p:cNvGraphicFramePr>
            <a:graphicFrameLocks noGrp="1"/>
          </p:cNvGraphicFramePr>
          <p:nvPr/>
        </p:nvGraphicFramePr>
        <p:xfrm>
          <a:off x="609600" y="2590800"/>
          <a:ext cx="3810000" cy="1778000"/>
        </p:xfrm>
        <a:graphic>
          <a:graphicData uri="http://schemas.openxmlformats.org/drawingml/2006/table">
            <a:tbl>
              <a:tblPr/>
              <a:tblGrid>
                <a:gridCol w="990600"/>
                <a:gridCol w="914400"/>
                <a:gridCol w="1905000"/>
              </a:tblGrid>
              <a:tr h="2844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档位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价格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要点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2987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Free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CLI 免费额度慷慨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987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AI Plus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$7.99/月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入门档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987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AI 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$19.99/月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3.1 Pro·Jules·2TB·YT Lite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987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AI Ultra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$99.99/月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5× 额度·Antigravity 优先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9870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AI Ultra 20x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$200/月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Deep Think·实验功能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pros-h2"/>
          <p:cNvSpPr txBox="1"/>
          <p:nvPr/>
        </p:nvSpPr>
        <p:spPr>
          <a:xfrm>
            <a:off x="609600" y="4572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独特卖点与短板</a:t>
            </a:r>
            <a:endParaRPr lang="en-US" sz="1350" noProof="1"/>
          </a:p>
        </p:txBody>
      </p:sp>
      <p:sp>
        <p:nvSpPr>
          <p:cNvPr id="12" name="pros-body"/>
          <p:cNvSpPr txBox="1"/>
          <p:nvPr/>
        </p:nvSpPr>
        <p:spPr>
          <a:xfrm>
            <a:off x="609600" y="4826000"/>
            <a:ext cx="381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卖点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：打包 2TB 存储 + YouTube Premium，免费编程额度最慷慨。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短板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：国内支付门槛高，Antigravity 稳定性被吐槽。</a:t>
            </a:r>
            <a:endParaRPr lang="en-US" sz="950" noProof="1"/>
          </a:p>
        </p:txBody>
      </p:sp>
      <p:sp>
        <p:nvSpPr>
          <p:cNvPr id="13" name="model-h2"/>
          <p:cNvSpPr txBox="1"/>
          <p:nvPr/>
        </p:nvSpPr>
        <p:spPr>
          <a:xfrm>
            <a:off x="4775200" y="15748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模型能力</a:t>
            </a:r>
            <a:endParaRPr lang="en-US" sz="1350" noProof="1"/>
          </a:p>
        </p:txBody>
      </p:sp>
      <p:sp>
        <p:nvSpPr>
          <p:cNvPr id="14" name="model-body"/>
          <p:cNvSpPr txBox="1"/>
          <p:nvPr/>
        </p:nvSpPr>
        <p:spPr>
          <a:xfrm>
            <a:off x="4775200" y="1828800"/>
            <a:ext cx="6807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Gemini 3.1 Pro：GPQA Diamond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91.9%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、1M 上下文；编程略逊 Claude Opus，速度与超长上下文领先。3.5 Pro / Flash 为 Ultra 档独占，Deep Think 锁最高档——档位决定模型天花板。</a:t>
            </a:r>
            <a:endParaRPr lang="en-US" sz="1100" noProof="1"/>
          </a:p>
        </p:txBody>
      </p:sp>
      <p:sp>
        <p:nvSpPr>
          <p:cNvPr id="15" name="sep1"/>
          <p:cNvSpPr/>
          <p:nvPr/>
        </p:nvSpPr>
        <p:spPr>
          <a:xfrm>
            <a:off x="4775200" y="274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6" name="harness-h2"/>
          <p:cNvSpPr txBox="1"/>
          <p:nvPr/>
        </p:nvSpPr>
        <p:spPr>
          <a:xfrm>
            <a:off x="4775200" y="2895600"/>
            <a:ext cx="254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配套 Harness 工具</a:t>
            </a:r>
            <a:endParaRPr lang="en-US" sz="1350" noProof="1"/>
          </a:p>
        </p:txBody>
      </p:sp>
      <p:sp>
        <p:nvSpPr>
          <p:cNvPr id="17" name="harness-rate"/>
          <p:cNvSpPr txBox="1"/>
          <p:nvPr/>
        </p:nvSpPr>
        <p:spPr>
          <a:xfrm>
            <a:off x="7112000" y="2895600"/>
            <a:ext cx="44704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00" noProof="1" b="1">
                <a:solidFill>
                  <a:srgbClr val="B07D3A"/>
                </a:solidFill>
                <a:latin typeface="MiSans"/>
                <a:ea typeface="MiSans"/>
              </a:rPr>
              <a:t>成熟度 ●●●●○</a:t>
            </a:r>
            <a:endParaRPr lang="en-US" sz="1100" noProof="1"/>
          </a:p>
        </p:txBody>
      </p:sp>
      <p:sp>
        <p:nvSpPr>
          <p:cNvPr id="18" name="harness-body"/>
          <p:cNvSpPr txBox="1"/>
          <p:nvPr/>
        </p:nvSpPr>
        <p:spPr>
          <a:xfrm>
            <a:off x="4775200" y="3149600"/>
            <a:ext cx="6807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050" noProof="1">
                <a:solidFill>
                  <a:srgbClr val="1F2933"/>
                </a:solidFill>
                <a:latin typeface="Liter"/>
                <a:ea typeface="MiSans"/>
              </a:rPr>
              <a:t>Gemini CLI（开源，</a:t>
            </a:r>
            <a:r>
              <a:rPr lang="en-US" sz="1050" noProof="1" b="1">
                <a:solidFill>
                  <a:srgbClr val="1F2933"/>
                </a:solidFill>
                <a:latin typeface="Liter"/>
                <a:ea typeface="MiSans"/>
              </a:rPr>
              <a:t>免费账号额度慷慨</a:t>
            </a:r>
            <a:r>
              <a:rPr lang="en-US" sz="1050" noProof="1">
                <a:solidFill>
                  <a:srgbClr val="1F2933"/>
                </a:solidFill>
                <a:latin typeface="Liter"/>
                <a:ea typeface="MiSans"/>
              </a:rPr>
              <a:t>——免费 Harness 给订阅漏斗引流）+ Antigravity（Agent-first IDE，优先访问权锁 Ultra 档）+ Jules（异步编程 Agent，付费配额含在 Pro/Ultra 内）。</a:t>
            </a:r>
            <a:endParaRPr lang="en-US" sz="1050" noProof="1"/>
          </a:p>
        </p:txBody>
      </p:sp>
      <p:sp>
        <p:nvSpPr>
          <p:cNvPr id="19" name="sep2"/>
          <p:cNvSpPr/>
          <p:nvPr/>
        </p:nvSpPr>
        <p:spPr>
          <a:xfrm>
            <a:off x="4775200" y="401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20" name="loop-h2"/>
          <p:cNvSpPr txBox="1"/>
          <p:nvPr/>
        </p:nvSpPr>
        <p:spPr>
          <a:xfrm>
            <a:off x="4775200" y="416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生态闭环与适合场景</a:t>
            </a:r>
            <a:endParaRPr lang="en-US" sz="1350" noProof="1"/>
          </a:p>
        </p:txBody>
      </p:sp>
      <p:sp>
        <p:nvSpPr>
          <p:cNvPr id="21" name="loop-body"/>
          <p:cNvSpPr txBox="1"/>
          <p:nvPr/>
        </p:nvSpPr>
        <p:spPr>
          <a:xfrm>
            <a:off x="4775200" y="4419600"/>
            <a:ext cx="6807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漏斗式闭环：免费 CLI 尝甜头 → Pro 档拿全工具配额 → Ultra 档解锁 Antigravity 优先权与 Deep Think。适合：已深度使用 Google 生态、能搞定海外支付的国际开发者。</a:t>
            </a:r>
            <a:endParaRPr lang="en-US" sz="1100" noProof="1"/>
          </a:p>
        </p:txBody>
      </p:sp>
      <p:sp>
        <p:nvSpPr>
          <p:cNvPr id="22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3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MiSans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4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免费 CLI 引流、Ultra 档收网——订阅里塞满 2TB 存储和 YouTube，不是为了划算，是为了让你离不开整个 Google 生态。</a:t>
            </a:r>
            <a:endParaRPr lang="en-US" sz="1100" noProof="1"/>
          </a:p>
        </p:txBody>
      </p:sp>
      <p:sp>
        <p:nvSpPr>
          <p:cNvPr id="25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Google AI 订阅指南（Yotrade）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搜狐科技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，2026-08</a:t>
            </a:r>
            <a:endParaRPr lang="en-US" sz="800" noProof="1"/>
          </a:p>
        </p:txBody>
      </p:sp>
      <p:sp>
        <p:nvSpPr>
          <p:cNvPr id="26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17 / 24</a:t>
            </a:r>
            <a:endParaRPr lang="en-US" sz="800" noProof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第二梯队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第三梯队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办公Agent · 总结</a:t>
            </a:r>
            <a:endParaRPr lang="en-US" sz="900" noProof="1"/>
          </a:p>
        </p:txBody>
      </p:sp>
      <p:sp>
        <p:nvSpPr>
          <p:cNvPr id="3" name="chap-bignum"/>
          <p:cNvSpPr txBox="1"/>
          <p:nvPr/>
        </p:nvSpPr>
        <p:spPr>
          <a:xfrm>
            <a:off x="609600" y="1371600"/>
            <a:ext cx="3810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800" noProof="1" b="1">
                <a:solidFill>
                  <a:srgbClr val="EDF2F7"/>
                </a:solidFill>
                <a:latin typeface="Oranienbaum"/>
                <a:ea typeface="思源宋体"/>
              </a:rPr>
              <a:t>04</a:t>
            </a:r>
            <a:endParaRPr lang="en-US" sz="10800" noProof="1"/>
          </a:p>
        </p:txBody>
      </p:sp>
      <p:sp>
        <p:nvSpPr>
          <p:cNvPr id="4" name="chap-kicker"/>
          <p:cNvSpPr txBox="1"/>
          <p:nvPr/>
        </p:nvSpPr>
        <p:spPr>
          <a:xfrm>
            <a:off x="660400" y="3124200"/>
            <a:ext cx="508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3 · 新兴 / 垂直 / 轻量玩家</a:t>
            </a:r>
            <a:endParaRPr lang="en-US" sz="1000" noProof="1"/>
          </a:p>
        </p:txBody>
      </p:sp>
      <p:sp>
        <p:nvSpPr>
          <p:cNvPr id="5" name="chap-title"/>
          <p:cNvSpPr txBox="1"/>
          <p:nvPr/>
        </p:nvSpPr>
        <p:spPr>
          <a:xfrm>
            <a:off x="609600" y="3403600"/>
            <a:ext cx="91440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400" noProof="1" b="1">
                <a:solidFill>
                  <a:srgbClr val="1F2933"/>
                </a:solidFill>
                <a:latin typeface="Oranienbaum"/>
                <a:ea typeface="思源宋体"/>
              </a:rPr>
              <a:t>第三梯队</a:t>
            </a:r>
            <a:endParaRPr lang="en-US" sz="3400" noProof="1"/>
          </a:p>
        </p:txBody>
      </p:sp>
      <p:sp>
        <p:nvSpPr>
          <p:cNvPr id="6" name="chap-sub"/>
          <p:cNvSpPr txBox="1"/>
          <p:nvPr/>
        </p:nvSpPr>
        <p:spPr>
          <a:xfrm>
            <a:off x="609600" y="4114800"/>
            <a:ext cx="914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300" noProof="1">
                <a:solidFill>
                  <a:srgbClr val="5C6B7A"/>
                </a:solidFill>
                <a:latin typeface="Liter"/>
                <a:ea typeface="MiSans"/>
              </a:rPr>
              <a:t>新兴、垂直、轻量——以单点长板立足：极致价格、开源生态、本地隐私</a:t>
            </a:r>
            <a:endParaRPr lang="en-US" sz="1300" noProof="1"/>
          </a:p>
        </p:txBody>
      </p:sp>
      <p:sp>
        <p:nvSpPr>
          <p:cNvPr id="7" name="chap-bar"/>
          <p:cNvSpPr/>
          <p:nvPr/>
        </p:nvSpPr>
        <p:spPr>
          <a:xfrm>
            <a:off x="609600" y="45974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8" name="chap-list"/>
          <p:cNvSpPr txBox="1"/>
          <p:nvPr/>
        </p:nvSpPr>
        <p:spPr>
          <a:xfrm>
            <a:off x="609600" y="4953000"/>
            <a:ext cx="10414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200" noProof="1" b="1">
                <a:solidFill>
                  <a:srgbClr val="1C3D5A"/>
                </a:solidFill>
                <a:latin typeface="Liter"/>
                <a:ea typeface="MiSans"/>
              </a:rPr>
              <a:t>19</a:t>
            </a:r>
            <a:r>
              <a:rPr lang="en-US" sz="1200" noProof="1" b="1">
                <a:solidFill>
                  <a:srgbClr val="1F2933"/>
                </a:solidFill>
                <a:latin typeface="Liter"/>
                <a:ea typeface="MiSans"/>
              </a:rPr>
              <a:t>　Command Code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　$1/月的终端编程 Agent，赌「风格记忆」这块垂直长板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lang="en-US" sz="1200" noProof="1" b="1">
                <a:solidFill>
                  <a:srgbClr val="1C3D5A"/>
                </a:solidFill>
                <a:latin typeface="Liter"/>
                <a:ea typeface="MiSans"/>
              </a:rPr>
              <a:t>20</a:t>
            </a:r>
            <a:r>
              <a:rPr lang="en-US" sz="1200" noProof="1" b="1">
                <a:solidFill>
                  <a:srgbClr val="1F2933"/>
                </a:solidFill>
                <a:latin typeface="Liter"/>
                <a:ea typeface="MiSans"/>
              </a:rPr>
              <a:t>　商汤 Token Plan × 阶跃 Step Plan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　免费公测与半价额度，国产性价比打法先把 Harness 圈进来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900"/>
              </a:spcBef>
            </a:pPr>
            <a:r>
              <a:rPr lang="en-US" sz="1200" noProof="1" b="1">
                <a:solidFill>
                  <a:srgbClr val="1C3D5A"/>
                </a:solidFill>
                <a:latin typeface="Liter"/>
                <a:ea typeface="MiSans"/>
              </a:rPr>
              <a:t>21</a:t>
            </a:r>
            <a:r>
              <a:rPr lang="en-US" sz="1200" noProof="1" b="1">
                <a:solidFill>
                  <a:srgbClr val="1F2933"/>
                </a:solidFill>
                <a:latin typeface="Liter"/>
                <a:ea typeface="MiSans"/>
              </a:rPr>
              <a:t>　小米 MiMo × Ollama Pro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　开源生态入口与本地隐私主权，轻量订阅卖的都是自主权</a:t>
            </a:r>
            <a:endParaRPr lang="en-US" sz="1600" noProof="1"/>
          </a:p>
        </p:txBody>
      </p:sp>
      <p:sp>
        <p:nvSpPr>
          <p:cNvPr id="9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18 / 24</a:t>
            </a:r>
            <a:endParaRPr lang="en-US" sz="800" noProof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3 · 第三梯队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第二梯队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第三梯队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F2933"/>
                </a:solidFill>
                <a:latin typeface="Oranienbaum"/>
                <a:ea typeface="思源宋体"/>
              </a:rPr>
              <a:t>Command Code 用 $1 定价下注：「风格记忆」要做新的闭环入口</a:t>
            </a:r>
            <a:endParaRPr lang="en-US" sz="22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勿与 Anthropic Claude Code 混淆——GitHub 联合创始人领投的新兴终端 Agent，模型无关、风格档案存本地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prod-name"/>
          <p:cNvSpPr txBox="1"/>
          <p:nvPr/>
        </p:nvSpPr>
        <p:spPr>
          <a:xfrm>
            <a:off x="609600" y="1574800"/>
            <a:ext cx="381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2000" noProof="1" b="1">
                <a:solidFill>
                  <a:srgbClr val="1C3D5A"/>
                </a:solidFill>
                <a:latin typeface="Liter"/>
                <a:ea typeface="Liter"/>
              </a:rPr>
              <a:t>Command Code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5C6B7A"/>
                </a:solidFill>
                <a:latin typeface="MiSans"/>
                <a:ea typeface="MiSans"/>
              </a:rPr>
              <a:t>CommandCodeAI（前身 Langbase）· 新兴终端编程 Agent</a:t>
            </a:r>
            <a:endParaRPr lang="en-US" sz="1600" noProof="1"/>
          </a:p>
        </p:txBody>
      </p:sp>
      <p:sp>
        <p:nvSpPr>
          <p:cNvPr id="9" name="price-h2"/>
          <p:cNvSpPr txBox="1"/>
          <p:nvPr/>
        </p:nvSpPr>
        <p:spPr>
          <a:xfrm>
            <a:off x="609600" y="23368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订阅档位与价格</a:t>
            </a:r>
            <a:endParaRPr lang="en-US" sz="1350" noProof="1"/>
          </a:p>
        </p:txBody>
      </p:sp>
      <p:graphicFrame>
        <p:nvGraphicFramePr>
          <p:cNvPr id="10" name="price-table"/>
          <p:cNvGraphicFramePr>
            <a:graphicFrameLocks noGrp="1"/>
          </p:cNvGraphicFramePr>
          <p:nvPr/>
        </p:nvGraphicFramePr>
        <p:xfrm>
          <a:off x="609600" y="2590800"/>
          <a:ext cx="3810000" cy="17780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981200"/>
              </a:tblGrid>
              <a:tr h="2844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档位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价格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要点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Go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$1/月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含 $10 API 额度，仅开源模型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$15/月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解锁 Claude / GPT-5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Max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$100/月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用量再放大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37338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Ultra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$200/月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最高用量档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usp-h2"/>
          <p:cNvSpPr txBox="1"/>
          <p:nvPr/>
        </p:nvSpPr>
        <p:spPr>
          <a:xfrm>
            <a:off x="609600" y="45720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独特卖点与短板</a:t>
            </a:r>
            <a:endParaRPr lang="en-US" sz="1350" noProof="1"/>
          </a:p>
        </p:txBody>
      </p:sp>
      <p:sp>
        <p:nvSpPr>
          <p:cNvPr id="12" name="usp-body"/>
          <p:cNvSpPr txBox="1"/>
          <p:nvPr/>
        </p:nvSpPr>
        <p:spPr>
          <a:xfrm>
            <a:off x="609600" y="4826000"/>
            <a:ext cx="3810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卖点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：taste-1 持续学习你的编码风格，风格档案存本地 .commandcode/taste/。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短板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：初期 bug 多（粘贴崩溃、VS Code 失效），社区薄弱。</a:t>
            </a:r>
            <a:endParaRPr lang="en-US" sz="950" noProof="1"/>
          </a:p>
        </p:txBody>
      </p:sp>
      <p:sp>
        <p:nvSpPr>
          <p:cNvPr id="13" name="model-h2"/>
          <p:cNvSpPr txBox="1"/>
          <p:nvPr/>
        </p:nvSpPr>
        <p:spPr>
          <a:xfrm>
            <a:off x="4775200" y="15748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模型能力</a:t>
            </a:r>
            <a:endParaRPr lang="en-US" sz="1350" noProof="1"/>
          </a:p>
        </p:txBody>
      </p:sp>
      <p:sp>
        <p:nvSpPr>
          <p:cNvPr id="14" name="model-body"/>
          <p:cNvSpPr txBox="1"/>
          <p:nvPr/>
        </p:nvSpPr>
        <p:spPr>
          <a:xfrm>
            <a:off x="4775200" y="1828800"/>
            <a:ext cx="68072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自研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taste-1 神经符号模型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，持续学习用户编码风格（接受 / 拒绝 / 修改记录），风格档案落在本地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.commandcode/taste/taste.md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；同时模型无关——Claude、GPT、Gemini、Grok、DeepSeek、Qwen、Kimi、GLM、MiniMax 全接入，支持 BYOK。</a:t>
            </a:r>
            <a:endParaRPr lang="en-US" sz="1100" noProof="1"/>
          </a:p>
        </p:txBody>
      </p:sp>
      <p:sp>
        <p:nvSpPr>
          <p:cNvPr id="15" name="div1"/>
          <p:cNvSpPr/>
          <p:nvPr/>
        </p:nvSpPr>
        <p:spPr>
          <a:xfrm>
            <a:off x="4775200" y="274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6" name="harness-h2"/>
          <p:cNvSpPr txBox="1"/>
          <p:nvPr/>
        </p:nvSpPr>
        <p:spPr>
          <a:xfrm>
            <a:off x="4775200" y="289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配套 Harness 工具　</a:t>
            </a:r>
            <a:r>
              <a:rPr lang="en-US" sz="1350" noProof="1" b="1">
                <a:solidFill>
                  <a:srgbClr val="B07D3A"/>
                </a:solidFill>
                <a:latin typeface="Liter"/>
                <a:ea typeface="MiSans"/>
              </a:rPr>
              <a:t>●○○○○</a:t>
            </a:r>
            <a:r>
              <a:rPr lang="en-US" sz="900" noProof="1" b="1">
                <a:solidFill>
                  <a:srgbClr val="97A5B2"/>
                </a:solidFill>
                <a:latin typeface="Liter"/>
                <a:ea typeface="MiSans"/>
              </a:rPr>
              <a:t>　成熟度：发布初期</a:t>
            </a:r>
            <a:endParaRPr lang="en-US" sz="1350" noProof="1"/>
          </a:p>
        </p:txBody>
      </p:sp>
      <p:sp>
        <p:nvSpPr>
          <p:cNvPr id="17" name="harness-body"/>
          <p:cNvSpPr txBox="1"/>
          <p:nvPr/>
        </p:nvSpPr>
        <p:spPr>
          <a:xfrm>
            <a:off x="4775200" y="3149600"/>
            <a:ext cx="68072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纯终端 CLI，无 GUI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；2026 年 5 月才发布，粘贴崩溃、VS Code 集成失效等 bug 密集，社区生态薄弱——它的 Harness 本身仍是半成品，工具这一课还没补完。</a:t>
            </a:r>
            <a:endParaRPr lang="en-US" sz="1100" noProof="1"/>
          </a:p>
        </p:txBody>
      </p:sp>
      <p:sp>
        <p:nvSpPr>
          <p:cNvPr id="18" name="div2"/>
          <p:cNvSpPr/>
          <p:nvPr/>
        </p:nvSpPr>
        <p:spPr>
          <a:xfrm>
            <a:off x="4775200" y="4013200"/>
            <a:ext cx="68072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19" name="loop-h2"/>
          <p:cNvSpPr txBox="1"/>
          <p:nvPr/>
        </p:nvSpPr>
        <p:spPr>
          <a:xfrm>
            <a:off x="4775200" y="4165600"/>
            <a:ext cx="680720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1C3D5A"/>
                </a:solidFill>
                <a:latin typeface="Liter"/>
                <a:ea typeface="MiSans"/>
              </a:rPr>
              <a:t>生态闭环与适合场景</a:t>
            </a:r>
            <a:endParaRPr lang="en-US" sz="1350" noProof="1"/>
          </a:p>
        </p:txBody>
      </p:sp>
      <p:sp>
        <p:nvSpPr>
          <p:cNvPr id="20" name="loop-body"/>
          <p:cNvSpPr txBox="1"/>
          <p:nvPr/>
        </p:nvSpPr>
        <p:spPr>
          <a:xfrm>
            <a:off x="4775200" y="4419600"/>
            <a:ext cx="68072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GitHub 联合创始人 </a:t>
            </a:r>
            <a:r>
              <a:rPr lang="en-US" sz="1100" noProof="1" b="1">
                <a:solidFill>
                  <a:srgbClr val="1F2933"/>
                </a:solidFill>
                <a:latin typeface="Liter"/>
                <a:ea typeface="MiSans"/>
              </a:rPr>
              <a:t>Tom Preston-Werner 领投 $5M 种子轮</a:t>
            </a: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，出身光鲜但闭环未成形。适合 Vim / SSH / CI 环境、追求风格一致性的个人开发者尝鲜；不适合作为团队主力采购。</a:t>
            </a:r>
            <a:endParaRPr lang="en-US" sz="1100" noProof="1"/>
          </a:p>
        </p:txBody>
      </p:sp>
      <p:sp>
        <p:nvSpPr>
          <p:cNvPr id="21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2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Liter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3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$1 的定价不是促销而是宣言——它赌「风格记忆」这块垂直长板，能在巨头闭环之外长出新的订阅理由。</a:t>
            </a:r>
            <a:endParaRPr lang="en-US" sz="1100" noProof="1"/>
          </a:p>
        </p:txBody>
      </p:sp>
      <p:sp>
        <p:nvSpPr>
          <p:cNvPr id="24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TechStackUps 编程 Agent Harness 对比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OmniTools 工具档案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，2026-08</a:t>
            </a:r>
            <a:endParaRPr lang="en-US" sz="800" noProof="1"/>
          </a:p>
        </p:txBody>
      </p:sp>
      <p:sp>
        <p:nvSpPr>
          <p:cNvPr id="25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19 / 24</a:t>
            </a:r>
            <a:endParaRPr lang="en-US" sz="800" noProof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3 · 第三梯队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第二梯队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第三梯队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F2933"/>
                </a:solidFill>
                <a:latin typeface="Oranienbaum"/>
                <a:ea typeface="思源宋体"/>
              </a:rPr>
              <a:t>商汤免费、阶跃半价：第三梯队先把你的 Harness 圈进来</a:t>
            </a:r>
            <a:endParaRPr lang="en-US" sz="22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一个用免费公测换数据与入口，一个用翻倍额度换口碑——价格战的目标不是模型收入，是你的工具习惯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centerline"/>
          <p:cNvSpPr/>
          <p:nvPr/>
        </p:nvSpPr>
        <p:spPr>
          <a:xfrm>
            <a:off x="6096000" y="1549400"/>
            <a:ext cx="9525" cy="4038600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9" name="a-name"/>
          <p:cNvSpPr txBox="1"/>
          <p:nvPr/>
        </p:nvSpPr>
        <p:spPr>
          <a:xfrm>
            <a:off x="609600" y="1574800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C3D5A"/>
                </a:solidFill>
                <a:latin typeface="Liter"/>
                <a:ea typeface="Liter"/>
              </a:rPr>
              <a:t>商汤 Token Plan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5C6B7A"/>
                </a:solidFill>
                <a:latin typeface="MiSans"/>
                <a:ea typeface="MiSans"/>
              </a:rPr>
              <a:t>SenseNova · 商汤科技 ｜ 2026-05 上线公测</a:t>
            </a:r>
            <a:endParaRPr lang="en-US" sz="1600" noProof="1"/>
          </a:p>
        </p:txBody>
      </p:sp>
      <p:sp>
        <p:nvSpPr>
          <p:cNvPr id="10" name="a-price-h2"/>
          <p:cNvSpPr txBox="1"/>
          <p:nvPr/>
        </p:nvSpPr>
        <p:spPr>
          <a:xfrm>
            <a:off x="609600" y="2108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档位与价格</a:t>
            </a:r>
            <a:endParaRPr lang="en-US" sz="1250" noProof="1"/>
          </a:p>
        </p:txBody>
      </p:sp>
      <p:sp>
        <p:nvSpPr>
          <p:cNvPr id="11" name="a-price-body"/>
          <p:cNvSpPr txBox="1"/>
          <p:nvPr/>
        </p:nvSpPr>
        <p:spPr>
          <a:xfrm>
            <a:off x="609600" y="2336800"/>
            <a:ext cx="533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公测期完全免费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：每模型每 5 小时 1500 次调用、最多 20 个 API Key，兼容 OpenAI 格式，可接 OpenClaw / Cherry Studio。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付费档 </a:t>
            </a: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Lite / Pro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 标注「即将上线」、价格未公布；从 API 转向 Token 计量。</a:t>
            </a:r>
            <a:endParaRPr lang="en-US" sz="950" noProof="1"/>
          </a:p>
        </p:txBody>
      </p:sp>
      <p:sp>
        <p:nvSpPr>
          <p:cNvPr id="12" name="a-tool-h2"/>
          <p:cNvSpPr txBox="1"/>
          <p:nvPr/>
        </p:nvSpPr>
        <p:spPr>
          <a:xfrm>
            <a:off x="609600" y="3251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模型与工具</a:t>
            </a:r>
            <a:endParaRPr lang="en-US" sz="1250" noProof="1"/>
          </a:p>
        </p:txBody>
      </p:sp>
      <p:sp>
        <p:nvSpPr>
          <p:cNvPr id="13" name="a-tool-body"/>
          <p:cNvSpPr txBox="1"/>
          <p:nvPr/>
        </p:nvSpPr>
        <p:spPr>
          <a:xfrm>
            <a:off x="609600" y="3479800"/>
            <a:ext cx="5334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模型底座 </a:t>
            </a: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SenseNova U1 Pro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（2026 WAIC 发布，NEO-unify 原生多模态，定位「长程任务交付级智能体基座」）。配套</a:t>
            </a: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小浣熊代码助手 Raccoon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：个人版完全免费（VS Code / JetBrains，30+ 语言），企业版私有化定制、50-100 人团队首年 TCO 约 10-30 万元；办公小浣熊负责信息图生成。</a:t>
            </a:r>
            <a:endParaRPr lang="en-US" sz="950" noProof="1"/>
          </a:p>
        </p:txBody>
      </p:sp>
      <p:sp>
        <p:nvSpPr>
          <p:cNvPr id="14" name="a-loop-h2"/>
          <p:cNvSpPr txBox="1"/>
          <p:nvPr/>
        </p:nvSpPr>
        <p:spPr>
          <a:xfrm>
            <a:off x="609600" y="45720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闭环与场景</a:t>
            </a:r>
            <a:endParaRPr lang="en-US" sz="1250" noProof="1"/>
          </a:p>
        </p:txBody>
      </p:sp>
      <p:sp>
        <p:nvSpPr>
          <p:cNvPr id="15" name="a-loop-body"/>
          <p:cNvSpPr txBox="1"/>
          <p:nvPr/>
        </p:nvSpPr>
        <p:spPr>
          <a:xfrm>
            <a:off x="609600" y="48006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闭环中：模型 + SenseCore 算力 + 小浣熊应用 + Token Plan 开放接口；C 端免费获客、B 端政企私有化，</a:t>
            </a: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非典型订阅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。短板：编程模型非第一梯队、付费档未落地。</a:t>
            </a:r>
            <a:endParaRPr lang="en-US" sz="950" noProof="1"/>
          </a:p>
        </p:txBody>
      </p:sp>
      <p:sp>
        <p:nvSpPr>
          <p:cNvPr id="16" name="b-name"/>
          <p:cNvSpPr txBox="1"/>
          <p:nvPr/>
        </p:nvSpPr>
        <p:spPr>
          <a:xfrm>
            <a:off x="6248400" y="1574800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C3D5A"/>
                </a:solidFill>
                <a:latin typeface="Liter"/>
                <a:ea typeface="Liter"/>
              </a:rPr>
              <a:t>阶跃星辰 Step Plan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5C6B7A"/>
                </a:solidFill>
                <a:latin typeface="MiSans"/>
                <a:ea typeface="MiSans"/>
              </a:rPr>
              <a:t>StepFun · 阶跃星辰 ｜ 国产 Coding Plan 性价比标杆</a:t>
            </a:r>
            <a:endParaRPr lang="en-US" sz="1600" noProof="1"/>
          </a:p>
        </p:txBody>
      </p:sp>
      <p:sp>
        <p:nvSpPr>
          <p:cNvPr id="17" name="b-price-h2"/>
          <p:cNvSpPr txBox="1"/>
          <p:nvPr/>
        </p:nvSpPr>
        <p:spPr>
          <a:xfrm>
            <a:off x="6248400" y="2108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档位与价格</a:t>
            </a:r>
            <a:endParaRPr lang="en-US" sz="1250" noProof="1"/>
          </a:p>
        </p:txBody>
      </p:sp>
      <p:sp>
        <p:nvSpPr>
          <p:cNvPr id="18" name="b-price-body"/>
          <p:cNvSpPr txBox="1"/>
          <p:nvPr/>
        </p:nvSpPr>
        <p:spPr>
          <a:xfrm>
            <a:off x="6248400" y="2336800"/>
            <a:ext cx="533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Flash Mini ¥49 ｜ Flash Plus ¥99 ｜ Flash Pro ¥199 ｜ Flash Max ¥699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，开发者社区限时半价、低至 ¥25。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按 Prompt 计费（1 Prompt ≈ 15-20 次模型调用），5h + 周双限额；全档位统一高速推理，配专用 Base URL。</a:t>
            </a:r>
            <a:endParaRPr lang="en-US" sz="950" noProof="1"/>
          </a:p>
        </p:txBody>
      </p:sp>
      <p:sp>
        <p:nvSpPr>
          <p:cNvPr id="19" name="b-tool-h2"/>
          <p:cNvSpPr txBox="1"/>
          <p:nvPr/>
        </p:nvSpPr>
        <p:spPr>
          <a:xfrm>
            <a:off x="6248400" y="3251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模型与工具</a:t>
            </a:r>
            <a:endParaRPr lang="en-US" sz="1250" noProof="1"/>
          </a:p>
        </p:txBody>
      </p:sp>
      <p:sp>
        <p:nvSpPr>
          <p:cNvPr id="20" name="b-tool-body"/>
          <p:cNvSpPr txBox="1"/>
          <p:nvPr/>
        </p:nvSpPr>
        <p:spPr>
          <a:xfrm>
            <a:off x="6248400" y="3479800"/>
            <a:ext cx="5334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套餐仅含 </a:t>
            </a: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Step 3.5 Flash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 单模型（OpenRouter 周榜全球第一，旗舰未进套餐），支持智能路由切换 DeepSeek V4 Pro。</a:t>
            </a: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不绑工具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：兼容 OpenClaw / Claude Code / Cursor / Cline / Trae，MCP 支持规划中。</a:t>
            </a:r>
            <a:endParaRPr lang="en-US" sz="950" noProof="1"/>
          </a:p>
        </p:txBody>
      </p:sp>
      <p:sp>
        <p:nvSpPr>
          <p:cNvPr id="21" name="b-loop-h2"/>
          <p:cNvSpPr txBox="1"/>
          <p:nvPr/>
        </p:nvSpPr>
        <p:spPr>
          <a:xfrm>
            <a:off x="6248400" y="45720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闭环与场景</a:t>
            </a:r>
            <a:endParaRPr lang="en-US" sz="1250" noProof="1"/>
          </a:p>
        </p:txBody>
      </p:sp>
      <p:sp>
        <p:nvSpPr>
          <p:cNvPr id="22" name="b-loop-body"/>
          <p:cNvSpPr txBox="1"/>
          <p:nvPr/>
        </p:nvSpPr>
        <p:spPr>
          <a:xfrm>
            <a:off x="6248400" y="48006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¥99 档 5h 额度宣称是行业 ¥200 档的 2-6 倍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——2026 国产 Coding Plan 性价比标杆。短板：单模型依赖、推广价或回调；公司筹备港股 IPO，价格策略或再变。</a:t>
            </a:r>
            <a:endParaRPr lang="en-US" sz="950" noProof="1"/>
          </a:p>
        </p:txBody>
      </p:sp>
      <p:sp>
        <p:nvSpPr>
          <p:cNvPr id="23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4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Liter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5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商汤用免费换数据、阶跃用额度换口碑——第三梯队的共同打法，是先把你的 Harness 骗进来再说。</a:t>
            </a:r>
            <a:endParaRPr lang="en-US" sz="1100" noProof="1"/>
          </a:p>
        </p:txBody>
      </p:sp>
      <p:sp>
        <p:nvSpPr>
          <p:cNvPr id="26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商汤 SenseNova Token Plan 官网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新浪财经（阶跃 Step Plan）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，2026-08</a:t>
            </a:r>
            <a:endParaRPr lang="en-US" sz="800" noProof="1"/>
          </a:p>
        </p:txBody>
      </p:sp>
      <p:sp>
        <p:nvSpPr>
          <p:cNvPr id="27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20 / 24</a:t>
            </a:r>
            <a:endParaRPr lang="en-US" sz="800" noProof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TIER 3 · 第三梯队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第二梯队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第三梯队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办公Agent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F2933"/>
                </a:solidFill>
                <a:latin typeface="Oranienbaum"/>
                <a:ea typeface="思源宋体"/>
              </a:rPr>
              <a:t>小米赌生态入口、Ollama 赌隐私主权：轻量订阅卖自主权</a:t>
            </a:r>
            <a:endParaRPr lang="en-US" sz="22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一个用开源 MIT 与 ¥39 不限窗口给「人车家」生态供能，一个用固定月费保证数据不出机——都不卖模型，卖控制权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8" name="centerline"/>
          <p:cNvSpPr/>
          <p:nvPr/>
        </p:nvSpPr>
        <p:spPr>
          <a:xfrm>
            <a:off x="6096000" y="1549400"/>
            <a:ext cx="9525" cy="4038600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sp>
        <p:nvSpPr>
          <p:cNvPr id="9" name="a-name"/>
          <p:cNvSpPr txBox="1"/>
          <p:nvPr/>
        </p:nvSpPr>
        <p:spPr>
          <a:xfrm>
            <a:off x="609600" y="1574800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C3D5A"/>
                </a:solidFill>
                <a:latin typeface="Liter"/>
                <a:ea typeface="Liter"/>
              </a:rPr>
              <a:t>小米 MiMo Token Plan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5C6B7A"/>
                </a:solidFill>
                <a:latin typeface="MiSans"/>
                <a:ea typeface="MiSans"/>
              </a:rPr>
              <a:t>MiMo · 小米大模型团队 ｜ 开源 MIT 可商用</a:t>
            </a:r>
            <a:endParaRPr lang="en-US" sz="1600" noProof="1"/>
          </a:p>
        </p:txBody>
      </p:sp>
      <p:sp>
        <p:nvSpPr>
          <p:cNvPr id="10" name="a-price-h2"/>
          <p:cNvSpPr txBox="1"/>
          <p:nvPr/>
        </p:nvSpPr>
        <p:spPr>
          <a:xfrm>
            <a:off x="609600" y="2108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档位与价格</a:t>
            </a:r>
            <a:endParaRPr lang="en-US" sz="1250" noProof="1"/>
          </a:p>
        </p:txBody>
      </p:sp>
      <p:sp>
        <p:nvSpPr>
          <p:cNvPr id="11" name="a-price-body"/>
          <p:cNvSpPr txBox="1"/>
          <p:nvPr/>
        </p:nvSpPr>
        <p:spPr>
          <a:xfrm>
            <a:off x="609600" y="2336800"/>
            <a:ext cx="533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MiMo 编程套餐 ¥39/月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——国产 Coding Plan 中</a:t>
            </a: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唯一不限 5 小时窗口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；API 永久降价最高 99%（约为国际竞品 1/5），凌晨 0-8 点再 8 折。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另有百亿 Token 创造者激励；更早 V2-Flash 低至 $0.1 / $0.3 每百万 Token。</a:t>
            </a:r>
            <a:endParaRPr lang="en-US" sz="950" noProof="1"/>
          </a:p>
        </p:txBody>
      </p:sp>
      <p:sp>
        <p:nvSpPr>
          <p:cNvPr id="12" name="a-tool-h2"/>
          <p:cNvSpPr txBox="1"/>
          <p:nvPr/>
        </p:nvSpPr>
        <p:spPr>
          <a:xfrm>
            <a:off x="609600" y="3251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模型与工具</a:t>
            </a:r>
            <a:endParaRPr lang="en-US" sz="1250" noProof="1"/>
          </a:p>
        </p:txBody>
      </p:sp>
      <p:sp>
        <p:nvSpPr>
          <p:cNvPr id="13" name="a-tool-body"/>
          <p:cNvSpPr txBox="1"/>
          <p:nvPr/>
        </p:nvSpPr>
        <p:spPr>
          <a:xfrm>
            <a:off x="609600" y="3479800"/>
            <a:ext cx="5334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MiMo-V2.5 / V2.5-Pro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（2026-04 开源）：V2.5-Pro 登顶 Artificial Analysis 开源榜综合与 Agent 双第一，SWE-bench Pro 57.2 与 Claude Opus 4.6 持平，曾 4.3 小时近千轮工具调用从零写出 SysY 编译器——长程 Agent 稳定性是硬实力。</a:t>
            </a:r>
            <a:endParaRPr lang="en-US" sz="950" noProof="1"/>
          </a:p>
        </p:txBody>
      </p:sp>
      <p:sp>
        <p:nvSpPr>
          <p:cNvPr id="14" name="a-loop-h2"/>
          <p:cNvSpPr txBox="1"/>
          <p:nvPr/>
        </p:nvSpPr>
        <p:spPr>
          <a:xfrm>
            <a:off x="609600" y="45720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闭环与场景</a:t>
            </a:r>
            <a:endParaRPr lang="en-US" sz="1250" noProof="1"/>
          </a:p>
        </p:txBody>
      </p:sp>
      <p:sp>
        <p:nvSpPr>
          <p:cNvPr id="15" name="a-loop-body"/>
          <p:cNvSpPr txBox="1"/>
          <p:nvPr/>
        </p:nvSpPr>
        <p:spPr>
          <a:xfrm>
            <a:off x="609600" y="48006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定位为「人车家全生态」供能：手机 / 音箱 / 全屋智能 / 自动驾驶，开源打开发者生态。短板：迭代过快带来兼容性风险，工具链生态沉淀不及 Claude / 智谱。</a:t>
            </a:r>
            <a:endParaRPr lang="en-US" sz="950" noProof="1"/>
          </a:p>
        </p:txBody>
      </p:sp>
      <p:sp>
        <p:nvSpPr>
          <p:cNvPr id="16" name="b-name"/>
          <p:cNvSpPr txBox="1"/>
          <p:nvPr/>
        </p:nvSpPr>
        <p:spPr>
          <a:xfrm>
            <a:off x="6248400" y="1574800"/>
            <a:ext cx="5334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1C3D5A"/>
                </a:solidFill>
                <a:latin typeface="Liter"/>
                <a:ea typeface="Liter"/>
              </a:rPr>
              <a:t>Ollama Pro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en-US" sz="900" noProof="1">
                <a:solidFill>
                  <a:srgbClr val="5C6B7A"/>
                </a:solidFill>
                <a:latin typeface="MiSans"/>
                <a:ea typeface="MiSans"/>
              </a:rPr>
              <a:t>Ollama Cloud Pro ｜ 本地软件永久免费不限量</a:t>
            </a:r>
            <a:endParaRPr lang="en-US" sz="1600" noProof="1"/>
          </a:p>
        </p:txBody>
      </p:sp>
      <p:sp>
        <p:nvSpPr>
          <p:cNvPr id="17" name="b-price-h2"/>
          <p:cNvSpPr txBox="1"/>
          <p:nvPr/>
        </p:nvSpPr>
        <p:spPr>
          <a:xfrm>
            <a:off x="6248400" y="2108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档位与价格</a:t>
            </a:r>
            <a:endParaRPr lang="en-US" sz="1250" noProof="1"/>
          </a:p>
        </p:txBody>
      </p:sp>
      <p:sp>
        <p:nvSpPr>
          <p:cNvPr id="18" name="b-price-body"/>
          <p:cNvSpPr txBox="1"/>
          <p:nvPr/>
        </p:nvSpPr>
        <p:spPr>
          <a:xfrm>
            <a:off x="6248400" y="2336800"/>
            <a:ext cx="5334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Cloud Free $0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（1 并发）｜ </a:t>
            </a: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Cloud Pro $20/月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（年付 $200，3 并发、Free 的 50 倍用量、可上传私有模型）｜ Cloud Max $100（暂停新订阅扩容中）｜ Team $25/席 coming soon。</a:t>
            </a:r>
            <a:endParaRPr lang="en-US" sz="95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计费不按 Token：GPU 时长 + 5h 会话 + 7 天周限额。</a:t>
            </a:r>
            <a:endParaRPr lang="en-US" sz="950" noProof="1"/>
          </a:p>
        </p:txBody>
      </p:sp>
      <p:sp>
        <p:nvSpPr>
          <p:cNvPr id="19" name="b-tool-h2"/>
          <p:cNvSpPr txBox="1"/>
          <p:nvPr/>
        </p:nvSpPr>
        <p:spPr>
          <a:xfrm>
            <a:off x="6248400" y="3251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模型与工具</a:t>
            </a:r>
            <a:endParaRPr lang="en-US" sz="1250" noProof="1"/>
          </a:p>
        </p:txBody>
      </p:sp>
      <p:sp>
        <p:nvSpPr>
          <p:cNvPr id="20" name="b-tool-body"/>
          <p:cNvSpPr txBox="1"/>
          <p:nvPr/>
        </p:nvSpPr>
        <p:spPr>
          <a:xfrm>
            <a:off x="6248400" y="3479800"/>
            <a:ext cx="5334000" cy="990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本地 ↔ 云端同一 OpenAI 兼容接口，</a:t>
            </a: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改一个 base URL 即切换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；云端目录含 gpt-oss 120B、qwen3-coder 480B、DeepSeek V3.2、Kimi K2.5、GLM-5 等开源权重模型；支持 </a:t>
            </a: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ollama launch openclaw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 一键起 Agent。</a:t>
            </a:r>
            <a:endParaRPr lang="en-US" sz="950" noProof="1"/>
          </a:p>
        </p:txBody>
      </p:sp>
      <p:sp>
        <p:nvSpPr>
          <p:cNvPr id="21" name="b-loop-h2"/>
          <p:cNvSpPr txBox="1"/>
          <p:nvPr/>
        </p:nvSpPr>
        <p:spPr>
          <a:xfrm>
            <a:off x="6248400" y="45720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闭环与场景</a:t>
            </a:r>
            <a:endParaRPr lang="en-US" sz="1250" noProof="1"/>
          </a:p>
        </p:txBody>
      </p:sp>
      <p:sp>
        <p:nvSpPr>
          <p:cNvPr id="22" name="b-loop-body"/>
          <p:cNvSpPr txBox="1"/>
          <p:nvPr/>
        </p:nvSpPr>
        <p:spPr>
          <a:xfrm>
            <a:off x="6248400" y="48006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固定月费无爆表焦虑；承诺不记录不训练 prompt、托管伙伴零数据保留，月下载量超 5200 万。短板：无 SLA、吞吐不及 vLLM（同卡约 1/2.6）、云端模型目录小于 Together / Fireworks。</a:t>
            </a:r>
            <a:endParaRPr lang="en-US" sz="950" noProof="1"/>
          </a:p>
        </p:txBody>
      </p:sp>
      <p:sp>
        <p:nvSpPr>
          <p:cNvPr id="23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24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Liter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25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一个赌「开源 + 硬件生态入口」，一个赌「本地隐私主权」——第三梯队的轻量订阅，卖的都是自主权。</a:t>
            </a:r>
            <a:endParaRPr lang="en-US" sz="1100" noProof="1"/>
          </a:p>
        </p:txBody>
      </p:sp>
      <p:sp>
        <p:nvSpPr>
          <p:cNvPr id="26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小米 MiMo 官方文档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36氪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4"/>
              </a:rPr>
              <a:t>Ollama Pricing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，2026-08</a:t>
            </a:r>
            <a:endParaRPr lang="en-US" sz="800" noProof="1"/>
          </a:p>
        </p:txBody>
      </p:sp>
      <p:sp>
        <p:nvSpPr>
          <p:cNvPr id="27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21 / 24</a:t>
            </a:r>
            <a:endParaRPr lang="en-US" sz="800" noProof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OFFICE AGENTS · 独立赛道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第二梯队 · 第三梯队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办公Agent</a:t>
            </a: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 · 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F2933"/>
                </a:solidFill>
                <a:latin typeface="Oranienbaum"/>
                <a:ea typeface="思源宋体"/>
              </a:rPr>
              <a:t>办公 Agent 是另一条赛道：交付 PPT 和纪要，不是 PR</a:t>
            </a:r>
            <a:endParaRPr lang="en-US" sz="22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与编程 Harness 的计费、入口、生态逻辑完全不同——按你所在的 IM 生态站队即可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graphicFrame>
        <p:nvGraphicFramePr>
          <p:cNvPr id="8" name="office-table"/>
          <p:cNvGraphicFramePr>
            <a:graphicFrameLocks noGrp="1"/>
          </p:cNvGraphicFramePr>
          <p:nvPr/>
        </p:nvGraphicFramePr>
        <p:xfrm>
          <a:off x="609600" y="1625600"/>
          <a:ext cx="10972800" cy="2997200"/>
        </p:xfrm>
        <a:graphic>
          <a:graphicData uri="http://schemas.openxmlformats.org/drawingml/2006/table">
            <a:tbl>
              <a:tblPr/>
              <a:tblGrid>
                <a:gridCol w="1426464"/>
                <a:gridCol w="1316736"/>
                <a:gridCol w="2194560"/>
                <a:gridCol w="3072384"/>
                <a:gridCol w="1645920"/>
                <a:gridCol w="1316736"/>
              </a:tblGrid>
              <a:tr h="32969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产品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背后平台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价格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核心能力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生态闭环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适合人群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53350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腾讯 WorkBuddy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微信 / 企微 + 腾讯文档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个人 ¥99-999/月（连包 ¥70 起）；企业旗舰 ¥198/人/月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本地执行，Ask / Craft / Plan 三模式，20+ Skills，微信 / 企微远程指令；DAU 破 1300 万，桌面办公第一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高：One ID 打通腾讯文档 / 网盘 / 乐享 / 会议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微信生态团队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53350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字节豆包工作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飞书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个人 ¥68-500/月；飞书席位年付 ¥1,188-5,488/席/年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Seedream 5.0 生图 + Seedance 2.5 视频，多模态弹药最强；飞书文档 / 会议原生集成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高：飞书全家桶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飞书组织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53350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阿里千问办公 QwenWork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钉钉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个人 ¥98-198/月（活动 ¥78 起）；企业 ¥198/席/月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交付可编辑 PPT / Word / Excel / 全栈网页；打通钉钉 25 项企业能力（2600 万组织）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高：钉钉 + 百炼计费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钉钉组织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53350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钉钉 AI / 飞书 AI / 企微 AI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各 IM 平台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AI 表格 ¥18-35/人/月；飞书点数池 ¥9,900/年起；企微基础免费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平台内置协同 AI（审批 / 纪要 / 知识问答），Agent 能力由上面三家承载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已采购对应 IM 的企业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53350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WPS AI / 灵犀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WPS 文档体系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WPS AI 会员 ¥248/年；灵犀专业版 ¥50-500/月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文档智能基本盘；灵犀为独立 Agent，2026-08 起与客户端分离单独收费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文档重度用户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read-h2"/>
          <p:cNvSpPr txBox="1"/>
          <p:nvPr/>
        </p:nvSpPr>
        <p:spPr>
          <a:xfrm>
            <a:off x="609600" y="4775200"/>
            <a:ext cx="10972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1C3D5A"/>
                </a:solidFill>
                <a:latin typeface="Liter"/>
                <a:ea typeface="MiSans"/>
              </a:rPr>
              <a:t>三点解读：计费、焦点与选型</a:t>
            </a:r>
            <a:endParaRPr lang="en-US" sz="1250" noProof="1"/>
          </a:p>
        </p:txBody>
      </p:sp>
      <p:sp>
        <p:nvSpPr>
          <p:cNvPr id="10" name="read-body"/>
          <p:cNvSpPr txBox="1"/>
          <p:nvPr/>
        </p:nvSpPr>
        <p:spPr>
          <a:xfrm>
            <a:off x="609600" y="5003800"/>
            <a:ext cx="10972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① 计费逻辑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：编程类 = 订阅 / Token + 5h 窗口；办公类 = 积分制或席位年费 + 点数池，两套账本互不通用。</a:t>
            </a:r>
            <a:endParaRPr lang="en-US" sz="1000" noProof="1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② 竞争焦点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：2026 年 7-8 月腾讯 / 字节 / 阿里密集整合上线，从「能聊」转向「交付成品 + 组织数据打通」。</a:t>
            </a: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③ 选型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：办公 Agent 没有跨生态赢家，按组织所在 IM 站队。</a:t>
            </a:r>
            <a:endParaRPr lang="en-US" sz="1000" noProof="1"/>
          </a:p>
        </p:txBody>
      </p:sp>
      <p:sp>
        <p:nvSpPr>
          <p:cNvPr id="11" name="note-bar"/>
          <p:cNvSpPr/>
          <p:nvPr/>
        </p:nvSpPr>
        <p:spPr>
          <a:xfrm>
            <a:off x="609600" y="5664200"/>
            <a:ext cx="50800" cy="5334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12" name="note-label"/>
          <p:cNvSpPr txBox="1"/>
          <p:nvPr/>
        </p:nvSpPr>
        <p:spPr>
          <a:xfrm>
            <a:off x="812800" y="5664200"/>
            <a:ext cx="2794000" cy="165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>
                <a:solidFill>
                  <a:srgbClr val="B07D3A"/>
                </a:solidFill>
                <a:latin typeface="Liter"/>
                <a:ea typeface="MiSans"/>
              </a:rPr>
              <a:t>订阅 × 工具 绑定逻辑</a:t>
            </a:r>
            <a:endParaRPr lang="en-US" sz="1000" noProof="1"/>
          </a:p>
        </p:txBody>
      </p:sp>
      <p:sp>
        <p:nvSpPr>
          <p:cNvPr id="13" name="note-text"/>
          <p:cNvSpPr txBox="1"/>
          <p:nvPr/>
        </p:nvSpPr>
        <p:spPr>
          <a:xfrm>
            <a:off x="812800" y="5867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55000"/>
              </a:lnSpc>
            </a:pPr>
            <a:r>
              <a:rPr lang="en-US" sz="1100" noProof="1">
                <a:solidFill>
                  <a:srgbClr val="1F2933"/>
                </a:solidFill>
                <a:latin typeface="Liter"/>
                <a:ea typeface="MiSans"/>
              </a:rPr>
              <a:t>办公赛道的「Harness」就是 IM 本身——订阅买的不是模型额度，是组织数据的通行证。</a:t>
            </a:r>
            <a:endParaRPr lang="en-US" sz="1100" noProof="1"/>
          </a:p>
        </p:txBody>
      </p:sp>
      <p:sp>
        <p:nvSpPr>
          <p:cNvPr id="14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2"/>
              </a:rPr>
              <a:t>东方财富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3"/>
              </a:rPr>
              <a:t>飞书 AI 服务页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4"/>
              </a:rPr>
              <a:t>亿邦动力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 · </a:t>
            </a:r>
            <a:r>
              <a:rPr lang="en-US" sz="800" noProof="1" u="sng">
                <a:solidFill>
                  <a:srgbClr val="0563C1"/>
                </a:solidFill>
                <a:latin typeface="Liter"/>
                <a:ea typeface="MiSans"/>
                <a:hlinkClick r:id="rId5"/>
              </a:rPr>
              <a:t>WPS AI 价格</a:t>
            </a: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，2026-08</a:t>
            </a:r>
            <a:endParaRPr lang="en-US" sz="800" noProof="1"/>
          </a:p>
        </p:txBody>
      </p:sp>
      <p:sp>
        <p:nvSpPr>
          <p:cNvPr id="15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22 / 24</a:t>
            </a:r>
            <a:endParaRPr lang="en-US" sz="800" noProof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SUMMARY · 横向对比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第二梯队 · 第三梯队 · 办公Agent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100" noProof="1" b="1">
                <a:solidFill>
                  <a:srgbClr val="1F2933"/>
                </a:solidFill>
                <a:latin typeface="Oranienbaum"/>
                <a:ea typeface="思源宋体"/>
              </a:rPr>
              <a:t>16 款「订阅 × Harness」组合全景对比：闭环最深的组合胜率最高</a:t>
            </a:r>
            <a:endParaRPr lang="en-US" sz="21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150" noProof="1">
                <a:solidFill>
                  <a:srgbClr val="5C6B7A"/>
                </a:solidFill>
                <a:latin typeface="Liter"/>
                <a:ea typeface="MiSans"/>
              </a:rPr>
              <a:t>起步价为各产品官方最低付费档（2026-08，促销价以官网当期为准）；办公类 Agent 为独立赛道，见 P22</a:t>
            </a:r>
            <a:endParaRPr lang="en-US" sz="11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graphicFrame>
        <p:nvGraphicFramePr>
          <p:cNvPr id="8" name="summary-table"/>
          <p:cNvGraphicFramePr>
            <a:graphicFrameLocks noGrp="1"/>
          </p:cNvGraphicFramePr>
          <p:nvPr/>
        </p:nvGraphicFramePr>
        <p:xfrm>
          <a:off x="609600" y="1549400"/>
          <a:ext cx="10972800" cy="4318000"/>
        </p:xfrm>
        <a:graphic>
          <a:graphicData uri="http://schemas.openxmlformats.org/drawingml/2006/table">
            <a:tbl>
              <a:tblPr/>
              <a:tblGrid>
                <a:gridCol w="1404518"/>
                <a:gridCol w="1152144"/>
                <a:gridCol w="1843430"/>
                <a:gridCol w="2029968"/>
                <a:gridCol w="932688"/>
                <a:gridCol w="899770"/>
                <a:gridCol w="2710282"/>
              </a:tblGrid>
              <a:tr h="25044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订阅产品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起步价/月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核心模型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自家 Harness 工具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工具成熟度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生态闭环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9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最适合场景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Cloud Cursor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$20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Composer 2.5 + Grok 4.6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IDE + CLI + Cloud Agents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●●●●●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★★★★★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主力 IDE、云端并行 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OpenCode Go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$10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模型中立 · 75+ 提供商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终端 TUI + VS Code 插件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●●●○○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★☆☆☆☆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反锁定逃生舱、成本控制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SuperGrok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$30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Grok 4.5 / Code Fast 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Grok Build（终端 CLI）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●●○○○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★★★★☆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xAI 生态尝鲜、极低价 API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Codex × ChatGPT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$20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GPT-5.6 Sol（指数第一）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Web + CLI + IDE + GitHub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●●●●●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★★★★★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GitHub 团队、全端切换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Kimi × Kimi Code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¥49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K3（1M 上下文）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Kimi Code CLI + VS Code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●●●●○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★★★★☆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长任务 Agent、大仓库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智谱 × Z Code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¥94.4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GLM-5.3（开源榜第一）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Z Code ADE + 20 款白名单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●●●●○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★★★★☆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Claude Code 工作流平替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MiniMax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¥49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M3（SWE-Pro 59.0%）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MiniMax Code + CLI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●●●○○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★★★★☆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全模态统一订阅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DeepSeek API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按量 $0.22 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V4-Flash / Pro（MIT）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无官方 Harness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ct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☆ 反向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批量推理、自托管燃料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千问 Token Plan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¥39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Qwen3.8-Max / Coder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Qwen Code + Qoder 全家桶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●●●○○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★★★☆☆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阿里云生态团队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火山引擎双 Plan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¥40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Doubao-Seed-Code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TRAE（联调 78.8% 登顶）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●●●●○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★★★★★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国产模型一站聚合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Gemini AI 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$19.99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Gemini 3.1 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CLI + Antigravity + Jules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●●●●○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★★★★☆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Google 生态用户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Command Code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taste-1 风格学习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纯终端 CLI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●○○○○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★★☆☆☆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个人编码风格一致性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商汤 Token Plan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公测免费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SenseNova U1 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小浣熊 Raccoon 插件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●●○○○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★★★☆☆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政企私有化、多模态办公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阶跃 Step Plan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¥49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Step 3.5 Flash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不绑工具（兼容主流）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●●○○○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★★☆☆☆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高频 Agent 性价比之王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小米 MiMo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¥39 不限窗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MiMo-V2.5-Pro（MIT）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无专属 Harness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●●○○○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★★☆☆☆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碎片化使用、自建 Agent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25433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Ollama Pro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r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$20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开源权重模型池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本地+云端一体 CLI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B07D3A"/>
                          </a:solidFill>
                          <a:latin typeface="Liter"/>
                          <a:ea typeface="MiSans"/>
                        </a:rPr>
                        <a:t>●●●○○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00" noProof="1">
                          <a:solidFill>
                            <a:srgbClr val="1C3D5A"/>
                          </a:solidFill>
                          <a:latin typeface="Liter"/>
                          <a:ea typeface="MiSans"/>
                        </a:rPr>
                        <a:t>★★☆☆☆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85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隐私主权、本地部署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insight-bar"/>
          <p:cNvSpPr/>
          <p:nvPr/>
        </p:nvSpPr>
        <p:spPr>
          <a:xfrm>
            <a:off x="609600" y="6019800"/>
            <a:ext cx="50800" cy="3048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10" name="insight-text"/>
          <p:cNvSpPr txBox="1"/>
          <p:nvPr/>
        </p:nvSpPr>
        <p:spPr>
          <a:xfrm>
            <a:off x="812800" y="5994400"/>
            <a:ext cx="10769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950" noProof="1" b="1">
                <a:solidFill>
                  <a:srgbClr val="5C6B7A"/>
                </a:solidFill>
                <a:latin typeface="Liter"/>
                <a:ea typeface="MiSans"/>
              </a:rPr>
              <a:t>读表结论</a:t>
            </a:r>
            <a:r>
              <a:rPr lang="en-US" sz="950" noProof="1">
                <a:solidFill>
                  <a:srgbClr val="5C6B7A"/>
                </a:solidFill>
                <a:latin typeface="Liter"/>
                <a:ea typeface="MiSans"/>
              </a:rPr>
              <a:t>：工具成熟度与生态闭环双高的组合（Cursor、Codex、火山×TRAE、Kimi）集中在第一梯队与国产头部；第三梯队主动用「低闭环」换取价格与自主权。</a:t>
            </a:r>
            <a:endParaRPr lang="en-US" sz="950" noProof="1"/>
          </a:p>
        </p:txBody>
      </p:sp>
      <p:sp>
        <p:nvSpPr>
          <p:cNvPr id="11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各厂商官网及定价追踪页（2026-08）；评级为本报告基于公开信息的分析判断</a:t>
            </a:r>
            <a:endParaRPr lang="en-US" sz="800" noProof="1"/>
          </a:p>
        </p:txBody>
      </p:sp>
      <p:sp>
        <p:nvSpPr>
          <p:cNvPr id="12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23 / 24</a:t>
            </a:r>
            <a:endParaRPr lang="en-US" sz="800" noProof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30200"/>
            <a:ext cx="533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300" kern="0">
                <a:solidFill>
                  <a:srgbClr val="3E6486"/>
                </a:solidFill>
                <a:latin typeface="Liter"/>
                <a:ea typeface="MiSans"/>
              </a:rPr>
              <a:t>RECOMMENDATIONS · 选型建议</a:t>
            </a:r>
            <a:endParaRPr lang="en-US" sz="1000" noProof="1"/>
          </a:p>
        </p:txBody>
      </p:sp>
      <p:sp>
        <p:nvSpPr>
          <p:cNvPr id="3" name="nav"/>
          <p:cNvSpPr txBox="1"/>
          <p:nvPr/>
        </p:nvSpPr>
        <p:spPr>
          <a:xfrm>
            <a:off x="6096000" y="304800"/>
            <a:ext cx="548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97A5B2"/>
                </a:solidFill>
                <a:latin typeface="Liter"/>
                <a:ea typeface="MiSans"/>
              </a:rPr>
              <a:t>核心框架 · 第一梯队 · 第二梯队 · 第三梯队 · 办公Agent · </a:t>
            </a:r>
            <a:r>
              <a:rPr lang="en-US" sz="900" noProof="1" b="1">
                <a:solidFill>
                  <a:srgbClr val="3E6486"/>
                </a:solidFill>
                <a:latin typeface="Liter"/>
                <a:ea typeface="MiSans"/>
              </a:rPr>
              <a:t>总结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584200"/>
            <a:ext cx="109728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2200" noProof="1" b="1">
                <a:solidFill>
                  <a:srgbClr val="1F2933"/>
                </a:solidFill>
                <a:latin typeface="Oranienbaum"/>
                <a:ea typeface="思源宋体"/>
              </a:rPr>
              <a:t>选型路线：先定你要天天用的 Harness 工具，再买它背后的订阅</a:t>
            </a:r>
            <a:endParaRPr lang="en-US" sz="2200" noProof="1"/>
          </a:p>
        </p:txBody>
      </p:sp>
      <p:sp>
        <p:nvSpPr>
          <p:cNvPr id="5" name="subtitle"/>
          <p:cNvSpPr txBox="1"/>
          <p:nvPr/>
        </p:nvSpPr>
        <p:spPr>
          <a:xfrm>
            <a:off x="609600" y="1041400"/>
            <a:ext cx="10972800" cy="215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40000"/>
              </a:lnSpc>
            </a:pPr>
            <a:r>
              <a:rPr lang="en-US" sz="1250" noProof="1">
                <a:solidFill>
                  <a:srgbClr val="5C6B7A"/>
                </a:solidFill>
                <a:latin typeface="Liter"/>
                <a:ea typeface="MiSans"/>
              </a:rPr>
              <a:t>工具决定体验上限，订阅决定使用额度——顺序别反了</a:t>
            </a:r>
            <a:endParaRPr lang="en-US" sz="1250" noProof="1"/>
          </a:p>
        </p:txBody>
      </p:sp>
      <p:sp>
        <p:nvSpPr>
          <p:cNvPr id="6" name="titlebar"/>
          <p:cNvSpPr/>
          <p:nvPr/>
        </p:nvSpPr>
        <p:spPr>
          <a:xfrm>
            <a:off x="609600" y="1346200"/>
            <a:ext cx="711200" cy="38100"/>
          </a:xfrm>
          <a:prstGeom prst="rect">
            <a:avLst/>
          </a:prstGeom>
          <a:solidFill>
            <a:srgbClr val="1C3D5A"/>
          </a:solidFill>
          <a:ln>
            <a:noFill/>
          </a:ln>
        </p:spPr>
      </p:sp>
      <p:sp>
        <p:nvSpPr>
          <p:cNvPr id="7" name="titleline"/>
          <p:cNvSpPr/>
          <p:nvPr/>
        </p:nvSpPr>
        <p:spPr>
          <a:xfrm>
            <a:off x="609600" y="1409700"/>
            <a:ext cx="10972800" cy="9525"/>
          </a:xfrm>
          <a:prstGeom prst="rect">
            <a:avLst/>
          </a:prstGeom>
          <a:solidFill>
            <a:srgbClr val="D5DDE5"/>
          </a:solidFill>
          <a:ln>
            <a:noFill/>
          </a:ln>
        </p:spPr>
      </p:sp>
      <p:graphicFrame>
        <p:nvGraphicFramePr>
          <p:cNvPr id="8" name="rec-table"/>
          <p:cNvGraphicFramePr>
            <a:graphicFrameLocks noGrp="1"/>
          </p:cNvGraphicFramePr>
          <p:nvPr/>
        </p:nvGraphicFramePr>
        <p:xfrm>
          <a:off x="609600" y="1651000"/>
          <a:ext cx="10972800" cy="31242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291840"/>
                <a:gridCol w="2194560"/>
              </a:tblGrid>
              <a:tr h="40614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你是谁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推荐「订阅 × 工具」组合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理由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FFFFFF"/>
                          </a:solidFill>
                          <a:latin typeface="Liter"/>
                          <a:ea typeface="MiSans"/>
                        </a:rPr>
                        <a:t>月成本参考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solidFill>
                      <a:srgbClr val="1C3D5A"/>
                    </a:solidFill>
                  </a:tcPr>
                </a:tc>
              </a:tr>
              <a:tr h="45300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国际全栈 · 预算充足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Cursor Pro+ / Ultra × Cursor 全家桶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云端 Agent 触发面最广，自家模型池 1/10 成本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$60–200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5300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GitHub 重度团队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ChatGPT Plus/Business × Codex 云端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PR 委派 + 自动 review，免费档即可试水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$20–25/席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5300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国内终端主力开发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Kimi 会员 × Kimi Code；智谱 Coding Plan × Claude Code/Z Code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国产 CLI 成熟度前二，直连无代理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¥94–199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5300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极致性价比 / 学生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小米 MiMo ¥39、阶跃 ¥99、MiniMax ¥49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兼容主流 Harness，成本为 Claude Pro 的 1/3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¥39–99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5300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多模型聚合需求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火山引擎 Coding Plan × TRAE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一站聚合国产全系模型 + Auto 调度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¥40–200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  <a:tr h="453009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 b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隐私优先 / 本地部署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Ollama 本地（免费）+ Cloud Pro 溢出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数据不出机，固定月费无爆表焦虑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000" noProof="1">
                          <a:solidFill>
                            <a:srgbClr val="1F2933"/>
                          </a:solidFill>
                          <a:latin typeface="Liter"/>
                          <a:ea typeface="MiSans"/>
                        </a:rPr>
                        <a:t>$0–20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5DDE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office-note"/>
          <p:cNvSpPr txBox="1"/>
          <p:nvPr/>
        </p:nvSpPr>
        <p:spPr>
          <a:xfrm>
            <a:off x="609600" y="4953000"/>
            <a:ext cx="109728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000" noProof="1" b="1">
                <a:solidFill>
                  <a:srgbClr val="5C6B7A"/>
                </a:solidFill>
                <a:latin typeface="Liter"/>
                <a:ea typeface="MiSans"/>
              </a:rPr>
              <a:t>办公场景另行选型</a:t>
            </a:r>
            <a:r>
              <a:rPr lang="en-US" sz="1000" noProof="1">
                <a:solidFill>
                  <a:srgbClr val="5C6B7A"/>
                </a:solidFill>
                <a:latin typeface="Liter"/>
                <a:ea typeface="MiSans"/>
              </a:rPr>
              <a:t>：知识工作者优先看腾讯 WorkBuddy（微信/企微生态）、阿里千问办公（钉钉组织打通）、字节豆包工作（飞书 + 多模态），按所在 IM 生态站队即可。</a:t>
            </a:r>
            <a:endParaRPr lang="en-US" sz="1000" noProof="1"/>
          </a:p>
        </p:txBody>
      </p:sp>
      <p:sp>
        <p:nvSpPr>
          <p:cNvPr id="10" name="final-accent"/>
          <p:cNvSpPr/>
          <p:nvPr/>
        </p:nvSpPr>
        <p:spPr>
          <a:xfrm>
            <a:off x="609600" y="5562600"/>
            <a:ext cx="50800" cy="508000"/>
          </a:xfrm>
          <a:prstGeom prst="rect">
            <a:avLst/>
          </a:prstGeom>
          <a:solidFill>
            <a:srgbClr val="B07D3A"/>
          </a:solidFill>
          <a:ln>
            <a:noFill/>
          </a:ln>
        </p:spPr>
      </p:sp>
      <p:sp>
        <p:nvSpPr>
          <p:cNvPr id="11" name="final-quote"/>
          <p:cNvSpPr txBox="1"/>
          <p:nvPr/>
        </p:nvSpPr>
        <p:spPr>
          <a:xfrm>
            <a:off x="838200" y="5511800"/>
            <a:ext cx="107442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600" noProof="1" b="1">
                <a:solidFill>
                  <a:srgbClr val="1F2933"/>
                </a:solidFill>
                <a:latin typeface="思源宋体"/>
                <a:ea typeface="思源宋体"/>
              </a:rPr>
              <a:t>订阅只是入场券，Harness 工具才是主战场。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lang="en-US" sz="1000" noProof="1">
                <a:solidFill>
                  <a:srgbClr val="5C6B7A"/>
                </a:solidFill>
                <a:latin typeface="MiSans"/>
                <a:ea typeface="MiSans"/>
              </a:rPr>
              <a:t>2026 年的正确答案不是「哪个订阅最值」，而是「哪对订阅 × 工具组合最适合你的日常工作流」。</a:t>
            </a:r>
            <a:endParaRPr lang="en-US" sz="1600" noProof="1"/>
          </a:p>
        </p:txBody>
      </p:sp>
      <p:sp>
        <p:nvSpPr>
          <p:cNvPr id="12" name="source"/>
          <p:cNvSpPr txBox="1"/>
          <p:nvPr/>
        </p:nvSpPr>
        <p:spPr>
          <a:xfrm>
            <a:off x="609600" y="6502400"/>
            <a:ext cx="9398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Source: 各厂商官网定价页（2026-08）；促销价时效性强，购买前以官网当日价格为准</a:t>
            </a:r>
            <a:endParaRPr lang="en-US" sz="800" noProof="1"/>
          </a:p>
        </p:txBody>
      </p:sp>
      <p:sp>
        <p:nvSpPr>
          <p:cNvPr id="13" name="pagenum"/>
          <p:cNvSpPr txBox="1"/>
          <p:nvPr/>
        </p:nvSpPr>
        <p:spPr>
          <a:xfrm>
            <a:off x="10922000" y="6502400"/>
            <a:ext cx="6604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800" noProof="1">
                <a:solidFill>
                  <a:srgbClr val="97A5B2"/>
                </a:solidFill>
                <a:latin typeface="Liter"/>
                <a:ea typeface="MiSans"/>
              </a:rPr>
              <a:t>24 / 24</a:t>
            </a:r>
            <a:endParaRPr lang="en-US" sz="8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24</Slides>
</Properties>
</file>

<file path=docProps/core.xml><?xml version="1.0" encoding="utf-8"?>
<cp:coreProperties xmlns:dc="http://purl.org/dc/elements/1.1/" xmlns:cp="http://schemas.openxmlformats.org/package/2006/metadata/core-properties">
  <dc:title>AI订阅与Harness工具生态对比分析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